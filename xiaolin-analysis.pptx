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高成效率</c:v>
          </c:tx>
          <c:spPr>
            <a:solidFill>
              <a:srgbClr val="A4ABB3"/>
            </a:solidFill>
          </c:spPr>
          <c:invertIfNegative val="1"/>
          <c:dPt>
            <c:idx val="3"/>
            <c:invertIfNegative val="0"/>
            <c:bubble3D val="0"/>
            <c:spPr>
              <a:solidFill>
                <a:srgbClr val="E50914"/>
              </a:solidFill>
            </c:spPr>
            <c:extLst>
              <c:ext xmlns:c16="http://schemas.microsoft.com/office/drawing/2014/chart" uri="{C3380CC4-5D6E-409C-BE32-E72D297353CC}">
                <c16:uniqueId val="{00000001-C922-4B70-ABA2-42AA18E2A55A}"/>
              </c:ext>
            </c:extLst>
          </c:dPt>
          <c:dLbls>
            <c:dLbl>
              <c:idx val="0"/>
              <c:spPr/>
              <c:txPr>
                <a:bodyPr anchorCtr="1"/>
                <a:lstStyle/>
                <a:p>
                  <a:pPr>
                    <a:defRPr sz="2025" b="1">
                      <a:solidFill>
                        <a:srgbClr val="FFFFFF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922-4B70-ABA2-42AA18E2A55A}"/>
                </c:ext>
              </c:extLst>
            </c:dLbl>
            <c:dLbl>
              <c:idx val="1"/>
              <c:spPr/>
              <c:txPr>
                <a:bodyPr anchorCtr="1"/>
                <a:lstStyle/>
                <a:p>
                  <a:pPr>
                    <a:defRPr sz="2025" b="1">
                      <a:solidFill>
                        <a:srgbClr val="FFFFFF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922-4B70-ABA2-42AA18E2A55A}"/>
                </c:ext>
              </c:extLst>
            </c:dLbl>
            <c:dLbl>
              <c:idx val="2"/>
              <c:spPr/>
              <c:txPr>
                <a:bodyPr anchorCtr="1"/>
                <a:lstStyle/>
                <a:p>
                  <a:pPr>
                    <a:defRPr sz="2025" b="1">
                      <a:solidFill>
                        <a:srgbClr val="FFFFFF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922-4B70-ABA2-42AA18E2A55A}"/>
                </c:ext>
              </c:extLst>
            </c:dLbl>
            <c:dLbl>
              <c:idx val="3"/>
              <c:spPr/>
              <c:txPr>
                <a:bodyPr anchorCtr="1"/>
                <a:lstStyle/>
                <a:p>
                  <a:pPr>
                    <a:defRPr sz="2925" b="1">
                      <a:solidFill>
                        <a:srgbClr val="FFFFFF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922-4B70-ABA2-42AA18E2A55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企業／產業／科技 3/35</c:v>
              </c:pt>
              <c:pt idx="1">
                <c:v>投資／金融 7/40</c:v>
              </c:pt>
              <c:pt idx="2">
                <c:v>其他 6/17</c:v>
              </c:pt>
              <c:pt idx="3">
                <c:v>總體經濟／國際 22/50</c:v>
              </c:pt>
            </c:strLit>
          </c:cat>
          <c:val>
            <c:numLit>
              <c:formatCode>0.00%</c:formatCode>
              <c:ptCount val="4"/>
              <c:pt idx="0">
                <c:v>8.5714285714285715E-2</c:v>
              </c:pt>
              <c:pt idx="1">
                <c:v>0.17499999999999999</c:v>
              </c:pt>
              <c:pt idx="2">
                <c:v>0.35294117647058826</c:v>
              </c:pt>
              <c:pt idx="3">
                <c:v>0.44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C922-4B70-ABA2-42AA18E2A55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875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tickLblSkip val="1"/>
        <c:tickMarkSkip val="1"/>
        <c:noMultiLvlLbl val="1"/>
      </c:catAx>
      <c:valAx>
        <c:axId val="48672768"/>
        <c:scaling>
          <c:orientation val="minMax"/>
          <c:max val="0.5"/>
          <c:min val="0"/>
        </c:scaling>
        <c:delete val="0"/>
        <c:axPos val="b"/>
        <c:numFmt formatCode="0%" sourceLinked="0"/>
        <c:majorTickMark val="none"/>
        <c:minorTickMark val="none"/>
        <c:tickLblPos val="nextTo"/>
        <c:spPr>
          <a:ln w="5715">
            <a:solidFill>
              <a:srgbClr val="CDD2D8"/>
            </a:solidFill>
          </a:ln>
        </c:spPr>
        <c:txPr>
          <a:bodyPr anchorCtr="1"/>
          <a:lstStyle/>
          <a:p>
            <a:pPr>
              <a:defRPr sz="150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endParaRPr lang="zh-TW"/>
          </a:p>
        </c:txPr>
        <c:crossAx val="48650112"/>
        <c:crosses val="autoZero"/>
        <c:crossBetween val="between"/>
        <c:majorUnit val="0.5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特徵重要度</c:v>
          </c:tx>
          <c:spPr>
            <a:solidFill>
              <a:srgbClr val="B8BFC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F5F6FA"/>
                    </a:solidFill>
                    <a:latin typeface="Noto Sans CJK TC"/>
                    <a:ea typeface="Noto Sans CJK TC"/>
                    <a:cs typeface="Noto Sans CJK TC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0"/>
              <c:pt idx="0">
                <c:v>發布星期：星期日</c:v>
              </c:pt>
              <c:pt idx="1">
                <c:v>標題有無數字</c:v>
              </c:pt>
              <c:pt idx="2">
                <c:v>題材：投資／金融</c:v>
              </c:pt>
              <c:pt idx="3">
                <c:v>發布星期：星期六</c:v>
              </c:pt>
              <c:pt idx="4">
                <c:v>題材：企業／產業／科技</c:v>
              </c:pt>
              <c:pt idx="5">
                <c:v>標題有無問號</c:v>
              </c:pt>
              <c:pt idx="6">
                <c:v>發布星期：星期五</c:v>
              </c:pt>
              <c:pt idx="7">
                <c:v>題材：總體經濟／國際</c:v>
              </c:pt>
              <c:pt idx="8">
                <c:v>標題長度 title_length</c:v>
              </c:pt>
              <c:pt idx="9">
                <c:v>片長 duration_min</c:v>
              </c:pt>
            </c:strLit>
          </c:cat>
          <c:val>
            <c:numLit>
              <c:formatCode>0.0000</c:formatCode>
              <c:ptCount val="10"/>
              <c:pt idx="0">
                <c:v>2.3976046418960058E-2</c:v>
              </c:pt>
              <c:pt idx="1">
                <c:v>2.416431928116828E-2</c:v>
              </c:pt>
              <c:pt idx="2">
                <c:v>2.6729069417912435E-2</c:v>
              </c:pt>
              <c:pt idx="3">
                <c:v>3.2734357594956173E-2</c:v>
              </c:pt>
              <c:pt idx="4">
                <c:v>3.5322093728237601E-2</c:v>
              </c:pt>
              <c:pt idx="5">
                <c:v>4.5359131476654831E-2</c:v>
              </c:pt>
              <c:pt idx="6">
                <c:v>4.8363376360702662E-2</c:v>
              </c:pt>
              <c:pt idx="7">
                <c:v>6.0151573663942512E-2</c:v>
              </c:pt>
              <c:pt idx="8">
                <c:v>0.20733290611158697</c:v>
              </c:pt>
              <c:pt idx="9">
                <c:v>0.36628802184689996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53A-4BBF-B301-5949862BBB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3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4"/>
          <c:min val="0"/>
        </c:scaling>
        <c:delete val="0"/>
        <c:axPos val="b"/>
        <c:majorGridlines>
          <c:spPr>
            <a:ln w="5715">
              <a:solidFill>
                <a:srgbClr val="344251"/>
              </a:solidFill>
            </a:ln>
          </c:spPr>
        </c:majorGridlines>
        <c:numFmt formatCode="0.0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endParaRPr lang="zh-TW"/>
          </a:p>
        </c:txPr>
        <c:crossAx val="48650112"/>
        <c:crosses val="autoZero"/>
        <c:crossBetween val="between"/>
        <c:majorUnit val="0.1"/>
      </c:valAx>
      <c:spPr>
        <a:solidFill>
          <a:srgbClr val="141B25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141B25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LR 0.50</c:v>
          </c:tx>
          <c:spPr>
            <a:solidFill>
              <a:srgbClr val="D5D9DE"/>
            </a:solidFill>
          </c:spPr>
          <c:invertIfNegative val="1"/>
          <c:dLbls>
            <c:dLbl>
              <c:idx val="0"/>
              <c:spPr/>
              <c:txPr>
                <a:bodyPr anchorCtr="1"/>
                <a:lstStyle/>
                <a:p>
                  <a:pPr>
                    <a:defRPr sz="1050" b="1">
                      <a:solidFill>
                        <a:srgbClr val="080B11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AD8-49F5-9332-3E04EC12277C}"/>
                </c:ext>
              </c:extLst>
            </c:dLbl>
            <c:dLbl>
              <c:idx val="1"/>
              <c:spPr/>
              <c:txPr>
                <a:bodyPr anchorCtr="1"/>
                <a:lstStyle/>
                <a:p>
                  <a:pPr>
                    <a:defRPr sz="1050" b="1">
                      <a:solidFill>
                        <a:srgbClr val="080B11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AD8-49F5-9332-3E04EC12277C}"/>
                </c:ext>
              </c:extLst>
            </c:dLbl>
            <c:dLbl>
              <c:idx val="2"/>
              <c:spPr/>
              <c:txPr>
                <a:bodyPr anchorCtr="1"/>
                <a:lstStyle/>
                <a:p>
                  <a:pPr>
                    <a:defRPr sz="1050" b="1">
                      <a:solidFill>
                        <a:srgbClr val="080B11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AD8-49F5-9332-3E04EC12277C}"/>
                </c:ext>
              </c:extLst>
            </c:dLbl>
            <c:dLbl>
              <c:idx val="3"/>
              <c:spPr/>
              <c:txPr>
                <a:bodyPr anchorCtr="1"/>
                <a:lstStyle/>
                <a:p>
                  <a:pPr>
                    <a:defRPr sz="1050" b="1">
                      <a:solidFill>
                        <a:srgbClr val="080B11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AD8-49F5-9332-3E04EC12277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正確率</c:v>
              </c:pt>
              <c:pt idx="1">
                <c:v>召回率</c:v>
              </c:pt>
              <c:pt idx="2">
                <c:v>F1</c:v>
              </c:pt>
              <c:pt idx="3">
                <c:v>ROC-AUC</c:v>
              </c:pt>
            </c:strLit>
          </c:cat>
          <c:val>
            <c:numLit>
              <c:formatCode>0.0%</c:formatCode>
              <c:ptCount val="4"/>
              <c:pt idx="0">
                <c:v>0.68965517241379315</c:v>
              </c:pt>
              <c:pt idx="1">
                <c:v>0.75</c:v>
              </c:pt>
              <c:pt idx="2">
                <c:v>0.5714285714285714</c:v>
              </c:pt>
              <c:pt idx="3">
                <c:v>0.79166666666666663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6AD8-49F5-9332-3E04EC12277C}"/>
            </c:ext>
          </c:extLst>
        </c:ser>
        <c:ser>
          <c:idx val="1"/>
          <c:order val="1"/>
          <c:tx>
            <c:v>LR 0.60</c:v>
          </c:tx>
          <c:spPr>
            <a:solidFill>
              <a:srgbClr val="8A939F"/>
            </a:solidFill>
          </c:spPr>
          <c:invertIfNegative val="1"/>
          <c:dLbls>
            <c:dLbl>
              <c:idx val="0"/>
              <c:spPr/>
              <c:txPr>
                <a:bodyPr anchorCtr="1"/>
                <a:lstStyle/>
                <a:p>
                  <a:pPr>
                    <a:defRPr sz="1050" b="1">
                      <a:solidFill>
                        <a:srgbClr val="F5F6FA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AD8-49F5-9332-3E04EC12277C}"/>
                </c:ext>
              </c:extLst>
            </c:dLbl>
            <c:dLbl>
              <c:idx val="1"/>
              <c:spPr/>
              <c:txPr>
                <a:bodyPr anchorCtr="1"/>
                <a:lstStyle/>
                <a:p>
                  <a:pPr>
                    <a:defRPr sz="1050" b="1">
                      <a:solidFill>
                        <a:srgbClr val="F5F6FA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AD8-49F5-9332-3E04EC12277C}"/>
                </c:ext>
              </c:extLst>
            </c:dLbl>
            <c:dLbl>
              <c:idx val="2"/>
              <c:spPr/>
              <c:txPr>
                <a:bodyPr anchorCtr="1"/>
                <a:lstStyle/>
                <a:p>
                  <a:pPr>
                    <a:defRPr sz="1050" b="1">
                      <a:solidFill>
                        <a:srgbClr val="F5F6FA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AD8-49F5-9332-3E04EC12277C}"/>
                </c:ext>
              </c:extLst>
            </c:dLbl>
            <c:dLbl>
              <c:idx val="3"/>
              <c:spPr/>
              <c:txPr>
                <a:bodyPr anchorCtr="1"/>
                <a:lstStyle/>
                <a:p>
                  <a:pPr>
                    <a:defRPr sz="1050" b="1">
                      <a:solidFill>
                        <a:srgbClr val="F5F6FA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AD8-49F5-9332-3E04EC12277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正確率</c:v>
              </c:pt>
              <c:pt idx="1">
                <c:v>召回率</c:v>
              </c:pt>
              <c:pt idx="2">
                <c:v>F1</c:v>
              </c:pt>
              <c:pt idx="3">
                <c:v>ROC-AUC</c:v>
              </c:pt>
            </c:strLit>
          </c:cat>
          <c:val>
            <c:numLit>
              <c:formatCode>0.0%</c:formatCode>
              <c:ptCount val="4"/>
              <c:pt idx="0">
                <c:v>0.75862068965517238</c:v>
              </c:pt>
              <c:pt idx="1">
                <c:v>0.625</c:v>
              </c:pt>
              <c:pt idx="2">
                <c:v>0.58823529411764708</c:v>
              </c:pt>
              <c:pt idx="3">
                <c:v>0.79166666666666663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9-6AD8-49F5-9332-3E04EC12277C}"/>
            </c:ext>
          </c:extLst>
        </c:ser>
        <c:ser>
          <c:idx val="2"/>
          <c:order val="2"/>
          <c:tx>
            <c:v>RF 0.50</c:v>
          </c:tx>
          <c:spPr>
            <a:solidFill>
              <a:srgbClr val="E50914"/>
            </a:solidFill>
          </c:spPr>
          <c:invertIfNegative val="1"/>
          <c:dLbls>
            <c:dLbl>
              <c:idx val="0"/>
              <c:spPr/>
              <c:txPr>
                <a:bodyPr anchorCtr="1"/>
                <a:lstStyle/>
                <a:p>
                  <a:pPr>
                    <a:defRPr sz="1050" b="1">
                      <a:solidFill>
                        <a:srgbClr val="080B11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AD8-49F5-9332-3E04EC12277C}"/>
                </c:ext>
              </c:extLst>
            </c:dLbl>
            <c:dLbl>
              <c:idx val="1"/>
              <c:spPr/>
              <c:txPr>
                <a:bodyPr anchorCtr="1"/>
                <a:lstStyle/>
                <a:p>
                  <a:pPr>
                    <a:defRPr sz="1050" b="1">
                      <a:solidFill>
                        <a:srgbClr val="080B11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AD8-49F5-9332-3E04EC12277C}"/>
                </c:ext>
              </c:extLst>
            </c:dLbl>
            <c:dLbl>
              <c:idx val="2"/>
              <c:spPr/>
              <c:txPr>
                <a:bodyPr anchorCtr="1"/>
                <a:lstStyle/>
                <a:p>
                  <a:pPr>
                    <a:defRPr sz="1050" b="1">
                      <a:solidFill>
                        <a:srgbClr val="080B11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AD8-49F5-9332-3E04EC12277C}"/>
                </c:ext>
              </c:extLst>
            </c:dLbl>
            <c:dLbl>
              <c:idx val="3"/>
              <c:spPr/>
              <c:txPr>
                <a:bodyPr anchorCtr="1"/>
                <a:lstStyle/>
                <a:p>
                  <a:pPr>
                    <a:defRPr sz="1050" b="1">
                      <a:solidFill>
                        <a:srgbClr val="080B11"/>
                      </a:solidFill>
                      <a:latin typeface="Noto Sans CJK TC"/>
                      <a:ea typeface="Noto Sans CJK TC"/>
                      <a:cs typeface="Noto Sans CJK TC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AD8-49F5-9332-3E04EC12277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正確率</c:v>
              </c:pt>
              <c:pt idx="1">
                <c:v>召回率</c:v>
              </c:pt>
              <c:pt idx="2">
                <c:v>F1</c:v>
              </c:pt>
              <c:pt idx="3">
                <c:v>ROC-AUC</c:v>
              </c:pt>
            </c:strLit>
          </c:cat>
          <c:val>
            <c:numLit>
              <c:formatCode>0.0%</c:formatCode>
              <c:ptCount val="4"/>
              <c:pt idx="0">
                <c:v>0.7931034482758621</c:v>
              </c:pt>
              <c:pt idx="1">
                <c:v>0.875</c:v>
              </c:pt>
              <c:pt idx="2">
                <c:v>0.7</c:v>
              </c:pt>
              <c:pt idx="3">
                <c:v>0.7678571428571429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E-6AD8-49F5-9332-3E04EC12277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5715">
              <a:solidFill>
                <a:srgbClr val="344251"/>
              </a:solidFill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endParaRPr lang="zh-TW"/>
          </a:p>
        </c:txPr>
        <c:crossAx val="48650112"/>
        <c:crosses val="autoZero"/>
        <c:crossBetween val="between"/>
        <c:majorUnit val="0.2"/>
      </c:valAx>
      <c:spPr>
        <a:solidFill>
          <a:srgbClr val="141B25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F5F6FA"/>
              </a:solidFill>
              <a:latin typeface="Noto Sans CJK TC"/>
              <a:ea typeface="Noto Sans CJK TC"/>
              <a:cs typeface="Noto Sans CJK TC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141B25"/>
    </a:solidFill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模型分數</c:v>
          </c:tx>
          <c:spPr>
            <a:solidFill>
              <a:srgbClr val="B8BFC8"/>
            </a:solidFill>
          </c:spPr>
          <c:invertIfNegative val="1"/>
          <c:dPt>
            <c:idx val="11"/>
            <c:invertIfNegative val="0"/>
            <c:bubble3D val="0"/>
            <c:spPr>
              <a:solidFill>
                <a:srgbClr val="E50914"/>
              </a:solidFill>
            </c:spPr>
            <c:extLst>
              <c:ext xmlns:c16="http://schemas.microsoft.com/office/drawing/2014/chart" uri="{C3380CC4-5D6E-409C-BE32-E72D297353CC}">
                <c16:uniqueId val="{00000001-3E6C-4196-878E-33C30E24EE4D}"/>
              </c:ext>
            </c:extLst>
          </c:dPt>
          <c:dPt>
            <c:idx val="12"/>
            <c:invertIfNegative val="0"/>
            <c:bubble3D val="0"/>
            <c:spPr>
              <a:solidFill>
                <a:srgbClr val="E50914"/>
              </a:solidFill>
            </c:spPr>
            <c:extLst>
              <c:ext xmlns:c16="http://schemas.microsoft.com/office/drawing/2014/chart" uri="{C3380CC4-5D6E-409C-BE32-E72D297353CC}">
                <c16:uniqueId val="{00000003-3E6C-4196-878E-33C30E24EE4D}"/>
              </c:ext>
            </c:extLst>
          </c:dPt>
          <c:dPt>
            <c:idx val="13"/>
            <c:invertIfNegative val="0"/>
            <c:bubble3D val="0"/>
            <c:spPr>
              <a:solidFill>
                <a:srgbClr val="E50914"/>
              </a:solidFill>
            </c:spPr>
            <c:extLst>
              <c:ext xmlns:c16="http://schemas.microsoft.com/office/drawing/2014/chart" uri="{C3380CC4-5D6E-409C-BE32-E72D297353CC}">
                <c16:uniqueId val="{00000005-3E6C-4196-878E-33C30E24EE4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F5F6FA"/>
                    </a:solidFill>
                    <a:latin typeface="Noto Sans CJK TC"/>
                    <a:ea typeface="Noto Sans CJK TC"/>
                    <a:cs typeface="Noto Sans CJK TC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4"/>
              <c:pt idx="0">
                <c:v>14. 黃金白銀大崩盤，誰是幕後推手？</c:v>
              </c:pt>
              <c:pt idx="1">
                <c:v>13. AI 巨頭之間的資本混戰</c:v>
              </c:pt>
              <c:pt idx="2">
                <c:v>12. 王健林與萬達的近況</c:v>
              </c:pt>
              <c:pt idx="3">
                <c:v>11. 川普關稅被判違法，現況如何？</c:v>
              </c:pt>
              <c:pt idx="4">
                <c:v>10. 記憶體價格暴漲，誰哭誰笑？</c:v>
              </c:pt>
              <c:pt idx="5">
                <c:v>9. SpaceX 上市背後的資本遊戲</c:v>
              </c:pt>
              <c:pt idx="6">
                <c:v>8. 川普收入曝光，一年進帳 22 億美元</c:v>
              </c:pt>
              <c:pt idx="7">
                <c:v>7. 伊朗戰爭與全球能源格局</c:v>
              </c:pt>
              <c:pt idx="8">
                <c:v>6. 日圓創 40 年新低，美國突然出手</c:v>
              </c:pt>
              <c:pt idx="9">
                <c:v>5. 做自媒體 6 年了，我想說…</c:v>
              </c:pt>
              <c:pt idx="10">
                <c:v>4. 從健身芭比到女企業家：帕梅拉</c:v>
              </c:pt>
              <c:pt idx="11">
                <c:v>3. 坐擁金山，卻變成人間煉獄：委內瑞拉</c:v>
              </c:pt>
              <c:pt idx="12">
                <c:v>2. 資本如何接連引爆多國金融危機？</c:v>
              </c:pt>
              <c:pt idx="13">
                <c:v>1. 上市了，就不得不向華爾街低頭嗎？</c:v>
              </c:pt>
            </c:strLit>
          </c:cat>
          <c:val>
            <c:numLit>
              <c:formatCode>0.0%</c:formatCode>
              <c:ptCount val="14"/>
              <c:pt idx="0">
                <c:v>5.7842808550725808E-2</c:v>
              </c:pt>
              <c:pt idx="1">
                <c:v>7.1912181457856522E-2</c:v>
              </c:pt>
              <c:pt idx="2">
                <c:v>7.9348364807804425E-2</c:v>
              </c:pt>
              <c:pt idx="3">
                <c:v>8.1244575596353147E-2</c:v>
              </c:pt>
              <c:pt idx="4">
                <c:v>0.15069811199366284</c:v>
              </c:pt>
              <c:pt idx="5">
                <c:v>0.17327183033928795</c:v>
              </c:pt>
              <c:pt idx="6">
                <c:v>0.22792812805327431</c:v>
              </c:pt>
              <c:pt idx="7">
                <c:v>0.26648228489612391</c:v>
              </c:pt>
              <c:pt idx="8">
                <c:v>0.27080603148862342</c:v>
              </c:pt>
              <c:pt idx="9">
                <c:v>0.319067336454471</c:v>
              </c:pt>
              <c:pt idx="10">
                <c:v>0.55762790886889813</c:v>
              </c:pt>
              <c:pt idx="11">
                <c:v>0.79950840189150962</c:v>
              </c:pt>
              <c:pt idx="12">
                <c:v>0.82471194745153942</c:v>
              </c:pt>
              <c:pt idx="13">
                <c:v>0.8982263567657025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3E6C-4196-878E-33C30E24EE4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tickLblSkip val="1"/>
        <c:tickMarkSkip val="1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w="5715">
              <a:solidFill>
                <a:srgbClr val="344251"/>
              </a:solidFill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endParaRPr lang="zh-TW"/>
          </a:p>
        </c:txPr>
        <c:crossAx val="48650112"/>
        <c:crosses val="autoZero"/>
        <c:crossBetween val="between"/>
        <c:majorUnit val="0.2"/>
      </c:valAx>
      <c:spPr>
        <a:solidFill>
          <a:srgbClr val="141B25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141B25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建議時間：20 秒｜報告者：方柏登</a:t>
            </a:r>
          </a:p>
          <a:p>
            <a:endParaRPr/>
          </a:p>
          <a:p>
            <a:r>
              <a:t>【這頁目的】</a:t>
            </a:r>
          </a:p>
          <a:p>
            <a:r>
              <a:t>建立研究主題與報告主軸。</a:t>
            </a:r>
          </a:p>
          <a:p>
            <a:endParaRPr/>
          </a:p>
          <a:p>
            <a:r>
              <a:t>【建議講稿】</a:t>
            </a:r>
          </a:p>
          <a:p>
            <a:r>
              <a:t>大家好，我們是方柏登、施建宏。這份專題以小Lin說為案例，分析財經 YouTuber 的內容成效。核心問題是：影片發布前，題材、標題、片長與發布時間，是否已包含高成效訊號？</a:t>
            </a:r>
          </a:p>
          <a:p>
            <a:endParaRPr/>
          </a:p>
          <a:p>
            <a:r>
              <a:t>【不要講錯的地方】</a:t>
            </a:r>
          </a:p>
          <a:p>
            <a:r>
              <a:t>這是既有研究的簡報整理；未新增研究、未重新訓練模型。</a:t>
            </a:r>
          </a:p>
          <a:p>
            <a:endParaRPr/>
          </a:p>
          <a:p>
            <a:r>
              <a:t>【老師可能追問】</a:t>
            </a:r>
          </a:p>
          <a:p>
            <a:r>
              <a:t>問：為什麼不是預測觀看數？答：研究定義是同年度相對高成效的二元分類。</a:t>
            </a:r>
          </a:p>
          <a:p>
            <a:endParaRPr/>
          </a:p>
          <a:p>
            <a:r>
              <a:t>資料依據：原研究封面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建議時間：30 秒｜報告者：方柏登</a:t>
            </a:r>
          </a:p>
          <a:p>
            <a:endParaRPr/>
          </a:p>
          <a:p>
            <a:r>
              <a:t>【這頁目的】</a:t>
            </a:r>
          </a:p>
          <a:p>
            <a:r>
              <a:t>交代研究的實務動機與個案選擇。</a:t>
            </a:r>
          </a:p>
          <a:p>
            <a:endParaRPr/>
          </a:p>
          <a:p>
            <a:r>
              <a:t>【建議講稿】</a:t>
            </a:r>
          </a:p>
          <a:p>
            <a:r>
              <a:t>內容企劃在發布前，通常只能掌握題材、標題、片長與發布時間。我們想把原本依靠經驗的判斷，變成可以用歷史資料檢查的問題。選擇小Lin說，是因為主題明確、風格一致、歷史長影音足夠；使用單一頻道，也能減少不同創作者規模的干擾。目的是輔助企劃，並不是保證爆款。</a:t>
            </a:r>
          </a:p>
          <a:p>
            <a:endParaRPr/>
          </a:p>
          <a:p>
            <a:r>
              <a:t>【不要講錯的地方】</a:t>
            </a:r>
          </a:p>
          <a:p>
            <a:r>
              <a:t>單一頻道降低部分跨頻道差異，不代表已消除年份、議題或製作方式等干擾。動機不是因果結論。</a:t>
            </a:r>
          </a:p>
          <a:p>
            <a:endParaRPr/>
          </a:p>
          <a:p>
            <a:r>
              <a:t>【老師可能追問】</a:t>
            </a:r>
          </a:p>
          <a:p>
            <a:r>
              <a:t>問：為什麼只看一個頻道？答：先減少創作者規模差異，建立可追溯案例；跨頻道推廣是限制與未來工作。</a:t>
            </a:r>
          </a:p>
          <a:p>
            <a:endParaRPr/>
          </a:p>
          <a:p>
            <a:r>
              <a:t>資料依據：collection_summary.json；cleaned_videos.csv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建議時間：25 秒｜報告者：方柏登</a:t>
            </a:r>
          </a:p>
          <a:p>
            <a:endParaRPr/>
          </a:p>
          <a:p>
            <a:r>
              <a:t>【這頁目的】</a:t>
            </a:r>
          </a:p>
          <a:p>
            <a:r>
              <a:t>把研究拆成關聯、分類與應用三問。</a:t>
            </a:r>
          </a:p>
          <a:p>
            <a:endParaRPr/>
          </a:p>
          <a:p>
            <a:r>
              <a:t>【建議講稿】</a:t>
            </a:r>
          </a:p>
          <a:p>
            <a:r>
              <a:t>我們分成三個問題：哪些發布前特徵和歷史高成效較有關聯？能否用這些特徵建立高成效或一般的二元分類？模型完成後，能否對 2026 新影片做潛力排序？這裡預測的是同年度相對高成效，不是絕對觀看數，也不是爆款保證。</a:t>
            </a:r>
          </a:p>
          <a:p>
            <a:endParaRPr/>
          </a:p>
          <a:p>
            <a:r>
              <a:t>【不要講錯的地方】</a:t>
            </a:r>
          </a:p>
          <a:p>
            <a:r>
              <a:t>回溯研究只使用具有發布前可知性質的特徵；尚未完成真正發布前的上線驗證。</a:t>
            </a:r>
          </a:p>
          <a:p>
            <a:endParaRPr/>
          </a:p>
          <a:p>
            <a:r>
              <a:t>【老師可能追問】</a:t>
            </a:r>
          </a:p>
          <a:p>
            <a:r>
              <a:t>問：何謂高成效？答：以年度內日均觀看排名的前 25% 定義，下一節會交代。</a:t>
            </a:r>
          </a:p>
          <a:p>
            <a:endParaRPr/>
          </a:p>
          <a:p>
            <a:r>
              <a:t>資料依據：原研究問題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建議時間：30 秒｜報告者：方柏登</a:t>
            </a:r>
          </a:p>
          <a:p>
            <a:endParaRPr/>
          </a:p>
          <a:p>
            <a:r>
              <a:t>【這頁目的】</a:t>
            </a:r>
          </a:p>
          <a:p>
            <a:r>
              <a:t>呈現實際 API 蒐集步驟與原始欄位。</a:t>
            </a:r>
          </a:p>
          <a:p>
            <a:endParaRPr/>
          </a:p>
          <a:p>
            <a:r>
              <a:t>【建議講稿】</a:t>
            </a:r>
          </a:p>
          <a:p>
            <a:r>
              <a:t>資料使用 YouTube Data API v3 蒐集。先取得小Lin說的頻道編號和上傳影片清單，再逐頁讀取影片編號，透過 videos.list 取得標題、說明、發布時間、片長及公開互動數。直播、分類與公開狀態等資訊也保留。最後建立原始資料集與 API 快照，讓後續篩選可以追溯。</a:t>
            </a:r>
          </a:p>
          <a:p>
            <a:endParaRPr/>
          </a:p>
          <a:p>
            <a:r>
              <a:t>【不要講錯的地方】</a:t>
            </a:r>
          </a:p>
          <a:p>
            <a:r>
              <a:t>videos.list 以影片編號取得 snippet、contentDetails、statistics、status、liveStreamingDetails。不得將 API 欄位全部當成 X。</a:t>
            </a:r>
          </a:p>
          <a:p>
            <a:endParaRPr/>
          </a:p>
          <a:p>
            <a:r>
              <a:t>【老師可能追問】</a:t>
            </a:r>
          </a:p>
          <a:p>
            <a:r>
              <a:t>問：為什麼逐頁取得？答：上傳清單有分頁，需要沿 nextPageToken 取得完整影片編號。</a:t>
            </a:r>
          </a:p>
          <a:p>
            <a:endParaRPr/>
          </a:p>
          <a:p>
            <a:r>
              <a:t>資料依據：collection_report.md；既有資料蒐集程式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建議時間：30 秒｜報告者：方柏登</a:t>
            </a:r>
          </a:p>
          <a:p>
            <a:endParaRPr/>
          </a:p>
          <a:p>
            <a:r>
              <a:t>【這頁目的】</a:t>
            </a:r>
          </a:p>
          <a:p>
            <a:r>
              <a:t>說明 162→156 與歷史／新片用途。</a:t>
            </a:r>
          </a:p>
          <a:p>
            <a:endParaRPr/>
          </a:p>
          <a:p>
            <a:r>
              <a:t>【建議講稿】</a:t>
            </a:r>
          </a:p>
          <a:p>
            <a:r>
              <a:t>原始共有 162 部公開影片，排除 5 部未滿五分鐘，以及 1 部含直播詳細資訊的特殊影片，留下 156 部一般長影音。其中 2020 到 2025 年有 142 部，用於模型建立與評估；2026 年 14 部只做潛力排序，不參與訓練或測試，也不建立正式答案標籤。下方列出 API 原始欄位，這些欄位不會全部投入模型。</a:t>
            </a:r>
          </a:p>
          <a:p>
            <a:endParaRPr/>
          </a:p>
          <a:p>
            <a:r>
              <a:t>【不要講錯的地方】</a:t>
            </a:r>
          </a:p>
          <a:p>
            <a:r>
              <a:t>五分鐘是研究操作門檻，不是 YouTube 官方 Shorts 定義。排除 1 部是 API 含 liveStreamingDetails 的特殊影片。</a:t>
            </a:r>
          </a:p>
          <a:p>
            <a:endParaRPr/>
          </a:p>
          <a:p>
            <a:r>
              <a:t>【老師可能追問】</a:t>
            </a:r>
          </a:p>
          <a:p>
            <a:r>
              <a:t>問：2026 為什麼不一起訓練？答：既有設計以 2020–2025 建模；2026 尚無正式年度標籤，只供應用觀察。</a:t>
            </a:r>
          </a:p>
          <a:p>
            <a:endParaRPr/>
          </a:p>
          <a:p>
            <a:r>
              <a:t>資料依據：collection_summary.json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建議時間：35 秒｜報告者：方柏登</a:t>
            </a:r>
          </a:p>
          <a:p>
            <a:endParaRPr/>
          </a:p>
          <a:p>
            <a:r>
              <a:t>【這頁目的】</a:t>
            </a:r>
          </a:p>
          <a:p>
            <a:r>
              <a:t>區分統計異常與資料品質錯誤。</a:t>
            </a:r>
          </a:p>
          <a:p>
            <a:endParaRPr/>
          </a:p>
          <a:p>
            <a:r>
              <a:t>【建議講稿】</a:t>
            </a:r>
          </a:p>
          <a:p>
            <a:r>
              <a:t>資料清理發現 11 部影片的說明空白，保留原始缺失；影片編號沒有重複，156 部皆唯一。時間、數值與片長完成解析，時間統一為台北時區。異常值先用四分位距標記，再核對原始資料與 API 快照。32 筆欄位乘影片的異常紀錄涉及 28 部影片，但沒有發現真正資料錯誤，因此保留原值，不刪除、不縮尾。統計異常不等於資料錯誤。</a:t>
            </a:r>
          </a:p>
          <a:p>
            <a:endParaRPr/>
          </a:p>
          <a:p>
            <a:r>
              <a:t>【不要講錯的地方】</a:t>
            </a:r>
          </a:p>
          <a:p>
            <a:r>
              <a:t>32 是欄位×影片紀錄，不是 32 部影片；實際涉及 28 部。0 是本次查核發現的品質錯誤數，不是保證資料完美。</a:t>
            </a:r>
          </a:p>
          <a:p>
            <a:endParaRPr/>
          </a:p>
          <a:p>
            <a:r>
              <a:t>【老師可能追問】</a:t>
            </a:r>
          </a:p>
          <a:p>
            <a:r>
              <a:t>問：為什麼不刪掉離群值？答：回查屬真實內容或表現差異，刪除會改變研究樣本。</a:t>
            </a:r>
          </a:p>
          <a:p>
            <a:endParaRPr/>
          </a:p>
          <a:p>
            <a:r>
              <a:t>資料依據：cleaning_quality_report.json；outlier_summary.csv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建議時間：30 秒｜報告者：方柏登</a:t>
            </a:r>
          </a:p>
          <a:p>
            <a:endParaRPr/>
          </a:p>
          <a:p>
            <a:r>
              <a:t>【這頁目的】</a:t>
            </a:r>
          </a:p>
          <a:p>
            <a:r>
              <a:t>區分原始欄位、特徵轉換與最終 X。</a:t>
            </a:r>
          </a:p>
          <a:p>
            <a:endParaRPr/>
          </a:p>
          <a:p>
            <a:r>
              <a:t>【建議講稿】</a:t>
            </a:r>
          </a:p>
          <a:p>
            <a:r>
              <a:t>特徵工程是把原始資料轉成模型可用資訊。標題轉為長度、有沒有數字和問號；發布時間轉為星期與時段；影片長度換成分鐘；題材依既有人工分類整理。建立欄位和選擇模型輸入是兩個階段，最後只採用這七項。年份與上架天數等欄位，另用於分組或定義答案。</a:t>
            </a:r>
          </a:p>
          <a:p>
            <a:endParaRPr/>
          </a:p>
          <a:p>
            <a:r>
              <a:t>【不要講錯的地方】</a:t>
            </a:r>
          </a:p>
          <a:p>
            <a:r>
              <a:t>類別有 topic、weekday、publish_period。LR 僅標準化連續的 title_length、duration_min；二元特徵維持 0／1。年份、age_days 不入 X。</a:t>
            </a:r>
          </a:p>
          <a:p>
            <a:endParaRPr/>
          </a:p>
          <a:p>
            <a:r>
              <a:t>【老師可能追問】</a:t>
            </a:r>
          </a:p>
          <a:p>
            <a:r>
              <a:t>問：題材怎麼定義？答：沿用既有人工／規則分類的四類，這次未修改 Topic 定義。</a:t>
            </a:r>
          </a:p>
          <a:p>
            <a:endParaRPr/>
          </a:p>
          <a:p>
            <a:r>
              <a:t>資料依據：02_machine_learning_codex_reference.ipynb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建議時間：45 秒｜報告者：方柏登</a:t>
            </a:r>
          </a:p>
          <a:p>
            <a:endParaRPr/>
          </a:p>
          <a:p>
            <a:r>
              <a:t>【這頁目的】</a:t>
            </a:r>
          </a:p>
          <a:p>
            <a:r>
              <a:t>交代答案定義與避免資料洩漏。</a:t>
            </a:r>
          </a:p>
          <a:p>
            <a:endParaRPr/>
          </a:p>
          <a:p>
            <a:r>
              <a:t>【建議講稿】</a:t>
            </a:r>
          </a:p>
          <a:p>
            <a:r>
              <a:t>左邊是發布前可知的七個 X。右邊的 y 是同年度相對高成效：先以觀看數除以上架天數，得到日均觀看數，再於各年度排名，前百分之二十五標為 High，其餘是 Normal。年度部數向上取整後，共 38 部高成效、104 部一般。觀看、按讚和留言數是在發布後才知道的結果，不能放進 X，否則等於把答案的一部分先告訴模型，這就叫資料洩漏。2026 不建立正式 y。</a:t>
            </a:r>
          </a:p>
          <a:p>
            <a:endParaRPr/>
          </a:p>
          <a:p>
            <a:r>
              <a:t>【不要講錯的地方】</a:t>
            </a:r>
          </a:p>
          <a:p>
            <a:r>
              <a:t>各年度 High 支數用 ceil(n×0.25) 向上取整，因此 38/142 並非恰好 25%。age_days 與 viewCount 僅用來定義 y，不納入 X。</a:t>
            </a:r>
          </a:p>
          <a:p>
            <a:endParaRPr/>
          </a:p>
          <a:p>
            <a:r>
              <a:t>【老師可能追問】</a:t>
            </a:r>
          </a:p>
          <a:p>
            <a:r>
              <a:t>問：日均觀看能完全消除時間影響嗎？答：不能，它是累積資料的代理指標，未等同固定發布後期間表現。</a:t>
            </a:r>
          </a:p>
          <a:p>
            <a:endParaRPr/>
          </a:p>
          <a:p>
            <a:r>
              <a:t>資料依據：cleaned_videos.csv；02_machine_learning_codex_reference.ipynb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建議時間：45 秒｜報告者：方柏登</a:t>
            </a:r>
          </a:p>
          <a:p>
            <a:endParaRPr/>
          </a:p>
          <a:p>
            <a:r>
              <a:t>【這頁目的】</a:t>
            </a:r>
          </a:p>
          <a:p>
            <a:r>
              <a:t>說明分類流程、資料切分與評估設計。</a:t>
            </a:r>
          </a:p>
          <a:p>
            <a:endParaRPr/>
          </a:p>
          <a:p>
            <a:r>
              <a:t>【建議講稿】</a:t>
            </a:r>
          </a:p>
          <a:p>
            <a:r>
              <a:t>任務是二元分類。142 部影片依類別比例，切成 113 部訓練集和 29 部測試集。前處理將類別轉為零一欄位，再使用邏輯斯迴歸與隨機森林。正確率看整體答對多少；精準率看判為高成效的有多少是真的；召回率看真正高成效抓到多少。F1 綜合兩者，ROC-AUC 看不同門檻下的區辨能力，混淆矩陣看誤報與漏報。最後在訓練集做五折交叉驗證，觀察切分差異。</a:t>
            </a:r>
          </a:p>
          <a:p>
            <a:endParaRPr/>
          </a:p>
          <a:p>
            <a:r>
              <a:t>【不要講錯的地方】</a:t>
            </a:r>
          </a:p>
          <a:p>
            <a:r>
              <a:t>亂數種子 42，stratify=y；前處理僅 fit 訓練集。五折僅使用 113 部訓練資料，並非把 142 部全部重切。</a:t>
            </a:r>
          </a:p>
          <a:p>
            <a:endParaRPr/>
          </a:p>
          <a:p>
            <a:r>
              <a:t>【老師可能追問】</a:t>
            </a:r>
          </a:p>
          <a:p>
            <a:r>
              <a:t>問：為什麼不能只看正確率？答：High 比較少，需再看精準率、召回率與 F1，才知道是否抓得到 High。</a:t>
            </a:r>
          </a:p>
          <a:p>
            <a:endParaRPr/>
          </a:p>
          <a:p>
            <a:r>
              <a:t>資料依據：02_machine_learning_codex_reference.ipynb；06_random_forest_comparison_codex.ipynb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建議時間：30 秒｜報告者：施建宏</a:t>
            </a:r>
          </a:p>
          <a:p>
            <a:endParaRPr/>
          </a:p>
          <a:p>
            <a:r>
              <a:t>【這頁目的】</a:t>
            </a:r>
          </a:p>
          <a:p>
            <a:r>
              <a:t>比較不同題材的歷史高成效率。</a:t>
            </a:r>
          </a:p>
          <a:p>
            <a:endParaRPr/>
          </a:p>
          <a:p>
            <a:r>
              <a:t>【建議講稿】</a:t>
            </a:r>
          </a:p>
          <a:p>
            <a:r>
              <a:t>接著看探索性資料分析。總體經濟與國際類有 50 部，其中 22 部高成效，比例百分之四十四，四類中最高。其他類約百分之三十五，投資金融約百分之十八，企業產業科技約百分之九。這是既有資料的描述性比較，不能推論改做某個題材，就會造成更高成效。</a:t>
            </a:r>
          </a:p>
          <a:p>
            <a:endParaRPr/>
          </a:p>
          <a:p>
            <a:r>
              <a:t>【不要講錯的地方】</a:t>
            </a:r>
          </a:p>
          <a:p>
            <a:r>
              <a:t>四類為 22/50=44.00%、6/17=35.29%、7/40=17.50%、3/35=8.57%。不代表題材因果效果。</a:t>
            </a:r>
          </a:p>
          <a:p>
            <a:endParaRPr/>
          </a:p>
          <a:p>
            <a:r>
              <a:t>【老師可能追問】</a:t>
            </a:r>
          </a:p>
          <a:p>
            <a:r>
              <a:t>問：總體經濟一定比較會紅嗎？答：不能如此推論；題材可能同時伴隨片長、時事熱度等因素。</a:t>
            </a:r>
          </a:p>
          <a:p>
            <a:endParaRPr/>
          </a:p>
          <a:p>
            <a:r>
              <a:t>資料依據：eda_summary_codex.csv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建議時間：35 秒｜報告者：施建宏</a:t>
            </a:r>
          </a:p>
          <a:p>
            <a:endParaRPr/>
          </a:p>
          <a:p>
            <a:r>
              <a:t>【這頁目的】</a:t>
            </a:r>
          </a:p>
          <a:p>
            <a:r>
              <a:t>指出片長差異與小樣本時間結果的限制。</a:t>
            </a:r>
          </a:p>
          <a:p>
            <a:endParaRPr/>
          </a:p>
          <a:p>
            <a:r>
              <a:t>【建議講稿】</a:t>
            </a:r>
          </a:p>
          <a:p>
            <a:r>
              <a:t>高成效組平均片長 25.34 分鐘，一般組 18.73 分鐘，差約 6.60 分鐘，片長值得進一步觀察。但標題平均長度接近，中位數都是十九。星期四高成效率雖為百分之五十，卻只有四部；深夜百分之六十也只有五部。這些樣本太少，不能直接變成發布策略。本頁都是描述性差異，不能說越長就一定越成功。</a:t>
            </a:r>
          </a:p>
          <a:p>
            <a:endParaRPr/>
          </a:p>
          <a:p>
            <a:r>
              <a:t>【不要講錯的地方】</a:t>
            </a:r>
          </a:p>
          <a:p>
            <a:r>
              <a:t>差值 6.60 由未四捨五入平均數計算，不能直接用畫面已四捨五入的 25.34−18.73 得到 6.61 而改數字。星期四 n=4、深夜 n=5。</a:t>
            </a:r>
          </a:p>
          <a:p>
            <a:endParaRPr/>
          </a:p>
          <a:p>
            <a:r>
              <a:t>【老師可能追問】</a:t>
            </a:r>
          </a:p>
          <a:p>
            <a:r>
              <a:t>問：可以建議星期四或深夜發布嗎？答：目前各只有 4、5 部，證據不足，不形成強策略。</a:t>
            </a:r>
          </a:p>
          <a:p>
            <a:endParaRPr/>
          </a:p>
          <a:p>
            <a:r>
              <a:t>資料依據：eda_summary_codex.csv；既有片長箱型圖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建議時間：45 秒｜報告者：施建宏</a:t>
            </a:r>
          </a:p>
          <a:p>
            <a:endParaRPr/>
          </a:p>
          <a:p>
            <a:r>
              <a:t>【這頁目的】</a:t>
            </a:r>
          </a:p>
          <a:p>
            <a:r>
              <a:t>解釋 LR 與提高門檻的取捨。</a:t>
            </a:r>
          </a:p>
          <a:p>
            <a:endParaRPr/>
          </a:p>
          <a:p>
            <a:r>
              <a:t>【建議講稿】</a:t>
            </a:r>
          </a:p>
          <a:p>
            <a:r>
              <a:t>LR雖然名稱有迴歸，這裡是常見的二元分類模型，根據多個發布前特徵判斷較接近 High 或 Normal。既有主報版本採類別平衡權重，門檻零點六。從零點五提高門檻後，誤報由七部降到四部，但漏報由兩部增加到三部。混淆矩陣是一般判對十七、高成效判對五部。零點六在這次固定測試取得較均衡的取捨，不代表絕對最佳；門檻原先由訓練資料選定。</a:t>
            </a:r>
          </a:p>
          <a:p>
            <a:endParaRPr/>
          </a:p>
          <a:p>
            <a:r>
              <a:t>【不要講錯的地方】</a:t>
            </a:r>
          </a:p>
          <a:p>
            <a:r>
              <a:t>LR balanced .50：Accuracy 68.97%、Precision 46.15%、Recall 75.00%、F1 57.14%、AUC 79.17%；.60：75.86%、55.56%、62.50%、58.82%、79.17%。.60 CM：TN17/FP4/FN3/TP5。門檻依原訓練集 OOF 選定。</a:t>
            </a:r>
          </a:p>
          <a:p>
            <a:endParaRPr/>
          </a:p>
          <a:p>
            <a:r>
              <a:t>【老師可能追問】</a:t>
            </a:r>
          </a:p>
          <a:p>
            <a:r>
              <a:t>問：為什麼主報 .60？答：原研究依訓練集折外預測選定；誤報減少、漏報增加，呈現取捨。</a:t>
            </a:r>
          </a:p>
          <a:p>
            <a:endParaRPr/>
          </a:p>
          <a:p>
            <a:r>
              <a:t>資料依據：model_comparison_random_forest_codex.csv；03_logistic_improvement_codex.ipynb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建議時間：40 秒｜報告者：施建宏</a:t>
            </a:r>
          </a:p>
          <a:p>
            <a:endParaRPr/>
          </a:p>
          <a:p>
            <a:r>
              <a:t>【這頁目的】</a:t>
            </a:r>
          </a:p>
          <a:p>
            <a:r>
              <a:t>解釋 RF 與混淆矩陣的實際意義。</a:t>
            </a:r>
          </a:p>
          <a:p>
            <a:endParaRPr/>
          </a:p>
          <a:p>
            <a:r>
              <a:t>【建議講稿】</a:t>
            </a:r>
          </a:p>
          <a:p>
            <a:r>
              <a:t>隨機森林不是一棵樹，而是讓很多棵決策樹一起判斷，像一起投票；實際綜合各樹分類機率。本研究用五百棵樹，在同一批二十九部測試影片中答對二十三部，八部真正高成效抓到七部，但有五部一般影片被誤報。召回率百分之八十七點五，F1 百分之七十，在固定測試較高。不過五折平均沒有全面勝過邏輯斯，不能只憑一次測試就宣布勝負。</a:t>
            </a:r>
          </a:p>
          <a:p>
            <a:endParaRPr/>
          </a:p>
          <a:p>
            <a:r>
              <a:t>【不要講錯的地方】</a:t>
            </a:r>
          </a:p>
          <a:p>
            <a:r>
              <a:t>RF 500 棵樹、balanced、門檻 .50。CM：TN16/FP5/FN1/TP7。Accuracy79.31%、Precision58.33%、Recall87.50%、F170.00%、AUC76.79%。口語投票比喻，實作是平均各樹的分類機率。</a:t>
            </a:r>
          </a:p>
          <a:p>
            <a:endParaRPr/>
          </a:p>
          <a:p>
            <a:r>
              <a:t>【老師可能追問】</a:t>
            </a:r>
          </a:p>
          <a:p>
            <a:r>
              <a:t>問：RF 和 LR 差在哪？答：LR 較容易解釋方向；RF 綜合多棵樹，可捕捉較複雜的組合，但重要度不是因果。</a:t>
            </a:r>
          </a:p>
          <a:p>
            <a:endParaRPr/>
          </a:p>
          <a:p>
            <a:r>
              <a:t>資料依據：model_comparison_random_forest_codex.csv；06_random_forest_comparison_codex.ipynb</a:t>
            </a:r>
          </a:p>
          <a:p>
            <a:endParaRPr/>
          </a:p>
          <a:p>
            <a:r>
              <a:t>【由主畫面移至講稿】</a:t>
            </a:r>
          </a:p>
          <a:p>
            <a:r>
              <a:t>Random Forest：讓很多棵決策樹一起投票、綜合判斷。原模型設定為 500 棵樹，綜合分類機率，門檻為 0.50。以上設定未變更；投影片主畫面聚焦研究結果與混淆矩陣。</a:t>
            </a:r>
          </a:p>
          <a:p>
            <a:r>
              <a:t>混淆矩陣方向：橫向為預測、直向為實際。Normal／High 的四格依序為 16、5、1、7。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建議時間：35 秒｜報告者：施建宏</a:t>
            </a:r>
          </a:p>
          <a:p>
            <a:endParaRPr/>
          </a:p>
          <a:p>
            <a:r>
              <a:t>【這頁目的】</a:t>
            </a:r>
          </a:p>
          <a:p>
            <a:r>
              <a:t>解讀重要度，連結跨方法片長觀察。</a:t>
            </a:r>
          </a:p>
          <a:p>
            <a:endParaRPr/>
          </a:p>
          <a:p>
            <a:r>
              <a:t>【建議講稿】</a:t>
            </a:r>
          </a:p>
          <a:p>
            <a:r>
              <a:t>RF的重要度中，片長零點三六六三最高，標題長度第二，總體經濟與國際題材第三。跨方法看，探索性分析的高成效組平均片長較長，既有LR係數也顯示片長值得注意，RF則把片長排第一。因此，片長是目前較一致的線索之一。但重要度沒有正負方向，也不是因果；標題長度重要，仍不代表已經找出可直接採用的標題策略。</a:t>
            </a:r>
          </a:p>
          <a:p>
            <a:endParaRPr/>
          </a:p>
          <a:p>
            <a:r>
              <a:t>【不要講錯的地方】</a:t>
            </a:r>
          </a:p>
          <a:p>
            <a:r>
              <a:t>重要度依降低不純度的貢獻，不是單純分裂次數。LR 跨方法觀察引用既有 logistic_coefficients_codex.csv 參考模型的片長係數 1.091198；不能說是重新估計的 balanced .60 係數。重要度沒有正負方向；獨熱編碼單欄不等於整個題材的重要度。</a:t>
            </a:r>
          </a:p>
          <a:p>
            <a:endParaRPr/>
          </a:p>
          <a:p>
            <a:r>
              <a:t>【老師可能追問】</a:t>
            </a:r>
          </a:p>
          <a:p>
            <a:r>
              <a:t>問：標題長度第二，為何不建議越短越好？答：重要度沒有方向；描述性結果也未支持強策略。</a:t>
            </a:r>
          </a:p>
          <a:p>
            <a:endParaRPr/>
          </a:p>
          <a:p>
            <a:r>
              <a:t>資料依據：random_forest_feature_importance_codex.csv；logistic_coefficients_codex.csv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建議時間：45 秒｜報告者：施建宏</a:t>
            </a:r>
          </a:p>
          <a:p>
            <a:endParaRPr/>
          </a:p>
          <a:p>
            <a:r>
              <a:t>【這頁目的】</a:t>
            </a:r>
          </a:p>
          <a:p>
            <a:r>
              <a:t>避免混淆固定測試與訓練集五折結果。</a:t>
            </a:r>
          </a:p>
          <a:p>
            <a:endParaRPr/>
          </a:p>
          <a:p>
            <a:r>
              <a:t>【建議講稿】</a:t>
            </a:r>
          </a:p>
          <a:p>
            <a:r>
              <a:t>比較模型時，要把固定測試和五折驗證分開。固定測試是保留的二十九部影片，RF的召回率與 F1 較高，LR的 ROC-AUC 較高。五折只在一百一十三部訓練資料輪流驗證，LR與RF的平均 F1 分別為零點五三二一與零點四七八五；平均 ROC-AUC 也是LR較高。這裡LR門檻是零點五，不能混成主報零點六的結果。我們維持LR主報、RF對照，不宣稱絕對最佳。</a:t>
            </a:r>
          </a:p>
          <a:p>
            <a:endParaRPr/>
          </a:p>
          <a:p>
            <a:r>
              <a:t>【不要講錯的地方】</a:t>
            </a:r>
          </a:p>
          <a:p>
            <a:r>
              <a:t>五折 LR 版本是 balanced .50，RF 為 .50。F1：.5321/.4785，ROC-AUC：.7050/.6765。固定測試與交叉驗證不可合併成同一次表現，也不宣稱跨資料必然勝出。</a:t>
            </a:r>
          </a:p>
          <a:p>
            <a:endParaRPr/>
          </a:p>
          <a:p>
            <a:r>
              <a:t>【老師可能追問】</a:t>
            </a:r>
          </a:p>
          <a:p>
            <a:r>
              <a:t>問：哪個最好？答：這次固定測試 RF 較亮眼，但五折沒有全面勝過 LR，所以保留主報／對照。</a:t>
            </a:r>
          </a:p>
          <a:p>
            <a:endParaRPr/>
          </a:p>
          <a:p>
            <a:r>
              <a:t>資料依據：cv_summary_random_forest_codex.csv；model_comparison_random_forest_codex.csv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建議時間：30 秒｜報告者：施建宏</a:t>
            </a:r>
          </a:p>
          <a:p>
            <a:endParaRPr/>
          </a:p>
          <a:p>
            <a:r>
              <a:t>【這頁目的】</a:t>
            </a:r>
          </a:p>
          <a:p>
            <a:r>
              <a:t>展示潛力排序並明確界定尚未驗證。</a:t>
            </a:r>
          </a:p>
          <a:p>
            <a:endParaRPr/>
          </a:p>
          <a:p>
            <a:r>
              <a:t>【建議講稿】</a:t>
            </a:r>
          </a:p>
          <a:p>
            <a:r>
              <a:t>最後對 2026 年十四部影片做潛力排序。長條沿用LR模型分數，兩模型十四部的高成效或一般判斷完全一致，其中三部共同判為高成效。但分類一致不代表排序相同，也不代表預測成功。2026 尚無完整年度的正式真實標籤，這是輔助觀察的模型分數，不是實際爆款機率。</a:t>
            </a:r>
          </a:p>
          <a:p>
            <a:endParaRPr/>
          </a:p>
          <a:p>
            <a:r>
              <a:t>【不要講錯的地方】</a:t>
            </a:r>
          </a:p>
          <a:p>
            <a:r>
              <a:t>2026 14 部不參與 Train/Test、不建立正式 y；14/14 僅指分類一致。模型分數不是經校準的實際爆款機率。圖上片名為節錄、中文化顯示，影片編號與原分數不變。</a:t>
            </a:r>
          </a:p>
          <a:p>
            <a:endParaRPr/>
          </a:p>
          <a:p>
            <a:r>
              <a:t>【老師可能追問】</a:t>
            </a:r>
          </a:p>
          <a:p>
            <a:r>
              <a:t>問：何時能說預測成功？答：要有一致、完整的未來真實標籤或外部資料，才能正式驗證。</a:t>
            </a:r>
          </a:p>
          <a:p>
            <a:endParaRPr/>
          </a:p>
          <a:p>
            <a:r>
              <a:t>資料依據：prediction_comparison_2026_random_forest_codex.csv；原 LR 潛力排行</a:t>
            </a:r>
          </a:p>
          <a:p>
            <a:endParaRPr/>
          </a:p>
          <a:p>
            <a:r>
              <a:t>2026 原始排行（不需朗讀，供追溯）：</a:t>
            </a:r>
          </a:p>
          <a:p>
            <a:r>
              <a:t>1. TxWErg5JBpk｜上市了，就不得不向华尔街低头吗?｜分數 0.8982263567657025</a:t>
            </a:r>
          </a:p>
          <a:p>
            <a:r>
              <a:t>2. 7qWH7e_AEDs｜资本是如何接连引爆多个国家的金融危机的？｜分數 0.8247119474515394</a:t>
            </a:r>
          </a:p>
          <a:p>
            <a:r>
              <a:t>3. Hbu1xkXcPNU｜坐拥金山，却变成人间炼狱，委内瑞拉到底经历了什么?｜分數 0.7995084018915096</a:t>
            </a:r>
          </a:p>
          <a:p>
            <a:r>
              <a:t>4. 7oF-JqEtWDU｜从"健身芭比"到"女企业家"，帕梅拉有多会"赚"？｜分數 0.5576279088688981</a:t>
            </a:r>
          </a:p>
          <a:p>
            <a:r>
              <a:t>5. Lb60mjM5B1U｜做自媒体6年了，我想说…｜分數 0.319067336454471</a:t>
            </a:r>
          </a:p>
          <a:p>
            <a:r>
              <a:t>6. 8BN8p5xDkzw｜日元创40年新低，美国突然出手，怎么回事儿？｜分數 0.2708060314886234</a:t>
            </a:r>
          </a:p>
          <a:p>
            <a:r>
              <a:t>7. HeVuAKDtWX8｜伊朗战争，和全球能源格局｜分數 0.2664822848961239</a:t>
            </a:r>
          </a:p>
          <a:p>
            <a:r>
              <a:t>8. fKoWrF49Qo8｜特朗普收入曝光，一年狂揽$22亿，竟然是靠…｜分數 0.2279281280532743</a:t>
            </a:r>
          </a:p>
          <a:p>
            <a:r>
              <a:t>9. wpb-DrbhEiY｜SpaceX上市，背后在玩什么资本游戏?｜分數 0.17327183033928795</a:t>
            </a:r>
          </a:p>
          <a:p>
            <a:r>
              <a:t>10. mcTAHffEkIw｜内存暴涨，谁在哭？谁在笑？｜分數 0.15069811199366284</a:t>
            </a:r>
          </a:p>
          <a:p>
            <a:r>
              <a:t>11. T7z71yENz94｜特朗普关税被判违法，这一整年白忙了? 现在关税什么情况?｜分數 0.08124457559635315</a:t>
            </a:r>
          </a:p>
          <a:p>
            <a:r>
              <a:t>12. l38ceFOWOAE｜王健林现在怎么样了? 万达什么情况?｜分數 0.07934836480780443</a:t>
            </a:r>
          </a:p>
          <a:p>
            <a:r>
              <a:t>13. OcKl98ZQbMQ｜AI巨头们之间的资本混战，到底是个什么情况？｜分數 0.07191218145785652</a:t>
            </a:r>
          </a:p>
          <a:p>
            <a:r>
              <a:t>14. mU_jDXfjYTA｜黄金白银大崩盘，谁是幕后推手？｜分數 0.05784280855072581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建議時間：50 秒｜報告者：施建宏</a:t>
            </a:r>
          </a:p>
          <a:p>
            <a:endParaRPr/>
          </a:p>
          <a:p>
            <a:r>
              <a:t>【這頁目的】</a:t>
            </a:r>
          </a:p>
          <a:p>
            <a:r>
              <a:t>回扣發現、企劃價值、限制與改善方向。</a:t>
            </a:r>
          </a:p>
          <a:p>
            <a:endParaRPr/>
          </a:p>
          <a:p>
            <a:r>
              <a:t>【建議講稿】</a:t>
            </a:r>
          </a:p>
          <a:p>
            <a:r>
              <a:t>研究有四個重點：題材存在歷史差異；片長在探索分析、LR與RF中，都是值得注意的線索；標題長度與發布時間目前不足以形成強策略；模型有一定辨識能力，但不是爆款保證器。實務價值是量化發布前資訊，輔助創作者與編輯。限制包括單一頻道、142 部模型樣本、日均觀看只是代理指標，API 也缺少點閱率與留存，2026 尚未驗證，而且不能推論因果。未來可增加頻道、建立固定時間快照、補充發布前內容特徵，並進行真正外部驗證。</a:t>
            </a:r>
          </a:p>
          <a:p>
            <a:endParaRPr/>
          </a:p>
          <a:p>
            <a:r>
              <a:t>【不要講錯的地方】</a:t>
            </a:r>
          </a:p>
          <a:p>
            <a:r>
              <a:t>片長值得注意，不代表越長越好；標題重要度高，也不代表描述性差異足以形成策略。未完成外部驗證；不做因果推論。</a:t>
            </a:r>
          </a:p>
          <a:p>
            <a:endParaRPr/>
          </a:p>
          <a:p>
            <a:r>
              <a:t>【老師可能追問】</a:t>
            </a:r>
          </a:p>
          <a:p>
            <a:r>
              <a:t>問：最優先改善什麼？答：固定時間快照與外部驗證，讓不同影片能在一致期間比較，再擴充頻道。</a:t>
            </a:r>
          </a:p>
          <a:p>
            <a:endParaRPr/>
          </a:p>
          <a:p>
            <a:r>
              <a:t>資料依據：前述既有結果與研究限制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圖片 22"/>
          <p:cNvPicPr>
            <a:picLocks noChangeAspect="1"/>
          </p:cNvPicPr>
          <p:nvPr/>
        </p:nvPicPr>
        <p:blipFill>
          <a:blip r:embed="rId3"/>
          <a:srcRect l="27" r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layout-1">
            <a:extLst>
              <a:ext uri="{FF2B5EF4-FFF2-40B4-BE49-F238E27FC236}">
                <a16:creationId xmlns:a16="http://schemas.microsoft.com/office/drawing/2014/main" id="{9763D9CB-8787-4DB0-9040-06D01FBBD6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810500" cy="6858000"/>
          </a:xfrm>
          <a:prstGeom prst="rect">
            <a:avLst/>
          </a:prstGeom>
          <a:gradFill>
            <a:gsLst>
              <a:gs pos="0">
                <a:srgbClr val="07101D">
                  <a:alpha val="62000"/>
                </a:srgbClr>
              </a:gs>
              <a:gs pos="60000">
                <a:srgbClr val="07101D">
                  <a:alpha val="35000"/>
                </a:srgbClr>
              </a:gs>
              <a:gs pos="100000">
                <a:srgbClr val="07101D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ource-P1-0">
            <a:extLst>
              <a:ext uri="{FF2B5EF4-FFF2-40B4-BE49-F238E27FC236}">
                <a16:creationId xmlns:a16="http://schemas.microsoft.com/office/drawing/2014/main" id="{7879239D-778C-4C7C-B554-2B51B02BEFAF}"/>
              </a:ext>
            </a:extLst>
          </p:cNvPr>
          <p:cNvSpPr>
            <a:spLocks noGrp="1"/>
          </p:cNvSpPr>
          <p:nvPr/>
        </p:nvSpPr>
        <p:spPr>
          <a:xfrm>
            <a:off x="657225" y="276225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01 · 財經影音內容研究</a:t>
            </a:r>
          </a:p>
        </p:txBody>
      </p:sp>
      <p:sp>
        <p:nvSpPr>
          <p:cNvPr id="16" name="source-P1-1">
            <a:extLst>
              <a:ext uri="{FF2B5EF4-FFF2-40B4-BE49-F238E27FC236}">
                <a16:creationId xmlns:a16="http://schemas.microsoft.com/office/drawing/2014/main" id="{49B824FB-8B12-4B87-8365-647F3A0B6208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7" name="source-P1-2">
            <a:extLst>
              <a:ext uri="{FF2B5EF4-FFF2-40B4-BE49-F238E27FC236}">
                <a16:creationId xmlns:a16="http://schemas.microsoft.com/office/drawing/2014/main" id="{EDB1263F-F7F9-4ACF-9445-106000C7F097}"/>
              </a:ext>
            </a:extLst>
          </p:cNvPr>
          <p:cNvSpPr>
            <a:spLocks noGrp="1"/>
          </p:cNvSpPr>
          <p:nvPr/>
        </p:nvSpPr>
        <p:spPr>
          <a:xfrm>
            <a:off x="476250" y="1790700"/>
            <a:ext cx="666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5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5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財經 YouTuber</a:t>
            </a:r>
          </a:p>
        </p:txBody>
      </p:sp>
      <p:sp>
        <p:nvSpPr>
          <p:cNvPr id="18" name="source-P1-3">
            <a:extLst>
              <a:ext uri="{FF2B5EF4-FFF2-40B4-BE49-F238E27FC236}">
                <a16:creationId xmlns:a16="http://schemas.microsoft.com/office/drawing/2014/main" id="{2C6DF9DD-C6F5-4588-A36E-BD0EBBB7044D}"/>
              </a:ext>
            </a:extLst>
          </p:cNvPr>
          <p:cNvSpPr>
            <a:spLocks noGrp="1"/>
          </p:cNvSpPr>
          <p:nvPr/>
        </p:nvSpPr>
        <p:spPr>
          <a:xfrm>
            <a:off x="457200" y="2495550"/>
            <a:ext cx="7000875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43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350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內容成效分析</a:t>
            </a:r>
            <a:endParaRPr sz="4350" b="1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  <a:p>
            <a:pPr algn="l">
              <a:defRPr sz="43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350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與機器學習預測</a:t>
            </a:r>
            <a:endParaRPr sz="4350" b="1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9" name="source-P1-4">
            <a:extLst>
              <a:ext uri="{FF2B5EF4-FFF2-40B4-BE49-F238E27FC236}">
                <a16:creationId xmlns:a16="http://schemas.microsoft.com/office/drawing/2014/main" id="{1A96DC12-F2E1-4810-8E79-6F3E31E89F94}"/>
              </a:ext>
            </a:extLst>
          </p:cNvPr>
          <p:cNvSpPr>
            <a:spLocks noGrp="1"/>
          </p:cNvSpPr>
          <p:nvPr/>
        </p:nvSpPr>
        <p:spPr>
          <a:xfrm>
            <a:off x="1095375" y="4248150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以小Lin說為案例</a:t>
            </a:r>
            <a:endParaRPr sz="2400" b="0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0" name="source-P1-5">
            <a:extLst>
              <a:ext uri="{FF2B5EF4-FFF2-40B4-BE49-F238E27FC236}">
                <a16:creationId xmlns:a16="http://schemas.microsoft.com/office/drawing/2014/main" id="{417656B9-3453-4557-B899-1BFF99732463}"/>
              </a:ext>
            </a:extLst>
          </p:cNvPr>
          <p:cNvSpPr>
            <a:spLocks noGrp="1"/>
          </p:cNvSpPr>
          <p:nvPr/>
        </p:nvSpPr>
        <p:spPr>
          <a:xfrm>
            <a:off x="333375" y="5229225"/>
            <a:ext cx="6953250" cy="866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發布前的哪些特徵</a:t>
            </a:r>
            <a:r>
              <a:rPr lang="zh-TW" altLang="en-US" sz="2325" b="0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sz="2325" b="0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包含高成效訊號</a:t>
            </a:r>
            <a:r>
              <a:rPr sz="2325" b="0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？</a:t>
            </a:r>
          </a:p>
        </p:txBody>
      </p:sp>
      <p:sp>
        <p:nvSpPr>
          <p:cNvPr id="21" name="source-P1-6">
            <a:extLst>
              <a:ext uri="{FF2B5EF4-FFF2-40B4-BE49-F238E27FC236}">
                <a16:creationId xmlns:a16="http://schemas.microsoft.com/office/drawing/2014/main" id="{04998627-3428-4A90-850E-3B583ADA70CC}"/>
              </a:ext>
            </a:extLst>
          </p:cNvPr>
          <p:cNvSpPr>
            <a:spLocks noGrp="1"/>
          </p:cNvSpPr>
          <p:nvPr/>
        </p:nvSpPr>
        <p:spPr>
          <a:xfrm>
            <a:off x="504825" y="6134100"/>
            <a:ext cx="7143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方柏登  ／  施建宏</a:t>
            </a:r>
          </a:p>
        </p:txBody>
      </p:sp>
      <p:sp>
        <p:nvSpPr>
          <p:cNvPr id="22" name="layout-2">
            <a:extLst>
              <a:ext uri="{FF2B5EF4-FFF2-40B4-BE49-F238E27FC236}">
                <a16:creationId xmlns:a16="http://schemas.microsoft.com/office/drawing/2014/main" id="{D37F1D9E-D085-4C6F-A0C6-57228E0BD455}"/>
              </a:ext>
            </a:extLst>
          </p:cNvPr>
          <p:cNvSpPr>
            <a:spLocks noGrp="1"/>
          </p:cNvSpPr>
          <p:nvPr/>
        </p:nvSpPr>
        <p:spPr>
          <a:xfrm>
            <a:off x="466725" y="342900"/>
            <a:ext cx="47625" cy="238125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6652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ckground-extension-P2"/>
          <p:cNvPicPr>
            <a:picLocks noChangeAspect="1"/>
          </p:cNvPicPr>
          <p:nvPr/>
        </p:nvPicPr>
        <p:blipFill>
          <a:blip r:embed="rId3">
            <a:alphaModFix/>
          </a:blip>
          <a:srcRect l="72000" b="83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blur rad="9525" grow="0"/>
          </a:effectLst>
        </p:spPr>
      </p:pic>
      <p:sp>
        <p:nvSpPr>
          <p:cNvPr id="39" name="background-texture-shade-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30914">
                  <a:alpha val="0"/>
                </a:srgbClr>
              </a:gs>
              <a:gs pos="42000">
                <a:srgbClr val="030914">
                  <a:alpha val="20000"/>
                </a:srgbClr>
              </a:gs>
              <a:gs pos="70000">
                <a:srgbClr val="030914">
                  <a:alpha val="42000"/>
                </a:srgbClr>
              </a:gs>
              <a:gs pos="100000">
                <a:srgbClr val="030914">
                  <a:alpha val="2300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7" name="圖片 36"/>
          <p:cNvPicPr>
            <a:picLocks noChangeAspect="1"/>
          </p:cNvPicPr>
          <p:nvPr/>
        </p:nvPicPr>
        <p:blipFill>
          <a:blip r:embed="rId3"/>
          <a:srcRect l="47000"/>
          <a:stretch>
            <a:fillRect/>
          </a:stretch>
        </p:blipFill>
        <p:spPr>
          <a:xfrm>
            <a:off x="0" y="1009650"/>
            <a:ext cx="5095875" cy="5410200"/>
          </a:xfrm>
          <a:prstGeom prst="rect">
            <a:avLst/>
          </a:prstGeom>
          <a:effectLst>
            <a:softEdge rad="304800"/>
          </a:effectLst>
        </p:spPr>
      </p:pic>
      <p:sp>
        <p:nvSpPr>
          <p:cNvPr id="21" name="layout-3">
            <a:extLst>
              <a:ext uri="{FF2B5EF4-FFF2-40B4-BE49-F238E27FC236}">
                <a16:creationId xmlns:a16="http://schemas.microsoft.com/office/drawing/2014/main" id="{787B45BF-6628-4804-B632-9BC9601B56A3}"/>
              </a:ext>
            </a:extLst>
          </p:cNvPr>
          <p:cNvSpPr>
            <a:spLocks noGrp="1"/>
          </p:cNvSpPr>
          <p:nvPr/>
        </p:nvSpPr>
        <p:spPr>
          <a:xfrm>
            <a:off x="0" y="1009650"/>
            <a:ext cx="5095875" cy="714375"/>
          </a:xfrm>
          <a:prstGeom prst="rect">
            <a:avLst/>
          </a:prstGeom>
          <a:gradFill>
            <a:gsLst>
              <a:gs pos="0">
                <a:srgbClr val="080E19">
                  <a:alpha val="0"/>
                </a:srgbClr>
              </a:gs>
              <a:gs pos="100000">
                <a:srgbClr val="080E19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ource-P2-0">
            <a:extLst>
              <a:ext uri="{FF2B5EF4-FFF2-40B4-BE49-F238E27FC236}">
                <a16:creationId xmlns:a16="http://schemas.microsoft.com/office/drawing/2014/main" id="{5CC8D7B9-AC3A-49ED-B7D6-FA622D160244}"/>
              </a:ext>
            </a:extLst>
          </p:cNvPr>
          <p:cNvSpPr>
            <a:spLocks noGrp="1"/>
          </p:cNvSpPr>
          <p:nvPr/>
        </p:nvSpPr>
        <p:spPr>
          <a:xfrm>
            <a:off x="657225" y="2381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02 · 選題動機</a:t>
            </a:r>
          </a:p>
        </p:txBody>
      </p:sp>
      <p:sp>
        <p:nvSpPr>
          <p:cNvPr id="23" name="source-P2-1">
            <a:extLst>
              <a:ext uri="{FF2B5EF4-FFF2-40B4-BE49-F238E27FC236}">
                <a16:creationId xmlns:a16="http://schemas.microsoft.com/office/drawing/2014/main" id="{342BBC5C-350F-4449-AEC6-7A78054FF16E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24" name="source-P2-2">
            <a:extLst>
              <a:ext uri="{FF2B5EF4-FFF2-40B4-BE49-F238E27FC236}">
                <a16:creationId xmlns:a16="http://schemas.microsoft.com/office/drawing/2014/main" id="{F4E070A8-CC8E-4CC8-8D86-CD6D917BA2EE}"/>
              </a:ext>
            </a:extLst>
          </p:cNvPr>
          <p:cNvSpPr>
            <a:spLocks noGrp="1"/>
          </p:cNvSpPr>
          <p:nvPr/>
        </p:nvSpPr>
        <p:spPr>
          <a:xfrm>
            <a:off x="5334000" y="771525"/>
            <a:ext cx="647700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為什麼研究財經</a:t>
            </a:r>
            <a:r>
              <a:rPr sz="27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sz="2700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YouTuber的內容成效</a:t>
            </a:r>
            <a:r>
              <a:rPr sz="27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？</a:t>
            </a:r>
          </a:p>
        </p:txBody>
      </p:sp>
      <p:sp>
        <p:nvSpPr>
          <p:cNvPr id="25" name="layout-4">
            <a:extLst>
              <a:ext uri="{FF2B5EF4-FFF2-40B4-BE49-F238E27FC236}">
                <a16:creationId xmlns:a16="http://schemas.microsoft.com/office/drawing/2014/main" id="{695283DE-59B3-4929-A77E-E4204DF2C13F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7625" cy="228600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ource-P2-3">
            <a:extLst>
              <a:ext uri="{FF2B5EF4-FFF2-40B4-BE49-F238E27FC236}">
                <a16:creationId xmlns:a16="http://schemas.microsoft.com/office/drawing/2014/main" id="{EF33ED5E-CECA-4773-827C-D4B528D51DC2}"/>
              </a:ext>
            </a:extLst>
          </p:cNvPr>
          <p:cNvSpPr>
            <a:spLocks noGrp="1"/>
          </p:cNvSpPr>
          <p:nvPr/>
        </p:nvSpPr>
        <p:spPr>
          <a:xfrm>
            <a:off x="5424487" y="1666875"/>
            <a:ext cx="5429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27" name="source-P2-4">
            <a:extLst>
              <a:ext uri="{FF2B5EF4-FFF2-40B4-BE49-F238E27FC236}">
                <a16:creationId xmlns:a16="http://schemas.microsoft.com/office/drawing/2014/main" id="{002D1068-252C-4F9E-B36F-19844ADB3A0E}"/>
              </a:ext>
            </a:extLst>
          </p:cNvPr>
          <p:cNvSpPr>
            <a:spLocks noGrp="1"/>
          </p:cNvSpPr>
          <p:nvPr/>
        </p:nvSpPr>
        <p:spPr>
          <a:xfrm>
            <a:off x="6081712" y="1666875"/>
            <a:ext cx="57816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發布前，能掌握什麼</a:t>
            </a:r>
            <a:r>
              <a:rPr sz="2025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？</a:t>
            </a:r>
          </a:p>
        </p:txBody>
      </p:sp>
      <p:sp>
        <p:nvSpPr>
          <p:cNvPr id="28" name="source-P2-5">
            <a:extLst>
              <a:ext uri="{FF2B5EF4-FFF2-40B4-BE49-F238E27FC236}">
                <a16:creationId xmlns:a16="http://schemas.microsoft.com/office/drawing/2014/main" id="{F926AC77-E67F-457E-9687-541CE98B9D99}"/>
              </a:ext>
            </a:extLst>
          </p:cNvPr>
          <p:cNvSpPr>
            <a:spLocks noGrp="1"/>
          </p:cNvSpPr>
          <p:nvPr/>
        </p:nvSpPr>
        <p:spPr>
          <a:xfrm>
            <a:off x="6081712" y="2076450"/>
            <a:ext cx="57816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成效有差距；企劃通常只能先掌握</a:t>
            </a:r>
          </a:p>
          <a:p>
            <a:pPr algn="l">
              <a:def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題材、標題、片長與發布時間。</a:t>
            </a:r>
          </a:p>
        </p:txBody>
      </p:sp>
      <p:sp>
        <p:nvSpPr>
          <p:cNvPr id="29" name="source-P2-6">
            <a:extLst>
              <a:ext uri="{FF2B5EF4-FFF2-40B4-BE49-F238E27FC236}">
                <a16:creationId xmlns:a16="http://schemas.microsoft.com/office/drawing/2014/main" id="{30EA75E0-0F97-48DE-A3C9-990C76FBA80C}"/>
              </a:ext>
            </a:extLst>
          </p:cNvPr>
          <p:cNvSpPr>
            <a:spLocks noGrp="1"/>
          </p:cNvSpPr>
          <p:nvPr/>
        </p:nvSpPr>
        <p:spPr>
          <a:xfrm>
            <a:off x="5424487" y="2676525"/>
            <a:ext cx="5429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30" name="source-P2-7">
            <a:extLst>
              <a:ext uri="{FF2B5EF4-FFF2-40B4-BE49-F238E27FC236}">
                <a16:creationId xmlns:a16="http://schemas.microsoft.com/office/drawing/2014/main" id="{C2E2A47E-BC8C-48DF-B923-19F082E52B68}"/>
              </a:ext>
            </a:extLst>
          </p:cNvPr>
          <p:cNvSpPr>
            <a:spLocks noGrp="1"/>
          </p:cNvSpPr>
          <p:nvPr/>
        </p:nvSpPr>
        <p:spPr>
          <a:xfrm>
            <a:off x="6081712" y="2676525"/>
            <a:ext cx="57816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把經驗判斷變成可檢查的問題</a:t>
            </a:r>
          </a:p>
        </p:txBody>
      </p:sp>
      <p:sp>
        <p:nvSpPr>
          <p:cNvPr id="31" name="source-P2-8">
            <a:extLst>
              <a:ext uri="{FF2B5EF4-FFF2-40B4-BE49-F238E27FC236}">
                <a16:creationId xmlns:a16="http://schemas.microsoft.com/office/drawing/2014/main" id="{515F8CAC-6E9C-4C0C-A946-9B75646E71C8}"/>
              </a:ext>
            </a:extLst>
          </p:cNvPr>
          <p:cNvSpPr>
            <a:spLocks noGrp="1"/>
          </p:cNvSpPr>
          <p:nvPr/>
        </p:nvSpPr>
        <p:spPr>
          <a:xfrm>
            <a:off x="6081712" y="3086100"/>
            <a:ext cx="57816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這些發布前資訊，是否已包含</a:t>
            </a:r>
          </a:p>
          <a:p>
            <a:pPr algn="l">
              <a:def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歷史高成效的訊號？</a:t>
            </a:r>
          </a:p>
        </p:txBody>
      </p:sp>
      <p:sp>
        <p:nvSpPr>
          <p:cNvPr id="32" name="source-P2-9">
            <a:extLst>
              <a:ext uri="{FF2B5EF4-FFF2-40B4-BE49-F238E27FC236}">
                <a16:creationId xmlns:a16="http://schemas.microsoft.com/office/drawing/2014/main" id="{F5DE6F45-348C-4BC9-A6F3-66B6CD2C26A9}"/>
              </a:ext>
            </a:extLst>
          </p:cNvPr>
          <p:cNvSpPr>
            <a:spLocks noGrp="1"/>
          </p:cNvSpPr>
          <p:nvPr/>
        </p:nvSpPr>
        <p:spPr>
          <a:xfrm>
            <a:off x="5424487" y="3686175"/>
            <a:ext cx="5429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33" name="source-P2-10">
            <a:extLst>
              <a:ext uri="{FF2B5EF4-FFF2-40B4-BE49-F238E27FC236}">
                <a16:creationId xmlns:a16="http://schemas.microsoft.com/office/drawing/2014/main" id="{199D8EE6-4B71-46E0-B5EE-A5C17B1D6F84}"/>
              </a:ext>
            </a:extLst>
          </p:cNvPr>
          <p:cNvSpPr>
            <a:spLocks noGrp="1"/>
          </p:cNvSpPr>
          <p:nvPr/>
        </p:nvSpPr>
        <p:spPr>
          <a:xfrm>
            <a:off x="6081712" y="3686175"/>
            <a:ext cx="57816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提供量化輔助</a:t>
            </a:r>
          </a:p>
        </p:txBody>
      </p:sp>
      <p:sp>
        <p:nvSpPr>
          <p:cNvPr id="34" name="source-P2-11">
            <a:extLst>
              <a:ext uri="{FF2B5EF4-FFF2-40B4-BE49-F238E27FC236}">
                <a16:creationId xmlns:a16="http://schemas.microsoft.com/office/drawing/2014/main" id="{991BD561-C166-42C4-B6F1-368F7A346682}"/>
              </a:ext>
            </a:extLst>
          </p:cNvPr>
          <p:cNvSpPr>
            <a:spLocks noGrp="1"/>
          </p:cNvSpPr>
          <p:nvPr/>
        </p:nvSpPr>
        <p:spPr>
          <a:xfrm>
            <a:off x="6081712" y="4095750"/>
            <a:ext cx="57816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協助比較內容方向與製作配置，</a:t>
            </a:r>
          </a:p>
          <a:p>
            <a:pPr algn="l">
              <a:def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研究目標不是保證爆款。</a:t>
            </a:r>
          </a:p>
        </p:txBody>
      </p:sp>
      <p:sp>
        <p:nvSpPr>
          <p:cNvPr id="35" name="source-P2-12">
            <a:extLst>
              <a:ext uri="{FF2B5EF4-FFF2-40B4-BE49-F238E27FC236}">
                <a16:creationId xmlns:a16="http://schemas.microsoft.com/office/drawing/2014/main" id="{42246B10-8691-4E31-9520-062920DF5ABF}"/>
              </a:ext>
            </a:extLst>
          </p:cNvPr>
          <p:cNvSpPr>
            <a:spLocks noGrp="1"/>
          </p:cNvSpPr>
          <p:nvPr/>
        </p:nvSpPr>
        <p:spPr>
          <a:xfrm>
            <a:off x="5424487" y="4905375"/>
            <a:ext cx="62960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為什麼選小Lin說？</a:t>
            </a:r>
          </a:p>
        </p:txBody>
      </p:sp>
      <p:sp>
        <p:nvSpPr>
          <p:cNvPr id="36" name="source-P2-13">
            <a:extLst>
              <a:ext uri="{FF2B5EF4-FFF2-40B4-BE49-F238E27FC236}">
                <a16:creationId xmlns:a16="http://schemas.microsoft.com/office/drawing/2014/main" id="{76B20CEE-5A17-4A7F-A082-FDFB7948C1C3}"/>
              </a:ext>
            </a:extLst>
          </p:cNvPr>
          <p:cNvSpPr>
            <a:spLocks noGrp="1"/>
          </p:cNvSpPr>
          <p:nvPr/>
        </p:nvSpPr>
        <p:spPr>
          <a:xfrm>
            <a:off x="5424487" y="5305425"/>
            <a:ext cx="6429375" cy="847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 dirty="0" err="1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單一頻道，減少創作者規模干擾；主題明確</a:t>
            </a:r>
            <a:r>
              <a:rPr sz="1800" b="0" dirty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、</a:t>
            </a:r>
          </a:p>
          <a:p>
            <a:pPr algn="l">
              <a:defRPr sz="18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 dirty="0" err="1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歷史長影音數量足夠、風格一致，適合作為案例研究</a:t>
            </a:r>
            <a:r>
              <a:rPr sz="1800" b="0" dirty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87782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background-extension-P3"/>
          <p:cNvPicPr>
            <a:picLocks noChangeAspect="1"/>
          </p:cNvPicPr>
          <p:nvPr/>
        </p:nvPicPr>
        <p:blipFill>
          <a:blip r:embed="rId3">
            <a:alphaModFix amt="56000"/>
          </a:blip>
          <a:srcRect l="40000" r="40000" b="78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blur rad="9525" grow="0"/>
          </a:effectLst>
        </p:spPr>
      </p:pic>
      <p:sp>
        <p:nvSpPr>
          <p:cNvPr id="36" name="background-texture-shade-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30914">
                  <a:alpha val="42000"/>
                </a:srgbClr>
              </a:gs>
              <a:gs pos="45000">
                <a:srgbClr val="030914">
                  <a:alpha val="28000"/>
                </a:srgbClr>
              </a:gs>
              <a:gs pos="100000">
                <a:srgbClr val="030914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4" name="圖片 3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2571750"/>
            <a:ext cx="7620000" cy="4286250"/>
          </a:xfrm>
          <a:prstGeom prst="rect">
            <a:avLst/>
          </a:prstGeom>
          <a:effectLst>
            <a:softEdge rad="428625"/>
          </a:effectLst>
        </p:spPr>
      </p:pic>
      <p:sp>
        <p:nvSpPr>
          <p:cNvPr id="17" name="layout-5">
            <a:extLst>
              <a:ext uri="{FF2B5EF4-FFF2-40B4-BE49-F238E27FC236}">
                <a16:creationId xmlns:a16="http://schemas.microsoft.com/office/drawing/2014/main" id="{2EB8C65D-315F-4EC3-8E01-C56DC84E4003}"/>
              </a:ext>
            </a:extLst>
          </p:cNvPr>
          <p:cNvSpPr>
            <a:spLocks noGrp="1"/>
          </p:cNvSpPr>
          <p:nvPr/>
        </p:nvSpPr>
        <p:spPr>
          <a:xfrm>
            <a:off x="4572000" y="2571750"/>
            <a:ext cx="7620000" cy="638175"/>
          </a:xfrm>
          <a:prstGeom prst="rect">
            <a:avLst/>
          </a:prstGeom>
          <a:gradFill>
            <a:gsLst>
              <a:gs pos="0">
                <a:srgbClr val="080E19">
                  <a:alpha val="0"/>
                </a:srgbClr>
              </a:gs>
              <a:gs pos="100000">
                <a:srgbClr val="080E19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layout-6">
            <a:extLst>
              <a:ext uri="{FF2B5EF4-FFF2-40B4-BE49-F238E27FC236}">
                <a16:creationId xmlns:a16="http://schemas.microsoft.com/office/drawing/2014/main" id="{80D3873B-ADBF-4710-9625-4581E16F485A}"/>
              </a:ext>
            </a:extLst>
          </p:cNvPr>
          <p:cNvSpPr>
            <a:spLocks noGrp="1"/>
          </p:cNvSpPr>
          <p:nvPr/>
        </p:nvSpPr>
        <p:spPr>
          <a:xfrm>
            <a:off x="4286250" y="2571750"/>
            <a:ext cx="2095500" cy="4286250"/>
          </a:xfrm>
          <a:prstGeom prst="rect">
            <a:avLst/>
          </a:prstGeom>
          <a:gradFill>
            <a:gsLst>
              <a:gs pos="0">
                <a:srgbClr val="080E19">
                  <a:alpha val="0"/>
                </a:srgbClr>
              </a:gs>
              <a:gs pos="100000">
                <a:srgbClr val="080E19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ource-P3-0">
            <a:extLst>
              <a:ext uri="{FF2B5EF4-FFF2-40B4-BE49-F238E27FC236}">
                <a16:creationId xmlns:a16="http://schemas.microsoft.com/office/drawing/2014/main" id="{F0F19D1F-7341-41A1-86E6-CA6F88618343}"/>
              </a:ext>
            </a:extLst>
          </p:cNvPr>
          <p:cNvSpPr>
            <a:spLocks noGrp="1"/>
          </p:cNvSpPr>
          <p:nvPr/>
        </p:nvSpPr>
        <p:spPr>
          <a:xfrm>
            <a:off x="657225" y="2381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03 · 研究問題</a:t>
            </a:r>
          </a:p>
        </p:txBody>
      </p:sp>
      <p:sp>
        <p:nvSpPr>
          <p:cNvPr id="20" name="source-P3-1">
            <a:extLst>
              <a:ext uri="{FF2B5EF4-FFF2-40B4-BE49-F238E27FC236}">
                <a16:creationId xmlns:a16="http://schemas.microsoft.com/office/drawing/2014/main" id="{8E2AE581-23C2-485B-BB55-8BB03040A096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22" name="layout-7">
            <a:extLst>
              <a:ext uri="{FF2B5EF4-FFF2-40B4-BE49-F238E27FC236}">
                <a16:creationId xmlns:a16="http://schemas.microsoft.com/office/drawing/2014/main" id="{A2386920-7C7C-4A4B-B990-81DB30596948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7625" cy="228600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ource-P3-2">
            <a:extLst>
              <a:ext uri="{FF2B5EF4-FFF2-40B4-BE49-F238E27FC236}">
                <a16:creationId xmlns:a16="http://schemas.microsoft.com/office/drawing/2014/main" id="{677EFDC4-2A8C-4912-AEED-62E2632C1C71}"/>
              </a:ext>
            </a:extLst>
          </p:cNvPr>
          <p:cNvSpPr>
            <a:spLocks noGrp="1"/>
          </p:cNvSpPr>
          <p:nvPr/>
        </p:nvSpPr>
        <p:spPr>
          <a:xfrm>
            <a:off x="457200" y="800100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我們想回答三個問題</a:t>
            </a:r>
          </a:p>
        </p:txBody>
      </p:sp>
      <p:sp>
        <p:nvSpPr>
          <p:cNvPr id="24" name="source-P3-3">
            <a:extLst>
              <a:ext uri="{FF2B5EF4-FFF2-40B4-BE49-F238E27FC236}">
                <a16:creationId xmlns:a16="http://schemas.microsoft.com/office/drawing/2014/main" id="{B52E04F9-70BD-4AC3-A9EF-60A3DDE6113C}"/>
              </a:ext>
            </a:extLst>
          </p:cNvPr>
          <p:cNvSpPr>
            <a:spLocks noGrp="1"/>
          </p:cNvSpPr>
          <p:nvPr/>
        </p:nvSpPr>
        <p:spPr>
          <a:xfrm>
            <a:off x="476250" y="1685925"/>
            <a:ext cx="36385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01  歷史關聯</a:t>
            </a:r>
          </a:p>
        </p:txBody>
      </p:sp>
      <p:sp>
        <p:nvSpPr>
          <p:cNvPr id="25" name="source-P3-4">
            <a:extLst>
              <a:ext uri="{FF2B5EF4-FFF2-40B4-BE49-F238E27FC236}">
                <a16:creationId xmlns:a16="http://schemas.microsoft.com/office/drawing/2014/main" id="{B9F1133D-D842-4D8C-8E8E-335FAB45223B}"/>
              </a:ext>
            </a:extLst>
          </p:cNvPr>
          <p:cNvSpPr>
            <a:spLocks noGrp="1"/>
          </p:cNvSpPr>
          <p:nvPr/>
        </p:nvSpPr>
        <p:spPr>
          <a:xfrm>
            <a:off x="476250" y="2228850"/>
            <a:ext cx="3590925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哪些發布前特徵，</a:t>
            </a:r>
          </a:p>
          <a:p>
            <a:pPr algn="l">
              <a:def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和歷史高成效較有關聯？</a:t>
            </a:r>
          </a:p>
        </p:txBody>
      </p:sp>
      <p:sp>
        <p:nvSpPr>
          <p:cNvPr id="26" name="layout-8">
            <a:extLst>
              <a:ext uri="{FF2B5EF4-FFF2-40B4-BE49-F238E27FC236}">
                <a16:creationId xmlns:a16="http://schemas.microsoft.com/office/drawing/2014/main" id="{F386AA9F-37BB-4ECE-8F4B-D32A94B469FD}"/>
              </a:ext>
            </a:extLst>
          </p:cNvPr>
          <p:cNvSpPr>
            <a:spLocks noGrp="1"/>
          </p:cNvSpPr>
          <p:nvPr/>
        </p:nvSpPr>
        <p:spPr>
          <a:xfrm>
            <a:off x="476250" y="1524000"/>
            <a:ext cx="419100" cy="28575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ource-P3-5">
            <a:extLst>
              <a:ext uri="{FF2B5EF4-FFF2-40B4-BE49-F238E27FC236}">
                <a16:creationId xmlns:a16="http://schemas.microsoft.com/office/drawing/2014/main" id="{37A8070F-45D0-4B8F-B908-3D7307E51872}"/>
              </a:ext>
            </a:extLst>
          </p:cNvPr>
          <p:cNvSpPr>
            <a:spLocks noGrp="1"/>
          </p:cNvSpPr>
          <p:nvPr/>
        </p:nvSpPr>
        <p:spPr>
          <a:xfrm>
            <a:off x="4362450" y="1685925"/>
            <a:ext cx="36385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02  分類模型</a:t>
            </a:r>
          </a:p>
        </p:txBody>
      </p:sp>
      <p:sp>
        <p:nvSpPr>
          <p:cNvPr id="28" name="source-P3-6">
            <a:extLst>
              <a:ext uri="{FF2B5EF4-FFF2-40B4-BE49-F238E27FC236}">
                <a16:creationId xmlns:a16="http://schemas.microsoft.com/office/drawing/2014/main" id="{20D07599-4921-47C2-B0BC-CFDD9DF7EA8F}"/>
              </a:ext>
            </a:extLst>
          </p:cNvPr>
          <p:cNvSpPr>
            <a:spLocks noGrp="1"/>
          </p:cNvSpPr>
          <p:nvPr/>
        </p:nvSpPr>
        <p:spPr>
          <a:xfrm>
            <a:off x="4362450" y="2228850"/>
            <a:ext cx="3590925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能否建立高成效（High）／</a:t>
            </a:r>
          </a:p>
          <a:p>
            <a:pPr algn="l">
              <a:def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一般（Normal）二元分類模型？</a:t>
            </a:r>
          </a:p>
        </p:txBody>
      </p:sp>
      <p:sp>
        <p:nvSpPr>
          <p:cNvPr id="29" name="layout-9">
            <a:extLst>
              <a:ext uri="{FF2B5EF4-FFF2-40B4-BE49-F238E27FC236}">
                <a16:creationId xmlns:a16="http://schemas.microsoft.com/office/drawing/2014/main" id="{535A957E-BF49-43E8-840A-5960AC01402C}"/>
              </a:ext>
            </a:extLst>
          </p:cNvPr>
          <p:cNvSpPr>
            <a:spLocks noGrp="1"/>
          </p:cNvSpPr>
          <p:nvPr/>
        </p:nvSpPr>
        <p:spPr>
          <a:xfrm>
            <a:off x="4362450" y="1524000"/>
            <a:ext cx="419100" cy="28575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ource-P3-7">
            <a:extLst>
              <a:ext uri="{FF2B5EF4-FFF2-40B4-BE49-F238E27FC236}">
                <a16:creationId xmlns:a16="http://schemas.microsoft.com/office/drawing/2014/main" id="{674FA6B7-CADB-4B9F-9EB6-E5E21B75F085}"/>
              </a:ext>
            </a:extLst>
          </p:cNvPr>
          <p:cNvSpPr>
            <a:spLocks noGrp="1"/>
          </p:cNvSpPr>
          <p:nvPr/>
        </p:nvSpPr>
        <p:spPr>
          <a:xfrm>
            <a:off x="8248650" y="1685925"/>
            <a:ext cx="36385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03  新片應用</a:t>
            </a:r>
          </a:p>
        </p:txBody>
      </p:sp>
      <p:sp>
        <p:nvSpPr>
          <p:cNvPr id="31" name="source-P3-8">
            <a:extLst>
              <a:ext uri="{FF2B5EF4-FFF2-40B4-BE49-F238E27FC236}">
                <a16:creationId xmlns:a16="http://schemas.microsoft.com/office/drawing/2014/main" id="{4731A0CB-7D38-4853-86D5-D12AD52609A6}"/>
              </a:ext>
            </a:extLst>
          </p:cNvPr>
          <p:cNvSpPr>
            <a:spLocks noGrp="1"/>
          </p:cNvSpPr>
          <p:nvPr/>
        </p:nvSpPr>
        <p:spPr>
          <a:xfrm>
            <a:off x="8248650" y="2228850"/>
            <a:ext cx="3590925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能否對 2026 最新影片</a:t>
            </a:r>
          </a:p>
          <a:p>
            <a:pPr algn="l">
              <a:def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做高成效潛力排序？</a:t>
            </a:r>
          </a:p>
        </p:txBody>
      </p:sp>
      <p:sp>
        <p:nvSpPr>
          <p:cNvPr id="32" name="layout-10">
            <a:extLst>
              <a:ext uri="{FF2B5EF4-FFF2-40B4-BE49-F238E27FC236}">
                <a16:creationId xmlns:a16="http://schemas.microsoft.com/office/drawing/2014/main" id="{010570D8-6D27-4D93-882B-F73FD75E308D}"/>
              </a:ext>
            </a:extLst>
          </p:cNvPr>
          <p:cNvSpPr>
            <a:spLocks noGrp="1"/>
          </p:cNvSpPr>
          <p:nvPr/>
        </p:nvSpPr>
        <p:spPr>
          <a:xfrm>
            <a:off x="8248650" y="1524000"/>
            <a:ext cx="419100" cy="28575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ource-P3-9">
            <a:extLst>
              <a:ext uri="{FF2B5EF4-FFF2-40B4-BE49-F238E27FC236}">
                <a16:creationId xmlns:a16="http://schemas.microsoft.com/office/drawing/2014/main" id="{D234838A-F208-4201-877C-35051932A495}"/>
              </a:ext>
            </a:extLst>
          </p:cNvPr>
          <p:cNvSpPr>
            <a:spLocks noGrp="1"/>
          </p:cNvSpPr>
          <p:nvPr/>
        </p:nvSpPr>
        <p:spPr>
          <a:xfrm>
            <a:off x="476250" y="4524375"/>
            <a:ext cx="5619750" cy="1323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預測同年度相對高成效，</a:t>
            </a:r>
          </a:p>
          <a:p>
            <a:pPr algn="l">
              <a:defRPr sz="23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不是絕對觀看數，也不是爆款保證。</a:t>
            </a:r>
          </a:p>
        </p:txBody>
      </p:sp>
    </p:spTree>
    <p:extLst>
      <p:ext uri="{BB962C8B-B14F-4D97-AF65-F5344CB8AC3E}">
        <p14:creationId xmlns:p14="http://schemas.microsoft.com/office/powerpoint/2010/main" val="1530413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圖片 4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anel-44">
            <a:extLst>
              <a:ext uri="{FF2B5EF4-FFF2-40B4-BE49-F238E27FC236}">
                <a16:creationId xmlns:a16="http://schemas.microsoft.com/office/drawing/2014/main" id="{1454BB22-0779-4BC1-8098-3FA802CB6C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620250" cy="6858000"/>
          </a:xfrm>
          <a:prstGeom prst="rect">
            <a:avLst/>
          </a:prstGeom>
          <a:gradFill>
            <a:gsLst>
              <a:gs pos="0">
                <a:srgbClr val="091A2D">
                  <a:alpha val="28000"/>
                </a:srgbClr>
              </a:gs>
              <a:gs pos="65000">
                <a:srgbClr val="091A2D">
                  <a:alpha val="15000"/>
                </a:srgbClr>
              </a:gs>
              <a:gs pos="100000">
                <a:srgbClr val="091A2D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panel-45">
            <a:extLst>
              <a:ext uri="{FF2B5EF4-FFF2-40B4-BE49-F238E27FC236}">
                <a16:creationId xmlns:a16="http://schemas.microsoft.com/office/drawing/2014/main" id="{C3F741A4-22B6-4E50-BD37-AE1C4C30A262}"/>
              </a:ext>
            </a:extLst>
          </p:cNvPr>
          <p:cNvSpPr>
            <a:spLocks noGrp="1"/>
          </p:cNvSpPr>
          <p:nvPr/>
        </p:nvSpPr>
        <p:spPr>
          <a:xfrm>
            <a:off x="0" y="5857875"/>
            <a:ext cx="12192000" cy="1000125"/>
          </a:xfrm>
          <a:prstGeom prst="rect">
            <a:avLst/>
          </a:prstGeom>
          <a:gradFill>
            <a:gsLst>
              <a:gs pos="0">
                <a:srgbClr val="091A2D">
                  <a:alpha val="0"/>
                </a:srgbClr>
              </a:gs>
              <a:gs pos="100000">
                <a:srgbClr val="091A2D">
                  <a:alpha val="25000"/>
                </a:srgbClr>
              </a:gs>
            </a:gsLst>
            <a:lin ang="540000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anel-46">
            <a:extLst>
              <a:ext uri="{FF2B5EF4-FFF2-40B4-BE49-F238E27FC236}">
                <a16:creationId xmlns:a16="http://schemas.microsoft.com/office/drawing/2014/main" id="{731EFAA5-3E19-4A83-A609-715F03C74059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7625" cy="238125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ource-P4-0">
            <a:extLst>
              <a:ext uri="{FF2B5EF4-FFF2-40B4-BE49-F238E27FC236}">
                <a16:creationId xmlns:a16="http://schemas.microsoft.com/office/drawing/2014/main" id="{81D166F3-AA53-49FA-A4AD-AA0E7B875A93}"/>
              </a:ext>
            </a:extLst>
          </p:cNvPr>
          <p:cNvSpPr>
            <a:spLocks noGrp="1"/>
          </p:cNvSpPr>
          <p:nvPr/>
        </p:nvSpPr>
        <p:spPr>
          <a:xfrm>
            <a:off x="647700" y="295275"/>
            <a:ext cx="105251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04 · 資料蒐集流程</a:t>
            </a:r>
          </a:p>
        </p:txBody>
      </p:sp>
      <p:sp>
        <p:nvSpPr>
          <p:cNvPr id="6" name="source-P4-1">
            <a:extLst>
              <a:ext uri="{FF2B5EF4-FFF2-40B4-BE49-F238E27FC236}">
                <a16:creationId xmlns:a16="http://schemas.microsoft.com/office/drawing/2014/main" id="{904DB040-619E-45C4-803A-39490C5FB3B5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953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7" name="source-P4-2">
            <a:extLst>
              <a:ext uri="{FF2B5EF4-FFF2-40B4-BE49-F238E27FC236}">
                <a16:creationId xmlns:a16="http://schemas.microsoft.com/office/drawing/2014/main" id="{A74D8253-848A-48A1-89B5-45B15DDDE55F}"/>
              </a:ext>
            </a:extLst>
          </p:cNvPr>
          <p:cNvSpPr>
            <a:spLocks noGrp="1"/>
          </p:cNvSpPr>
          <p:nvPr/>
        </p:nvSpPr>
        <p:spPr>
          <a:xfrm>
            <a:off x="457200" y="933450"/>
            <a:ext cx="8810625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YouTube Data API：資料怎麼取得？</a:t>
            </a:r>
          </a:p>
        </p:txBody>
      </p:sp>
      <p:sp>
        <p:nvSpPr>
          <p:cNvPr id="8" name="source-P4-3">
            <a:extLst>
              <a:ext uri="{FF2B5EF4-FFF2-40B4-BE49-F238E27FC236}">
                <a16:creationId xmlns:a16="http://schemas.microsoft.com/office/drawing/2014/main" id="{1941BDAC-1B14-4152-AF74-0E9024E0F6BA}"/>
              </a:ext>
            </a:extLst>
          </p:cNvPr>
          <p:cNvSpPr>
            <a:spLocks noGrp="1"/>
          </p:cNvSpPr>
          <p:nvPr/>
        </p:nvSpPr>
        <p:spPr>
          <a:xfrm>
            <a:off x="495300" y="1838325"/>
            <a:ext cx="2381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小Lin說頻道</a:t>
            </a:r>
          </a:p>
        </p:txBody>
      </p:sp>
      <p:sp>
        <p:nvSpPr>
          <p:cNvPr id="9" name="source-P4-4">
            <a:extLst>
              <a:ext uri="{FF2B5EF4-FFF2-40B4-BE49-F238E27FC236}">
                <a16:creationId xmlns:a16="http://schemas.microsoft.com/office/drawing/2014/main" id="{A486B562-EC64-4B61-9D13-58EF04C6A10C}"/>
              </a:ext>
            </a:extLst>
          </p:cNvPr>
          <p:cNvSpPr>
            <a:spLocks noGrp="1"/>
          </p:cNvSpPr>
          <p:nvPr/>
        </p:nvSpPr>
        <p:spPr>
          <a:xfrm>
            <a:off x="2876550" y="2009775"/>
            <a:ext cx="3429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↓</a:t>
            </a:r>
          </a:p>
        </p:txBody>
      </p:sp>
      <p:sp>
        <p:nvSpPr>
          <p:cNvPr id="10" name="source-P4-5">
            <a:extLst>
              <a:ext uri="{FF2B5EF4-FFF2-40B4-BE49-F238E27FC236}">
                <a16:creationId xmlns:a16="http://schemas.microsoft.com/office/drawing/2014/main" id="{6B72B47B-B4C7-481C-8DF0-8AAE1FF6414D}"/>
              </a:ext>
            </a:extLst>
          </p:cNvPr>
          <p:cNvSpPr>
            <a:spLocks noGrp="1"/>
          </p:cNvSpPr>
          <p:nvPr/>
        </p:nvSpPr>
        <p:spPr>
          <a:xfrm>
            <a:off x="495300" y="2457450"/>
            <a:ext cx="2381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取得頻道編號</a:t>
            </a:r>
          </a:p>
          <a:p>
            <a:pPr algn="l">
              <a:def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Channel ID</a:t>
            </a:r>
          </a:p>
        </p:txBody>
      </p:sp>
      <p:sp>
        <p:nvSpPr>
          <p:cNvPr id="11" name="source-P4-6">
            <a:extLst>
              <a:ext uri="{FF2B5EF4-FFF2-40B4-BE49-F238E27FC236}">
                <a16:creationId xmlns:a16="http://schemas.microsoft.com/office/drawing/2014/main" id="{EE2247E3-E7F5-4E3C-BCA4-67F365249559}"/>
              </a:ext>
            </a:extLst>
          </p:cNvPr>
          <p:cNvSpPr>
            <a:spLocks noGrp="1"/>
          </p:cNvSpPr>
          <p:nvPr/>
        </p:nvSpPr>
        <p:spPr>
          <a:xfrm>
            <a:off x="2876550" y="2628900"/>
            <a:ext cx="3429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↓</a:t>
            </a:r>
          </a:p>
        </p:txBody>
      </p:sp>
      <p:sp>
        <p:nvSpPr>
          <p:cNvPr id="12" name="source-P4-7">
            <a:extLst>
              <a:ext uri="{FF2B5EF4-FFF2-40B4-BE49-F238E27FC236}">
                <a16:creationId xmlns:a16="http://schemas.microsoft.com/office/drawing/2014/main" id="{A4DF39B0-64AB-4AB6-9F13-6CB5C1FA0F46}"/>
              </a:ext>
            </a:extLst>
          </p:cNvPr>
          <p:cNvSpPr>
            <a:spLocks noGrp="1"/>
          </p:cNvSpPr>
          <p:nvPr/>
        </p:nvSpPr>
        <p:spPr>
          <a:xfrm>
            <a:off x="495300" y="3076575"/>
            <a:ext cx="2381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取得上傳影片清單</a:t>
            </a:r>
          </a:p>
          <a:p>
            <a:pPr algn="l">
              <a:def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Uploads Playlist</a:t>
            </a:r>
          </a:p>
        </p:txBody>
      </p:sp>
      <p:sp>
        <p:nvSpPr>
          <p:cNvPr id="13" name="source-P4-8">
            <a:extLst>
              <a:ext uri="{FF2B5EF4-FFF2-40B4-BE49-F238E27FC236}">
                <a16:creationId xmlns:a16="http://schemas.microsoft.com/office/drawing/2014/main" id="{19E4EAF6-08A1-4EB5-B129-B12257A56F8C}"/>
              </a:ext>
            </a:extLst>
          </p:cNvPr>
          <p:cNvSpPr>
            <a:spLocks noGrp="1"/>
          </p:cNvSpPr>
          <p:nvPr/>
        </p:nvSpPr>
        <p:spPr>
          <a:xfrm>
            <a:off x="2876550" y="3248025"/>
            <a:ext cx="3429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↓</a:t>
            </a:r>
          </a:p>
        </p:txBody>
      </p:sp>
      <p:sp>
        <p:nvSpPr>
          <p:cNvPr id="14" name="source-P4-9">
            <a:extLst>
              <a:ext uri="{FF2B5EF4-FFF2-40B4-BE49-F238E27FC236}">
                <a16:creationId xmlns:a16="http://schemas.microsoft.com/office/drawing/2014/main" id="{FB49FF2C-1518-4FF2-AEC8-E0B81FFFC749}"/>
              </a:ext>
            </a:extLst>
          </p:cNvPr>
          <p:cNvSpPr>
            <a:spLocks noGrp="1"/>
          </p:cNvSpPr>
          <p:nvPr/>
        </p:nvSpPr>
        <p:spPr>
          <a:xfrm>
            <a:off x="495300" y="3695700"/>
            <a:ext cx="2381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逐頁取得影片編號</a:t>
            </a:r>
          </a:p>
          <a:p>
            <a:pPr algn="l">
              <a:def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video_id</a:t>
            </a:r>
          </a:p>
        </p:txBody>
      </p:sp>
      <p:sp>
        <p:nvSpPr>
          <p:cNvPr id="15" name="source-P4-10">
            <a:extLst>
              <a:ext uri="{FF2B5EF4-FFF2-40B4-BE49-F238E27FC236}">
                <a16:creationId xmlns:a16="http://schemas.microsoft.com/office/drawing/2014/main" id="{48E94BD5-8646-4754-B744-60720DEB97A9}"/>
              </a:ext>
            </a:extLst>
          </p:cNvPr>
          <p:cNvSpPr>
            <a:spLocks noGrp="1"/>
          </p:cNvSpPr>
          <p:nvPr/>
        </p:nvSpPr>
        <p:spPr>
          <a:xfrm>
            <a:off x="2876550" y="3867150"/>
            <a:ext cx="3429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↓</a:t>
            </a:r>
          </a:p>
        </p:txBody>
      </p:sp>
      <p:sp>
        <p:nvSpPr>
          <p:cNvPr id="16" name="source-P4-11">
            <a:extLst>
              <a:ext uri="{FF2B5EF4-FFF2-40B4-BE49-F238E27FC236}">
                <a16:creationId xmlns:a16="http://schemas.microsoft.com/office/drawing/2014/main" id="{243C46DC-511F-4934-9920-39270BA2E260}"/>
              </a:ext>
            </a:extLst>
          </p:cNvPr>
          <p:cNvSpPr>
            <a:spLocks noGrp="1"/>
          </p:cNvSpPr>
          <p:nvPr/>
        </p:nvSpPr>
        <p:spPr>
          <a:xfrm>
            <a:off x="495300" y="4314825"/>
            <a:ext cx="2381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查詢影片詳細資料</a:t>
            </a:r>
          </a:p>
          <a:p>
            <a:pPr algn="l">
              <a:def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videos.list</a:t>
            </a:r>
          </a:p>
        </p:txBody>
      </p:sp>
      <p:sp>
        <p:nvSpPr>
          <p:cNvPr id="17" name="source-P4-12">
            <a:extLst>
              <a:ext uri="{FF2B5EF4-FFF2-40B4-BE49-F238E27FC236}">
                <a16:creationId xmlns:a16="http://schemas.microsoft.com/office/drawing/2014/main" id="{80C5B32C-8154-43B5-ABB2-57EA2E40DEC1}"/>
              </a:ext>
            </a:extLst>
          </p:cNvPr>
          <p:cNvSpPr>
            <a:spLocks noGrp="1"/>
          </p:cNvSpPr>
          <p:nvPr/>
        </p:nvSpPr>
        <p:spPr>
          <a:xfrm>
            <a:off x="2876550" y="4486275"/>
            <a:ext cx="3429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↓</a:t>
            </a:r>
          </a:p>
        </p:txBody>
      </p:sp>
      <p:sp>
        <p:nvSpPr>
          <p:cNvPr id="18" name="source-P4-13">
            <a:extLst>
              <a:ext uri="{FF2B5EF4-FFF2-40B4-BE49-F238E27FC236}">
                <a16:creationId xmlns:a16="http://schemas.microsoft.com/office/drawing/2014/main" id="{A0E17DDD-25C6-4608-B688-0A85B2AF5FF1}"/>
              </a:ext>
            </a:extLst>
          </p:cNvPr>
          <p:cNvSpPr>
            <a:spLocks noGrp="1"/>
          </p:cNvSpPr>
          <p:nvPr/>
        </p:nvSpPr>
        <p:spPr>
          <a:xfrm>
            <a:off x="495300" y="4933950"/>
            <a:ext cx="2381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取得影片資訊</a:t>
            </a:r>
          </a:p>
        </p:txBody>
      </p:sp>
      <p:sp>
        <p:nvSpPr>
          <p:cNvPr id="19" name="source-P4-14">
            <a:extLst>
              <a:ext uri="{FF2B5EF4-FFF2-40B4-BE49-F238E27FC236}">
                <a16:creationId xmlns:a16="http://schemas.microsoft.com/office/drawing/2014/main" id="{8D05248D-A560-48CD-83A9-F4EB5741FCB8}"/>
              </a:ext>
            </a:extLst>
          </p:cNvPr>
          <p:cNvSpPr>
            <a:spLocks noGrp="1"/>
          </p:cNvSpPr>
          <p:nvPr/>
        </p:nvSpPr>
        <p:spPr>
          <a:xfrm>
            <a:off x="2876550" y="5105400"/>
            <a:ext cx="3429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↓</a:t>
            </a:r>
          </a:p>
        </p:txBody>
      </p:sp>
      <p:sp>
        <p:nvSpPr>
          <p:cNvPr id="20" name="source-P4-15">
            <a:extLst>
              <a:ext uri="{FF2B5EF4-FFF2-40B4-BE49-F238E27FC236}">
                <a16:creationId xmlns:a16="http://schemas.microsoft.com/office/drawing/2014/main" id="{2DB9E32B-82E1-4429-BAD5-3993C03AE0F6}"/>
              </a:ext>
            </a:extLst>
          </p:cNvPr>
          <p:cNvSpPr>
            <a:spLocks noGrp="1"/>
          </p:cNvSpPr>
          <p:nvPr/>
        </p:nvSpPr>
        <p:spPr>
          <a:xfrm>
            <a:off x="495300" y="5553075"/>
            <a:ext cx="2381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建立原始資料集</a:t>
            </a:r>
          </a:p>
        </p:txBody>
      </p:sp>
      <p:sp>
        <p:nvSpPr>
          <p:cNvPr id="21" name="panel-63">
            <a:extLst>
              <a:ext uri="{FF2B5EF4-FFF2-40B4-BE49-F238E27FC236}">
                <a16:creationId xmlns:a16="http://schemas.microsoft.com/office/drawing/2014/main" id="{1F4C7095-CE3D-4DB1-A6B6-A53C61BB4402}"/>
              </a:ext>
            </a:extLst>
          </p:cNvPr>
          <p:cNvSpPr>
            <a:spLocks noGrp="1"/>
          </p:cNvSpPr>
          <p:nvPr/>
        </p:nvSpPr>
        <p:spPr>
          <a:xfrm>
            <a:off x="3314700" y="1838325"/>
            <a:ext cx="4333875" cy="4476750"/>
          </a:xfrm>
          <a:prstGeom prst="roundRect">
            <a:avLst>
              <a:gd name="adj" fmla="val 2637"/>
            </a:avLst>
          </a:prstGeom>
          <a:solidFill>
            <a:srgbClr val="141B25">
              <a:alpha val="83000"/>
            </a:srgbClr>
          </a:solidFill>
          <a:ln w="9525">
            <a:solidFill>
              <a:srgbClr val="344251">
                <a:alpha val="4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ource-P4-16">
            <a:extLst>
              <a:ext uri="{FF2B5EF4-FFF2-40B4-BE49-F238E27FC236}">
                <a16:creationId xmlns:a16="http://schemas.microsoft.com/office/drawing/2014/main" id="{DDC135BE-9235-494D-8A82-ED929BBA1792}"/>
              </a:ext>
            </a:extLst>
          </p:cNvPr>
          <p:cNvSpPr>
            <a:spLocks noGrp="1"/>
          </p:cNvSpPr>
          <p:nvPr/>
        </p:nvSpPr>
        <p:spPr>
          <a:xfrm>
            <a:off x="3476625" y="1971675"/>
            <a:ext cx="40195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API v3 原始主要欄位</a:t>
            </a:r>
          </a:p>
        </p:txBody>
      </p:sp>
      <p:sp>
        <p:nvSpPr>
          <p:cNvPr id="23" name="source-P4-17">
            <a:extLst>
              <a:ext uri="{FF2B5EF4-FFF2-40B4-BE49-F238E27FC236}">
                <a16:creationId xmlns:a16="http://schemas.microsoft.com/office/drawing/2014/main" id="{65DED390-61CE-452E-AD51-679E726DB4BD}"/>
              </a:ext>
            </a:extLst>
          </p:cNvPr>
          <p:cNvSpPr>
            <a:spLocks noGrp="1"/>
          </p:cNvSpPr>
          <p:nvPr/>
        </p:nvSpPr>
        <p:spPr>
          <a:xfrm>
            <a:off x="3486150" y="2457450"/>
            <a:ext cx="22383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video_id</a:t>
            </a:r>
          </a:p>
        </p:txBody>
      </p:sp>
      <p:sp>
        <p:nvSpPr>
          <p:cNvPr id="24" name="source-P4-18">
            <a:extLst>
              <a:ext uri="{FF2B5EF4-FFF2-40B4-BE49-F238E27FC236}">
                <a16:creationId xmlns:a16="http://schemas.microsoft.com/office/drawing/2014/main" id="{F84558BB-4AFE-4774-979E-810477FB535A}"/>
              </a:ext>
            </a:extLst>
          </p:cNvPr>
          <p:cNvSpPr>
            <a:spLocks noGrp="1"/>
          </p:cNvSpPr>
          <p:nvPr/>
        </p:nvSpPr>
        <p:spPr>
          <a:xfrm>
            <a:off x="5743575" y="2457450"/>
            <a:ext cx="17049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影片編號</a:t>
            </a:r>
          </a:p>
        </p:txBody>
      </p:sp>
      <p:sp>
        <p:nvSpPr>
          <p:cNvPr id="25" name="source-P4-19">
            <a:extLst>
              <a:ext uri="{FF2B5EF4-FFF2-40B4-BE49-F238E27FC236}">
                <a16:creationId xmlns:a16="http://schemas.microsoft.com/office/drawing/2014/main" id="{E579BD3E-0260-44D0-8719-0EA90D8A824B}"/>
              </a:ext>
            </a:extLst>
          </p:cNvPr>
          <p:cNvSpPr>
            <a:spLocks noGrp="1"/>
          </p:cNvSpPr>
          <p:nvPr/>
        </p:nvSpPr>
        <p:spPr>
          <a:xfrm>
            <a:off x="3486150" y="2800350"/>
            <a:ext cx="22383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title</a:t>
            </a:r>
          </a:p>
        </p:txBody>
      </p:sp>
      <p:sp>
        <p:nvSpPr>
          <p:cNvPr id="26" name="source-P4-20">
            <a:extLst>
              <a:ext uri="{FF2B5EF4-FFF2-40B4-BE49-F238E27FC236}">
                <a16:creationId xmlns:a16="http://schemas.microsoft.com/office/drawing/2014/main" id="{B17A668B-2176-44BE-980A-BCE543263AD1}"/>
              </a:ext>
            </a:extLst>
          </p:cNvPr>
          <p:cNvSpPr>
            <a:spLocks noGrp="1"/>
          </p:cNvSpPr>
          <p:nvPr/>
        </p:nvSpPr>
        <p:spPr>
          <a:xfrm>
            <a:off x="5743575" y="2800350"/>
            <a:ext cx="17049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標題</a:t>
            </a:r>
          </a:p>
        </p:txBody>
      </p:sp>
      <p:sp>
        <p:nvSpPr>
          <p:cNvPr id="27" name="source-P4-21">
            <a:extLst>
              <a:ext uri="{FF2B5EF4-FFF2-40B4-BE49-F238E27FC236}">
                <a16:creationId xmlns:a16="http://schemas.microsoft.com/office/drawing/2014/main" id="{DCA9AAC9-81EB-4A96-93CE-5E8925F451E8}"/>
              </a:ext>
            </a:extLst>
          </p:cNvPr>
          <p:cNvSpPr>
            <a:spLocks noGrp="1"/>
          </p:cNvSpPr>
          <p:nvPr/>
        </p:nvSpPr>
        <p:spPr>
          <a:xfrm>
            <a:off x="3486150" y="3143250"/>
            <a:ext cx="22383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description</a:t>
            </a:r>
          </a:p>
        </p:txBody>
      </p:sp>
      <p:sp>
        <p:nvSpPr>
          <p:cNvPr id="28" name="source-P4-22">
            <a:extLst>
              <a:ext uri="{FF2B5EF4-FFF2-40B4-BE49-F238E27FC236}">
                <a16:creationId xmlns:a16="http://schemas.microsoft.com/office/drawing/2014/main" id="{03870D8D-F8E2-4B08-82CB-17D3E46C608C}"/>
              </a:ext>
            </a:extLst>
          </p:cNvPr>
          <p:cNvSpPr>
            <a:spLocks noGrp="1"/>
          </p:cNvSpPr>
          <p:nvPr/>
        </p:nvSpPr>
        <p:spPr>
          <a:xfrm>
            <a:off x="5743575" y="3143250"/>
            <a:ext cx="17049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說明</a:t>
            </a:r>
          </a:p>
        </p:txBody>
      </p:sp>
      <p:sp>
        <p:nvSpPr>
          <p:cNvPr id="29" name="source-P4-23">
            <a:extLst>
              <a:ext uri="{FF2B5EF4-FFF2-40B4-BE49-F238E27FC236}">
                <a16:creationId xmlns:a16="http://schemas.microsoft.com/office/drawing/2014/main" id="{5B37F20E-53F4-4E29-BCDF-F1CC29C4F47F}"/>
              </a:ext>
            </a:extLst>
          </p:cNvPr>
          <p:cNvSpPr>
            <a:spLocks noGrp="1"/>
          </p:cNvSpPr>
          <p:nvPr/>
        </p:nvSpPr>
        <p:spPr>
          <a:xfrm>
            <a:off x="3486150" y="3486150"/>
            <a:ext cx="22383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publishedAt</a:t>
            </a:r>
          </a:p>
        </p:txBody>
      </p:sp>
      <p:sp>
        <p:nvSpPr>
          <p:cNvPr id="30" name="source-P4-24">
            <a:extLst>
              <a:ext uri="{FF2B5EF4-FFF2-40B4-BE49-F238E27FC236}">
                <a16:creationId xmlns:a16="http://schemas.microsoft.com/office/drawing/2014/main" id="{C162D0EA-8472-42C0-A34A-B15E61CA4E30}"/>
              </a:ext>
            </a:extLst>
          </p:cNvPr>
          <p:cNvSpPr>
            <a:spLocks noGrp="1"/>
          </p:cNvSpPr>
          <p:nvPr/>
        </p:nvSpPr>
        <p:spPr>
          <a:xfrm>
            <a:off x="5743575" y="3486150"/>
            <a:ext cx="17049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發布時間</a:t>
            </a:r>
          </a:p>
        </p:txBody>
      </p:sp>
      <p:sp>
        <p:nvSpPr>
          <p:cNvPr id="31" name="source-P4-25">
            <a:extLst>
              <a:ext uri="{FF2B5EF4-FFF2-40B4-BE49-F238E27FC236}">
                <a16:creationId xmlns:a16="http://schemas.microsoft.com/office/drawing/2014/main" id="{39254E2F-1E42-4C69-9C93-07DE58D0109F}"/>
              </a:ext>
            </a:extLst>
          </p:cNvPr>
          <p:cNvSpPr>
            <a:spLocks noGrp="1"/>
          </p:cNvSpPr>
          <p:nvPr/>
        </p:nvSpPr>
        <p:spPr>
          <a:xfrm>
            <a:off x="3486150" y="3829050"/>
            <a:ext cx="22383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duration</a:t>
            </a:r>
          </a:p>
        </p:txBody>
      </p:sp>
      <p:sp>
        <p:nvSpPr>
          <p:cNvPr id="32" name="source-P4-26">
            <a:extLst>
              <a:ext uri="{FF2B5EF4-FFF2-40B4-BE49-F238E27FC236}">
                <a16:creationId xmlns:a16="http://schemas.microsoft.com/office/drawing/2014/main" id="{40F962F3-C86C-4CBF-BA92-715501513071}"/>
              </a:ext>
            </a:extLst>
          </p:cNvPr>
          <p:cNvSpPr>
            <a:spLocks noGrp="1"/>
          </p:cNvSpPr>
          <p:nvPr/>
        </p:nvSpPr>
        <p:spPr>
          <a:xfrm>
            <a:off x="5743575" y="3829050"/>
            <a:ext cx="17049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影片長度</a:t>
            </a:r>
          </a:p>
        </p:txBody>
      </p:sp>
      <p:sp>
        <p:nvSpPr>
          <p:cNvPr id="33" name="source-P4-27">
            <a:extLst>
              <a:ext uri="{FF2B5EF4-FFF2-40B4-BE49-F238E27FC236}">
                <a16:creationId xmlns:a16="http://schemas.microsoft.com/office/drawing/2014/main" id="{9C14E978-A53B-4C32-A2D4-A24EAF258415}"/>
              </a:ext>
            </a:extLst>
          </p:cNvPr>
          <p:cNvSpPr>
            <a:spLocks noGrp="1"/>
          </p:cNvSpPr>
          <p:nvPr/>
        </p:nvSpPr>
        <p:spPr>
          <a:xfrm>
            <a:off x="3486150" y="4171950"/>
            <a:ext cx="22383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viewCount</a:t>
            </a:r>
          </a:p>
        </p:txBody>
      </p:sp>
      <p:sp>
        <p:nvSpPr>
          <p:cNvPr id="34" name="source-P4-28">
            <a:extLst>
              <a:ext uri="{FF2B5EF4-FFF2-40B4-BE49-F238E27FC236}">
                <a16:creationId xmlns:a16="http://schemas.microsoft.com/office/drawing/2014/main" id="{554766FD-4F97-4F04-91E9-A1F84478260F}"/>
              </a:ext>
            </a:extLst>
          </p:cNvPr>
          <p:cNvSpPr>
            <a:spLocks noGrp="1"/>
          </p:cNvSpPr>
          <p:nvPr/>
        </p:nvSpPr>
        <p:spPr>
          <a:xfrm>
            <a:off x="5743575" y="4171950"/>
            <a:ext cx="17049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觀看數</a:t>
            </a:r>
          </a:p>
        </p:txBody>
      </p:sp>
      <p:sp>
        <p:nvSpPr>
          <p:cNvPr id="35" name="source-P4-29">
            <a:extLst>
              <a:ext uri="{FF2B5EF4-FFF2-40B4-BE49-F238E27FC236}">
                <a16:creationId xmlns:a16="http://schemas.microsoft.com/office/drawing/2014/main" id="{7E59AFDA-6E8C-40A9-8672-9E0AD4189942}"/>
              </a:ext>
            </a:extLst>
          </p:cNvPr>
          <p:cNvSpPr>
            <a:spLocks noGrp="1"/>
          </p:cNvSpPr>
          <p:nvPr/>
        </p:nvSpPr>
        <p:spPr>
          <a:xfrm>
            <a:off x="3486150" y="4514850"/>
            <a:ext cx="22383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likeCount</a:t>
            </a:r>
          </a:p>
        </p:txBody>
      </p:sp>
      <p:sp>
        <p:nvSpPr>
          <p:cNvPr id="36" name="source-P4-30">
            <a:extLst>
              <a:ext uri="{FF2B5EF4-FFF2-40B4-BE49-F238E27FC236}">
                <a16:creationId xmlns:a16="http://schemas.microsoft.com/office/drawing/2014/main" id="{5D57BB17-4615-4646-995E-D428F918EF52}"/>
              </a:ext>
            </a:extLst>
          </p:cNvPr>
          <p:cNvSpPr>
            <a:spLocks noGrp="1"/>
          </p:cNvSpPr>
          <p:nvPr/>
        </p:nvSpPr>
        <p:spPr>
          <a:xfrm>
            <a:off x="5743575" y="4514850"/>
            <a:ext cx="17049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按讚數</a:t>
            </a:r>
          </a:p>
        </p:txBody>
      </p:sp>
      <p:sp>
        <p:nvSpPr>
          <p:cNvPr id="37" name="source-P4-31">
            <a:extLst>
              <a:ext uri="{FF2B5EF4-FFF2-40B4-BE49-F238E27FC236}">
                <a16:creationId xmlns:a16="http://schemas.microsoft.com/office/drawing/2014/main" id="{6099DABD-EEC1-48A2-B316-0197EB467D17}"/>
              </a:ext>
            </a:extLst>
          </p:cNvPr>
          <p:cNvSpPr>
            <a:spLocks noGrp="1"/>
          </p:cNvSpPr>
          <p:nvPr/>
        </p:nvSpPr>
        <p:spPr>
          <a:xfrm>
            <a:off x="3486150" y="4857750"/>
            <a:ext cx="22383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commentCount</a:t>
            </a:r>
          </a:p>
        </p:txBody>
      </p:sp>
      <p:sp>
        <p:nvSpPr>
          <p:cNvPr id="38" name="source-P4-32">
            <a:extLst>
              <a:ext uri="{FF2B5EF4-FFF2-40B4-BE49-F238E27FC236}">
                <a16:creationId xmlns:a16="http://schemas.microsoft.com/office/drawing/2014/main" id="{2E87F8EE-25F6-437B-969C-05E6A6172FE3}"/>
              </a:ext>
            </a:extLst>
          </p:cNvPr>
          <p:cNvSpPr>
            <a:spLocks noGrp="1"/>
          </p:cNvSpPr>
          <p:nvPr/>
        </p:nvSpPr>
        <p:spPr>
          <a:xfrm>
            <a:off x="5743575" y="4857750"/>
            <a:ext cx="17049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留言數</a:t>
            </a:r>
          </a:p>
        </p:txBody>
      </p:sp>
      <p:sp>
        <p:nvSpPr>
          <p:cNvPr id="39" name="source-P4-33">
            <a:extLst>
              <a:ext uri="{FF2B5EF4-FFF2-40B4-BE49-F238E27FC236}">
                <a16:creationId xmlns:a16="http://schemas.microsoft.com/office/drawing/2014/main" id="{AFF1B40B-9418-462F-855F-CE69936C1C4E}"/>
              </a:ext>
            </a:extLst>
          </p:cNvPr>
          <p:cNvSpPr>
            <a:spLocks noGrp="1"/>
          </p:cNvSpPr>
          <p:nvPr/>
        </p:nvSpPr>
        <p:spPr>
          <a:xfrm>
            <a:off x="3476625" y="5314950"/>
            <a:ext cx="38671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其他欄位：</a:t>
            </a:r>
          </a:p>
        </p:txBody>
      </p:sp>
      <p:sp>
        <p:nvSpPr>
          <p:cNvPr id="40" name="source-P4-34">
            <a:extLst>
              <a:ext uri="{FF2B5EF4-FFF2-40B4-BE49-F238E27FC236}">
                <a16:creationId xmlns:a16="http://schemas.microsoft.com/office/drawing/2014/main" id="{BA17C342-DE76-4A22-B81D-56098AB05FFC}"/>
              </a:ext>
            </a:extLst>
          </p:cNvPr>
          <p:cNvSpPr>
            <a:spLocks noGrp="1"/>
          </p:cNvSpPr>
          <p:nvPr/>
        </p:nvSpPr>
        <p:spPr>
          <a:xfrm>
            <a:off x="3476625" y="5610225"/>
            <a:ext cx="40767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liveBroadcastContent（直播狀態）</a:t>
            </a:r>
          </a:p>
          <a:p>
            <a:pPr algn="l">
              <a:defRPr sz="112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categoryId（分類）、privacyStatus（公開狀態）</a:t>
            </a:r>
          </a:p>
          <a:p>
            <a:pPr algn="l">
              <a:defRPr sz="112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liveStreamingDetails（直播詳細資訊）</a:t>
            </a:r>
          </a:p>
        </p:txBody>
      </p:sp>
      <p:sp>
        <p:nvSpPr>
          <p:cNvPr id="41" name="source-P4-35">
            <a:extLst>
              <a:ext uri="{FF2B5EF4-FFF2-40B4-BE49-F238E27FC236}">
                <a16:creationId xmlns:a16="http://schemas.microsoft.com/office/drawing/2014/main" id="{D630534C-3D8D-479E-9A9F-B16C199F982A}"/>
              </a:ext>
            </a:extLst>
          </p:cNvPr>
          <p:cNvSpPr>
            <a:spLocks noGrp="1"/>
          </p:cNvSpPr>
          <p:nvPr/>
        </p:nvSpPr>
        <p:spPr>
          <a:xfrm>
            <a:off x="476250" y="642937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保留原始 API 快照與影片清單；再依研究範圍篩選一般長影音，完整流程可追溯。</a:t>
            </a:r>
          </a:p>
        </p:txBody>
      </p:sp>
    </p:spTree>
    <p:extLst>
      <p:ext uri="{BB962C8B-B14F-4D97-AF65-F5344CB8AC3E}">
        <p14:creationId xmlns:p14="http://schemas.microsoft.com/office/powerpoint/2010/main" val="688140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anel-84">
            <a:extLst>
              <a:ext uri="{FF2B5EF4-FFF2-40B4-BE49-F238E27FC236}">
                <a16:creationId xmlns:a16="http://schemas.microsoft.com/office/drawing/2014/main" id="{BC9DF5E9-2B2E-4068-B2ED-36CFFA04A4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85875"/>
          </a:xfrm>
          <a:prstGeom prst="rect">
            <a:avLst/>
          </a:prstGeom>
          <a:gradFill>
            <a:gsLst>
              <a:gs pos="0">
                <a:srgbClr val="080B11">
                  <a:alpha val="82000"/>
                </a:srgbClr>
              </a:gs>
              <a:gs pos="100000">
                <a:srgbClr val="080B11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panel-85">
            <a:extLst>
              <a:ext uri="{FF2B5EF4-FFF2-40B4-BE49-F238E27FC236}">
                <a16:creationId xmlns:a16="http://schemas.microsoft.com/office/drawing/2014/main" id="{9B319F80-E43B-455C-BA3F-59A0C5E0157A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7625" cy="238125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-86">
            <a:extLst>
              <a:ext uri="{FF2B5EF4-FFF2-40B4-BE49-F238E27FC236}">
                <a16:creationId xmlns:a16="http://schemas.microsoft.com/office/drawing/2014/main" id="{89185BED-A2ED-4E13-931F-2B51D216BD59}"/>
              </a:ext>
            </a:extLst>
          </p:cNvPr>
          <p:cNvSpPr>
            <a:spLocks noGrp="1"/>
          </p:cNvSpPr>
          <p:nvPr/>
        </p:nvSpPr>
        <p:spPr>
          <a:xfrm>
            <a:off x="647700" y="295275"/>
            <a:ext cx="105251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350" b="1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05 · 資料來源與研究樣本</a:t>
            </a:r>
          </a:p>
        </p:txBody>
      </p:sp>
      <p:sp>
        <p:nvSpPr>
          <p:cNvPr id="5" name="text-87">
            <a:extLst>
              <a:ext uri="{FF2B5EF4-FFF2-40B4-BE49-F238E27FC236}">
                <a16:creationId xmlns:a16="http://schemas.microsoft.com/office/drawing/2014/main" id="{9217F8F9-EB47-4844-BA42-A0461C439A6A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953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buNone/>
              <a:defRPr sz="127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6" name="panel-88">
            <a:extLst>
              <a:ext uri="{FF2B5EF4-FFF2-40B4-BE49-F238E27FC236}">
                <a16:creationId xmlns:a16="http://schemas.microsoft.com/office/drawing/2014/main" id="{98779262-3576-4D0F-B9F1-F697B71B76DC}"/>
              </a:ext>
            </a:extLst>
          </p:cNvPr>
          <p:cNvSpPr>
            <a:spLocks noGrp="1"/>
          </p:cNvSpPr>
          <p:nvPr/>
        </p:nvSpPr>
        <p:spPr>
          <a:xfrm>
            <a:off x="457200" y="1457325"/>
            <a:ext cx="7296150" cy="4972050"/>
          </a:xfrm>
          <a:prstGeom prst="roundRect">
            <a:avLst>
              <a:gd name="adj" fmla="val 2299"/>
            </a:avLst>
          </a:prstGeom>
          <a:solidFill>
            <a:srgbClr val="141B25">
              <a:alpha val="92000"/>
            </a:srgbClr>
          </a:solidFill>
          <a:ln w="9525">
            <a:solidFill>
              <a:srgbClr val="344251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-89">
            <a:extLst>
              <a:ext uri="{FF2B5EF4-FFF2-40B4-BE49-F238E27FC236}">
                <a16:creationId xmlns:a16="http://schemas.microsoft.com/office/drawing/2014/main" id="{E60008D8-70B7-4DC2-BAB0-588BE20689FC}"/>
              </a:ext>
            </a:extLst>
          </p:cNvPr>
          <p:cNvSpPr>
            <a:spLocks noGrp="1"/>
          </p:cNvSpPr>
          <p:nvPr/>
        </p:nvSpPr>
        <p:spPr>
          <a:xfrm>
            <a:off x="685800" y="1628775"/>
            <a:ext cx="676275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292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資料範圍與研究樣本</a:t>
            </a:r>
          </a:p>
        </p:txBody>
      </p:sp>
      <p:sp>
        <p:nvSpPr>
          <p:cNvPr id="8" name="text-90">
            <a:extLst>
              <a:ext uri="{FF2B5EF4-FFF2-40B4-BE49-F238E27FC236}">
                <a16:creationId xmlns:a16="http://schemas.microsoft.com/office/drawing/2014/main" id="{4B7F9DB4-B0B8-4D25-AA93-F8B02953DCA4}"/>
              </a:ext>
            </a:extLst>
          </p:cNvPr>
          <p:cNvSpPr>
            <a:spLocks noGrp="1"/>
          </p:cNvSpPr>
          <p:nvPr/>
        </p:nvSpPr>
        <p:spPr>
          <a:xfrm>
            <a:off x="733425" y="2257425"/>
            <a:ext cx="257175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60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0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162</a:t>
            </a:r>
          </a:p>
        </p:txBody>
      </p:sp>
      <p:sp>
        <p:nvSpPr>
          <p:cNvPr id="9" name="text-91">
            <a:extLst>
              <a:ext uri="{FF2B5EF4-FFF2-40B4-BE49-F238E27FC236}">
                <a16:creationId xmlns:a16="http://schemas.microsoft.com/office/drawing/2014/main" id="{59187AC6-D8D8-4293-AE21-F70FFEB5B51E}"/>
              </a:ext>
            </a:extLst>
          </p:cNvPr>
          <p:cNvSpPr>
            <a:spLocks noGrp="1"/>
          </p:cNvSpPr>
          <p:nvPr/>
        </p:nvSpPr>
        <p:spPr>
          <a:xfrm>
            <a:off x="3429000" y="2486025"/>
            <a:ext cx="895350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4125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125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0" name="text-92">
            <a:extLst>
              <a:ext uri="{FF2B5EF4-FFF2-40B4-BE49-F238E27FC236}">
                <a16:creationId xmlns:a16="http://schemas.microsoft.com/office/drawing/2014/main" id="{BF52C5AE-6F8B-4ECE-A95F-DCA794F63F02}"/>
              </a:ext>
            </a:extLst>
          </p:cNvPr>
          <p:cNvSpPr>
            <a:spLocks noGrp="1"/>
          </p:cNvSpPr>
          <p:nvPr/>
        </p:nvSpPr>
        <p:spPr>
          <a:xfrm>
            <a:off x="4552950" y="2257425"/>
            <a:ext cx="259080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60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0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156</a:t>
            </a:r>
          </a:p>
        </p:txBody>
      </p:sp>
      <p:sp>
        <p:nvSpPr>
          <p:cNvPr id="11" name="text-93">
            <a:extLst>
              <a:ext uri="{FF2B5EF4-FFF2-40B4-BE49-F238E27FC236}">
                <a16:creationId xmlns:a16="http://schemas.microsoft.com/office/drawing/2014/main" id="{94759A2F-DD79-47A3-807C-54C848B16CEB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28098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21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公開影片</a:t>
            </a:r>
          </a:p>
        </p:txBody>
      </p:sp>
      <p:sp>
        <p:nvSpPr>
          <p:cNvPr id="12" name="text-94">
            <a:extLst>
              <a:ext uri="{FF2B5EF4-FFF2-40B4-BE49-F238E27FC236}">
                <a16:creationId xmlns:a16="http://schemas.microsoft.com/office/drawing/2014/main" id="{D91A596F-42B0-42AC-9875-AA2C6EA46DDA}"/>
              </a:ext>
            </a:extLst>
          </p:cNvPr>
          <p:cNvSpPr>
            <a:spLocks noGrp="1"/>
          </p:cNvSpPr>
          <p:nvPr/>
        </p:nvSpPr>
        <p:spPr>
          <a:xfrm>
            <a:off x="4581525" y="319087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21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正式一般長影音</a:t>
            </a:r>
          </a:p>
        </p:txBody>
      </p:sp>
      <p:sp>
        <p:nvSpPr>
          <p:cNvPr id="13" name="text-95">
            <a:extLst>
              <a:ext uri="{FF2B5EF4-FFF2-40B4-BE49-F238E27FC236}">
                <a16:creationId xmlns:a16="http://schemas.microsoft.com/office/drawing/2014/main" id="{4E1C8A9A-5437-470B-9C87-E9BAA5866B04}"/>
              </a:ext>
            </a:extLst>
          </p:cNvPr>
          <p:cNvSpPr>
            <a:spLocks noGrp="1"/>
          </p:cNvSpPr>
          <p:nvPr/>
        </p:nvSpPr>
        <p:spPr>
          <a:xfrm>
            <a:off x="733425" y="3686175"/>
            <a:ext cx="6724650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875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排除 5 部未滿 5 分鐘影片</a:t>
            </a:r>
          </a:p>
          <a:p>
            <a:pPr algn="l">
              <a:buNone/>
              <a:defRPr sz="1875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排除 1 部含 liveStreamingDetails 特殊影片</a:t>
            </a:r>
          </a:p>
        </p:txBody>
      </p:sp>
      <p:sp>
        <p:nvSpPr>
          <p:cNvPr id="14" name="panel-96">
            <a:extLst>
              <a:ext uri="{FF2B5EF4-FFF2-40B4-BE49-F238E27FC236}">
                <a16:creationId xmlns:a16="http://schemas.microsoft.com/office/drawing/2014/main" id="{86378BB8-10F2-45E8-A774-07522EFAE470}"/>
              </a:ext>
            </a:extLst>
          </p:cNvPr>
          <p:cNvSpPr>
            <a:spLocks noGrp="1"/>
          </p:cNvSpPr>
          <p:nvPr/>
        </p:nvSpPr>
        <p:spPr>
          <a:xfrm>
            <a:off x="742950" y="4524375"/>
            <a:ext cx="6724650" cy="28575"/>
          </a:xfrm>
          <a:prstGeom prst="rect">
            <a:avLst/>
          </a:prstGeom>
          <a:solidFill>
            <a:srgbClr val="34425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-97">
            <a:extLst>
              <a:ext uri="{FF2B5EF4-FFF2-40B4-BE49-F238E27FC236}">
                <a16:creationId xmlns:a16="http://schemas.microsoft.com/office/drawing/2014/main" id="{2EE842BE-B90A-4A0A-9C14-D6CF707BED9C}"/>
              </a:ext>
            </a:extLst>
          </p:cNvPr>
          <p:cNvSpPr>
            <a:spLocks noGrp="1"/>
          </p:cNvSpPr>
          <p:nvPr/>
        </p:nvSpPr>
        <p:spPr>
          <a:xfrm>
            <a:off x="733425" y="4667250"/>
            <a:ext cx="6762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87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2020–2025   142 部  模型建立與評估</a:t>
            </a:r>
          </a:p>
        </p:txBody>
      </p:sp>
      <p:sp>
        <p:nvSpPr>
          <p:cNvPr id="16" name="text-98">
            <a:extLst>
              <a:ext uri="{FF2B5EF4-FFF2-40B4-BE49-F238E27FC236}">
                <a16:creationId xmlns:a16="http://schemas.microsoft.com/office/drawing/2014/main" id="{5E19B3FB-FDD7-4950-9C95-6119D8B10CEB}"/>
              </a:ext>
            </a:extLst>
          </p:cNvPr>
          <p:cNvSpPr>
            <a:spLocks noGrp="1"/>
          </p:cNvSpPr>
          <p:nvPr/>
        </p:nvSpPr>
        <p:spPr>
          <a:xfrm>
            <a:off x="733425" y="5067300"/>
            <a:ext cx="6762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5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2026   14 部  只排序；不參與訓練／測試、不建立 y</a:t>
            </a:r>
          </a:p>
        </p:txBody>
      </p:sp>
      <p:sp>
        <p:nvSpPr>
          <p:cNvPr id="17" name="text-99">
            <a:extLst>
              <a:ext uri="{FF2B5EF4-FFF2-40B4-BE49-F238E27FC236}">
                <a16:creationId xmlns:a16="http://schemas.microsoft.com/office/drawing/2014/main" id="{851BC982-A452-4123-A19C-AB4D5F8C6E8F}"/>
              </a:ext>
            </a:extLst>
          </p:cNvPr>
          <p:cNvSpPr>
            <a:spLocks noGrp="1"/>
          </p:cNvSpPr>
          <p:nvPr/>
        </p:nvSpPr>
        <p:spPr>
          <a:xfrm>
            <a:off x="733425" y="5581650"/>
            <a:ext cx="67627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5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API 原始欄位：影片編號、標題、說明、發布時間、片長、</a:t>
            </a:r>
          </a:p>
          <a:p>
            <a:pPr algn="l">
              <a:buNone/>
              <a:defRPr sz="15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觀看數、按讚數、留言數，以及直播／公開狀態等。</a:t>
            </a:r>
          </a:p>
        </p:txBody>
      </p:sp>
      <p:sp>
        <p:nvSpPr>
          <p:cNvPr id="18" name="text-100">
            <a:extLst>
              <a:ext uri="{FF2B5EF4-FFF2-40B4-BE49-F238E27FC236}">
                <a16:creationId xmlns:a16="http://schemas.microsoft.com/office/drawing/2014/main" id="{77D354A1-0DF6-42AC-8DB3-126EEA1F7EEB}"/>
              </a:ext>
            </a:extLst>
          </p:cNvPr>
          <p:cNvSpPr>
            <a:spLocks noGrp="1"/>
          </p:cNvSpPr>
          <p:nvPr/>
        </p:nvSpPr>
        <p:spPr>
          <a:xfrm>
            <a:off x="476250" y="642937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7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YouTube Data API v3；原始與排除紀錄均保留。2026 未參與訓練或模型調整。</a:t>
            </a:r>
          </a:p>
        </p:txBody>
      </p:sp>
    </p:spTree>
    <p:extLst>
      <p:ext uri="{BB962C8B-B14F-4D97-AF65-F5344CB8AC3E}">
        <p14:creationId xmlns:p14="http://schemas.microsoft.com/office/powerpoint/2010/main" val="1871887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background-extension-P6"/>
          <p:cNvPicPr>
            <a:picLocks noChangeAspect="1"/>
          </p:cNvPicPr>
          <p:nvPr/>
        </p:nvPicPr>
        <p:blipFill>
          <a:blip r:embed="rId3">
            <a:alphaModFix amt="62000"/>
          </a:blip>
          <a:srcRect l="40000" t="20000" r="40000" b="6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blur rad="9525" grow="0"/>
          </a:effectLst>
        </p:spPr>
      </p:pic>
      <p:sp>
        <p:nvSpPr>
          <p:cNvPr id="56" name="background-texture-shade-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30914">
                  <a:alpha val="0"/>
                </a:srgbClr>
              </a:gs>
              <a:gs pos="42000">
                <a:srgbClr val="030914">
                  <a:alpha val="20000"/>
                </a:srgbClr>
              </a:gs>
              <a:gs pos="70000">
                <a:srgbClr val="030914">
                  <a:alpha val="42000"/>
                </a:srgbClr>
              </a:gs>
              <a:gs pos="100000">
                <a:srgbClr val="030914">
                  <a:alpha val="2300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54" name="圖片 53"/>
          <p:cNvPicPr>
            <a:picLocks noChangeAspect="1"/>
          </p:cNvPicPr>
          <p:nvPr/>
        </p:nvPicPr>
        <p:blipFill>
          <a:blip r:embed="rId3"/>
          <a:srcRect l="60156"/>
          <a:stretch>
            <a:fillRect/>
          </a:stretch>
        </p:blipFill>
        <p:spPr>
          <a:xfrm>
            <a:off x="0" y="0"/>
            <a:ext cx="4857750" cy="6858000"/>
          </a:xfrm>
          <a:prstGeom prst="rect">
            <a:avLst/>
          </a:prstGeom>
          <a:effectLst>
            <a:softEdge rad="342900"/>
          </a:effectLst>
        </p:spPr>
      </p:pic>
      <p:sp>
        <p:nvSpPr>
          <p:cNvPr id="31" name="layout-19">
            <a:extLst>
              <a:ext uri="{FF2B5EF4-FFF2-40B4-BE49-F238E27FC236}">
                <a16:creationId xmlns:a16="http://schemas.microsoft.com/office/drawing/2014/main" id="{B675DD65-9D78-4E27-960F-EA0C5B437EBF}"/>
              </a:ext>
            </a:extLst>
          </p:cNvPr>
          <p:cNvSpPr>
            <a:spLocks noGrp="1"/>
          </p:cNvSpPr>
          <p:nvPr/>
        </p:nvSpPr>
        <p:spPr>
          <a:xfrm>
            <a:off x="3838575" y="0"/>
            <a:ext cx="1676400" cy="6858000"/>
          </a:xfrm>
          <a:prstGeom prst="rect">
            <a:avLst/>
          </a:prstGeom>
          <a:gradFill>
            <a:gsLst>
              <a:gs pos="0">
                <a:srgbClr val="080E19">
                  <a:alpha val="0"/>
                </a:srgbClr>
              </a:gs>
              <a:gs pos="100000">
                <a:srgbClr val="080E19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ource-P6-0">
            <a:extLst>
              <a:ext uri="{FF2B5EF4-FFF2-40B4-BE49-F238E27FC236}">
                <a16:creationId xmlns:a16="http://schemas.microsoft.com/office/drawing/2014/main" id="{5C6CB1A4-846E-4E4B-97C3-3C3676494BCD}"/>
              </a:ext>
            </a:extLst>
          </p:cNvPr>
          <p:cNvSpPr>
            <a:spLocks noGrp="1"/>
          </p:cNvSpPr>
          <p:nvPr/>
        </p:nvSpPr>
        <p:spPr>
          <a:xfrm>
            <a:off x="657225" y="2381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06 · 資料清理</a:t>
            </a:r>
          </a:p>
        </p:txBody>
      </p:sp>
      <p:sp>
        <p:nvSpPr>
          <p:cNvPr id="33" name="source-P6-1">
            <a:extLst>
              <a:ext uri="{FF2B5EF4-FFF2-40B4-BE49-F238E27FC236}">
                <a16:creationId xmlns:a16="http://schemas.microsoft.com/office/drawing/2014/main" id="{9C7724FA-C7E6-4CE7-B2A8-5A46D07473C9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  <p:sp>
        <p:nvSpPr>
          <p:cNvPr id="34" name="source-P6-2">
            <a:extLst>
              <a:ext uri="{FF2B5EF4-FFF2-40B4-BE49-F238E27FC236}">
                <a16:creationId xmlns:a16="http://schemas.microsoft.com/office/drawing/2014/main" id="{4AAE54B5-9A7F-4A65-84C1-314412345F2B}"/>
              </a:ext>
            </a:extLst>
          </p:cNvPr>
          <p:cNvSpPr>
            <a:spLocks noGrp="1"/>
          </p:cNvSpPr>
          <p:nvPr/>
        </p:nvSpPr>
        <p:spPr>
          <a:xfrm>
            <a:off x="5267325" y="771525"/>
            <a:ext cx="6467475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資料清理與品質檢查</a:t>
            </a:r>
          </a:p>
        </p:txBody>
      </p:sp>
      <p:sp>
        <p:nvSpPr>
          <p:cNvPr id="35" name="layout-20">
            <a:extLst>
              <a:ext uri="{FF2B5EF4-FFF2-40B4-BE49-F238E27FC236}">
                <a16:creationId xmlns:a16="http://schemas.microsoft.com/office/drawing/2014/main" id="{C91CEF4A-DF8F-41B1-8D8D-7E3BC2E821B2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7625" cy="228600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ource-P6-3">
            <a:extLst>
              <a:ext uri="{FF2B5EF4-FFF2-40B4-BE49-F238E27FC236}">
                <a16:creationId xmlns:a16="http://schemas.microsoft.com/office/drawing/2014/main" id="{1D4FC974-D521-4023-B2A6-EB777E80D711}"/>
              </a:ext>
            </a:extLst>
          </p:cNvPr>
          <p:cNvSpPr>
            <a:spLocks noGrp="1"/>
          </p:cNvSpPr>
          <p:nvPr/>
        </p:nvSpPr>
        <p:spPr>
          <a:xfrm>
            <a:off x="5267325" y="1571625"/>
            <a:ext cx="6400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以四分位距（IQR）標記，再核對原始資料</a:t>
            </a:r>
          </a:p>
        </p:txBody>
      </p:sp>
      <p:sp>
        <p:nvSpPr>
          <p:cNvPr id="37" name="source-P6-4">
            <a:extLst>
              <a:ext uri="{FF2B5EF4-FFF2-40B4-BE49-F238E27FC236}">
                <a16:creationId xmlns:a16="http://schemas.microsoft.com/office/drawing/2014/main" id="{AD3C0D1F-6CEA-4150-AE0E-0CAC6CF27C0A}"/>
              </a:ext>
            </a:extLst>
          </p:cNvPr>
          <p:cNvSpPr>
            <a:spLocks noGrp="1"/>
          </p:cNvSpPr>
          <p:nvPr/>
        </p:nvSpPr>
        <p:spPr>
          <a:xfrm>
            <a:off x="5276850" y="2143125"/>
            <a:ext cx="12382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缺失值</a:t>
            </a:r>
          </a:p>
        </p:txBody>
      </p:sp>
      <p:sp>
        <p:nvSpPr>
          <p:cNvPr id="38" name="source-P6-5">
            <a:extLst>
              <a:ext uri="{FF2B5EF4-FFF2-40B4-BE49-F238E27FC236}">
                <a16:creationId xmlns:a16="http://schemas.microsoft.com/office/drawing/2014/main" id="{ADA32006-C066-42C5-997D-D09DE5F386AA}"/>
              </a:ext>
            </a:extLst>
          </p:cNvPr>
          <p:cNvSpPr>
            <a:spLocks noGrp="1"/>
          </p:cNvSpPr>
          <p:nvPr/>
        </p:nvSpPr>
        <p:spPr>
          <a:xfrm>
            <a:off x="6734175" y="2143125"/>
            <a:ext cx="50768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11 部 description 空白</a:t>
            </a:r>
          </a:p>
        </p:txBody>
      </p:sp>
      <p:sp>
        <p:nvSpPr>
          <p:cNvPr id="39" name="source-P6-6">
            <a:extLst>
              <a:ext uri="{FF2B5EF4-FFF2-40B4-BE49-F238E27FC236}">
                <a16:creationId xmlns:a16="http://schemas.microsoft.com/office/drawing/2014/main" id="{6279A11F-A003-4AFD-921B-24A0B054A831}"/>
              </a:ext>
            </a:extLst>
          </p:cNvPr>
          <p:cNvSpPr>
            <a:spLocks noGrp="1"/>
          </p:cNvSpPr>
          <p:nvPr/>
        </p:nvSpPr>
        <p:spPr>
          <a:xfrm>
            <a:off x="6734175" y="2505075"/>
            <a:ext cx="50768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逐欄檢查，保留缺失</a:t>
            </a:r>
          </a:p>
        </p:txBody>
      </p:sp>
      <p:sp>
        <p:nvSpPr>
          <p:cNvPr id="40" name="source-P6-7">
            <a:extLst>
              <a:ext uri="{FF2B5EF4-FFF2-40B4-BE49-F238E27FC236}">
                <a16:creationId xmlns:a16="http://schemas.microsoft.com/office/drawing/2014/main" id="{17041AF3-E051-4A53-B172-D2178AA5D92F}"/>
              </a:ext>
            </a:extLst>
          </p:cNvPr>
          <p:cNvSpPr>
            <a:spLocks noGrp="1"/>
          </p:cNvSpPr>
          <p:nvPr/>
        </p:nvSpPr>
        <p:spPr>
          <a:xfrm>
            <a:off x="5276850" y="2924175"/>
            <a:ext cx="12382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重複值</a:t>
            </a:r>
          </a:p>
        </p:txBody>
      </p:sp>
      <p:sp>
        <p:nvSpPr>
          <p:cNvPr id="41" name="source-P6-8">
            <a:extLst>
              <a:ext uri="{FF2B5EF4-FFF2-40B4-BE49-F238E27FC236}">
                <a16:creationId xmlns:a16="http://schemas.microsoft.com/office/drawing/2014/main" id="{F643591E-D2D8-458E-96F9-E92C4B1C79AE}"/>
              </a:ext>
            </a:extLst>
          </p:cNvPr>
          <p:cNvSpPr>
            <a:spLocks noGrp="1"/>
          </p:cNvSpPr>
          <p:nvPr/>
        </p:nvSpPr>
        <p:spPr>
          <a:xfrm>
            <a:off x="6734175" y="2924175"/>
            <a:ext cx="50768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0 個重複 video_id</a:t>
            </a:r>
          </a:p>
        </p:txBody>
      </p:sp>
      <p:sp>
        <p:nvSpPr>
          <p:cNvPr id="42" name="source-P6-9">
            <a:extLst>
              <a:ext uri="{FF2B5EF4-FFF2-40B4-BE49-F238E27FC236}">
                <a16:creationId xmlns:a16="http://schemas.microsoft.com/office/drawing/2014/main" id="{BE82DCD1-B85B-4F96-AE75-665733B777E7}"/>
              </a:ext>
            </a:extLst>
          </p:cNvPr>
          <p:cNvSpPr>
            <a:spLocks noGrp="1"/>
          </p:cNvSpPr>
          <p:nvPr/>
        </p:nvSpPr>
        <p:spPr>
          <a:xfrm>
            <a:off x="6734175" y="3286125"/>
            <a:ext cx="50768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156 部影片皆唯一</a:t>
            </a:r>
          </a:p>
        </p:txBody>
      </p:sp>
      <p:sp>
        <p:nvSpPr>
          <p:cNvPr id="43" name="source-P6-10">
            <a:extLst>
              <a:ext uri="{FF2B5EF4-FFF2-40B4-BE49-F238E27FC236}">
                <a16:creationId xmlns:a16="http://schemas.microsoft.com/office/drawing/2014/main" id="{041B394D-E6E6-4563-AB6A-47C38BEC2114}"/>
              </a:ext>
            </a:extLst>
          </p:cNvPr>
          <p:cNvSpPr>
            <a:spLocks noGrp="1"/>
          </p:cNvSpPr>
          <p:nvPr/>
        </p:nvSpPr>
        <p:spPr>
          <a:xfrm>
            <a:off x="5276850" y="3705225"/>
            <a:ext cx="12382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資料型態</a:t>
            </a:r>
          </a:p>
        </p:txBody>
      </p:sp>
      <p:sp>
        <p:nvSpPr>
          <p:cNvPr id="44" name="source-P6-11">
            <a:extLst>
              <a:ext uri="{FF2B5EF4-FFF2-40B4-BE49-F238E27FC236}">
                <a16:creationId xmlns:a16="http://schemas.microsoft.com/office/drawing/2014/main" id="{E79566EC-2CB5-4455-A884-D42DE9FC9D60}"/>
              </a:ext>
            </a:extLst>
          </p:cNvPr>
          <p:cNvSpPr>
            <a:spLocks noGrp="1"/>
          </p:cNvSpPr>
          <p:nvPr/>
        </p:nvSpPr>
        <p:spPr>
          <a:xfrm>
            <a:off x="6734175" y="3705225"/>
            <a:ext cx="50768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時間／數值／片長</a:t>
            </a:r>
          </a:p>
        </p:txBody>
      </p:sp>
      <p:sp>
        <p:nvSpPr>
          <p:cNvPr id="45" name="source-P6-12">
            <a:extLst>
              <a:ext uri="{FF2B5EF4-FFF2-40B4-BE49-F238E27FC236}">
                <a16:creationId xmlns:a16="http://schemas.microsoft.com/office/drawing/2014/main" id="{C0EA666B-9792-482F-87EF-EF909E892CAD}"/>
              </a:ext>
            </a:extLst>
          </p:cNvPr>
          <p:cNvSpPr>
            <a:spLocks noGrp="1"/>
          </p:cNvSpPr>
          <p:nvPr/>
        </p:nvSpPr>
        <p:spPr>
          <a:xfrm>
            <a:off x="6734175" y="4067175"/>
            <a:ext cx="50768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解析、轉換與台北時區</a:t>
            </a:r>
          </a:p>
        </p:txBody>
      </p:sp>
      <p:sp>
        <p:nvSpPr>
          <p:cNvPr id="46" name="source-P6-13">
            <a:extLst>
              <a:ext uri="{FF2B5EF4-FFF2-40B4-BE49-F238E27FC236}">
                <a16:creationId xmlns:a16="http://schemas.microsoft.com/office/drawing/2014/main" id="{D52B6C7A-0DC6-4122-819F-C655520ABC22}"/>
              </a:ext>
            </a:extLst>
          </p:cNvPr>
          <p:cNvSpPr>
            <a:spLocks noGrp="1"/>
          </p:cNvSpPr>
          <p:nvPr/>
        </p:nvSpPr>
        <p:spPr>
          <a:xfrm>
            <a:off x="5276850" y="4705350"/>
            <a:ext cx="19431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45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32</a:t>
            </a:r>
          </a:p>
        </p:txBody>
      </p:sp>
      <p:sp>
        <p:nvSpPr>
          <p:cNvPr id="47" name="source-P6-14">
            <a:extLst>
              <a:ext uri="{FF2B5EF4-FFF2-40B4-BE49-F238E27FC236}">
                <a16:creationId xmlns:a16="http://schemas.microsoft.com/office/drawing/2014/main" id="{E23E018F-0423-48D9-9D64-EAE4CC48B461}"/>
              </a:ext>
            </a:extLst>
          </p:cNvPr>
          <p:cNvSpPr>
            <a:spLocks noGrp="1"/>
          </p:cNvSpPr>
          <p:nvPr/>
        </p:nvSpPr>
        <p:spPr>
          <a:xfrm>
            <a:off x="5276850" y="5248275"/>
            <a:ext cx="20859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統計異常紀錄</a:t>
            </a:r>
          </a:p>
        </p:txBody>
      </p:sp>
      <p:sp>
        <p:nvSpPr>
          <p:cNvPr id="48" name="source-P6-15">
            <a:extLst>
              <a:ext uri="{FF2B5EF4-FFF2-40B4-BE49-F238E27FC236}">
                <a16:creationId xmlns:a16="http://schemas.microsoft.com/office/drawing/2014/main" id="{E9BCF197-063A-49CB-9FC4-003D09473655}"/>
              </a:ext>
            </a:extLst>
          </p:cNvPr>
          <p:cNvSpPr>
            <a:spLocks noGrp="1"/>
          </p:cNvSpPr>
          <p:nvPr/>
        </p:nvSpPr>
        <p:spPr>
          <a:xfrm>
            <a:off x="7429500" y="4705350"/>
            <a:ext cx="19431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45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28</a:t>
            </a:r>
          </a:p>
        </p:txBody>
      </p:sp>
      <p:sp>
        <p:nvSpPr>
          <p:cNvPr id="49" name="source-P6-16">
            <a:extLst>
              <a:ext uri="{FF2B5EF4-FFF2-40B4-BE49-F238E27FC236}">
                <a16:creationId xmlns:a16="http://schemas.microsoft.com/office/drawing/2014/main" id="{3D46838C-069B-49E7-8D19-10C740B06B23}"/>
              </a:ext>
            </a:extLst>
          </p:cNvPr>
          <p:cNvSpPr>
            <a:spLocks noGrp="1"/>
          </p:cNvSpPr>
          <p:nvPr/>
        </p:nvSpPr>
        <p:spPr>
          <a:xfrm>
            <a:off x="7429500" y="5248275"/>
            <a:ext cx="20859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涉及影片</a:t>
            </a:r>
          </a:p>
        </p:txBody>
      </p:sp>
      <p:sp>
        <p:nvSpPr>
          <p:cNvPr id="50" name="source-P6-17">
            <a:extLst>
              <a:ext uri="{FF2B5EF4-FFF2-40B4-BE49-F238E27FC236}">
                <a16:creationId xmlns:a16="http://schemas.microsoft.com/office/drawing/2014/main" id="{9671C913-6C63-4127-9E6E-CF4E394A0D30}"/>
              </a:ext>
            </a:extLst>
          </p:cNvPr>
          <p:cNvSpPr>
            <a:spLocks noGrp="1"/>
          </p:cNvSpPr>
          <p:nvPr/>
        </p:nvSpPr>
        <p:spPr>
          <a:xfrm>
            <a:off x="9582150" y="4705350"/>
            <a:ext cx="19431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4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51" name="source-P6-18">
            <a:extLst>
              <a:ext uri="{FF2B5EF4-FFF2-40B4-BE49-F238E27FC236}">
                <a16:creationId xmlns:a16="http://schemas.microsoft.com/office/drawing/2014/main" id="{BC09092E-CB0A-43EE-9D5E-8F60DD0E1DE2}"/>
              </a:ext>
            </a:extLst>
          </p:cNvPr>
          <p:cNvSpPr>
            <a:spLocks noGrp="1"/>
          </p:cNvSpPr>
          <p:nvPr/>
        </p:nvSpPr>
        <p:spPr>
          <a:xfrm>
            <a:off x="9582150" y="5248275"/>
            <a:ext cx="20859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本次查核</a:t>
            </a:r>
          </a:p>
          <a:p>
            <a:pPr algn="l">
              <a:defRPr sz="17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發現的錯誤</a:t>
            </a:r>
          </a:p>
        </p:txBody>
      </p:sp>
      <p:sp>
        <p:nvSpPr>
          <p:cNvPr id="52" name="source-P6-19">
            <a:extLst>
              <a:ext uri="{FF2B5EF4-FFF2-40B4-BE49-F238E27FC236}">
                <a16:creationId xmlns:a16="http://schemas.microsoft.com/office/drawing/2014/main" id="{CD081BCD-3535-436B-A7A0-22538FDC3109}"/>
              </a:ext>
            </a:extLst>
          </p:cNvPr>
          <p:cNvSpPr>
            <a:spLocks noGrp="1"/>
          </p:cNvSpPr>
          <p:nvPr/>
        </p:nvSpPr>
        <p:spPr>
          <a:xfrm>
            <a:off x="5267325" y="5848350"/>
            <a:ext cx="6477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統計異常 ≠ 資料錯誤；保留原值，不刪除、不縮尾</a:t>
            </a:r>
          </a:p>
        </p:txBody>
      </p:sp>
      <p:sp>
        <p:nvSpPr>
          <p:cNvPr id="53" name="source-P6-20">
            <a:extLst>
              <a:ext uri="{FF2B5EF4-FFF2-40B4-BE49-F238E27FC236}">
                <a16:creationId xmlns:a16="http://schemas.microsoft.com/office/drawing/2014/main" id="{6A9B65DC-6F1E-4294-8995-CD0D28595091}"/>
              </a:ext>
            </a:extLst>
          </p:cNvPr>
          <p:cNvSpPr>
            <a:spLocks noGrp="1"/>
          </p:cNvSpPr>
          <p:nvPr/>
        </p:nvSpPr>
        <p:spPr>
          <a:xfrm>
            <a:off x="400050" y="6524625"/>
            <a:ext cx="108585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32 筆為「欄位 × 影片」紀錄，涉及 28 部；核對原始資料／API 快照後，資料品質錯誤 0 筆。</a:t>
            </a:r>
          </a:p>
        </p:txBody>
      </p:sp>
    </p:spTree>
    <p:extLst>
      <p:ext uri="{BB962C8B-B14F-4D97-AF65-F5344CB8AC3E}">
        <p14:creationId xmlns:p14="http://schemas.microsoft.com/office/powerpoint/2010/main" val="323164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圖片 8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element-1">
            <a:extLst>
              <a:ext uri="{FF2B5EF4-FFF2-40B4-BE49-F238E27FC236}">
                <a16:creationId xmlns:a16="http://schemas.microsoft.com/office/drawing/2014/main" id="{16E243B7-6B11-4411-82E6-C53143E759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96250" cy="6858000"/>
          </a:xfrm>
          <a:prstGeom prst="rect">
            <a:avLst/>
          </a:prstGeom>
          <a:gradFill>
            <a:gsLst>
              <a:gs pos="0">
                <a:srgbClr val="05101E">
                  <a:alpha val="42000"/>
                </a:srgbClr>
              </a:gs>
              <a:gs pos="68000">
                <a:srgbClr val="05101E">
                  <a:alpha val="32000"/>
                </a:srgbClr>
              </a:gs>
              <a:gs pos="100000">
                <a:srgbClr val="05101E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element-2">
            <a:extLst>
              <a:ext uri="{FF2B5EF4-FFF2-40B4-BE49-F238E27FC236}">
                <a16:creationId xmlns:a16="http://schemas.microsoft.com/office/drawing/2014/main" id="{A7605CE4-6236-4A2A-A94B-6D5A57E4D112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7625" cy="238125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-3">
            <a:extLst>
              <a:ext uri="{FF2B5EF4-FFF2-40B4-BE49-F238E27FC236}">
                <a16:creationId xmlns:a16="http://schemas.microsoft.com/office/drawing/2014/main" id="{FAA7B67D-7E50-4B3C-A2AA-0B483BC95C1B}"/>
              </a:ext>
            </a:extLst>
          </p:cNvPr>
          <p:cNvSpPr>
            <a:spLocks noGrp="1"/>
          </p:cNvSpPr>
          <p:nvPr/>
        </p:nvSpPr>
        <p:spPr>
          <a:xfrm>
            <a:off x="657225" y="28575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07 · 特徵工程</a:t>
            </a:r>
          </a:p>
        </p:txBody>
      </p:sp>
      <p:sp>
        <p:nvSpPr>
          <p:cNvPr id="38" name="text-4">
            <a:extLst>
              <a:ext uri="{FF2B5EF4-FFF2-40B4-BE49-F238E27FC236}">
                <a16:creationId xmlns:a16="http://schemas.microsoft.com/office/drawing/2014/main" id="{F488D579-2E3C-430B-BC16-7452105A3227}"/>
              </a:ext>
            </a:extLst>
          </p:cNvPr>
          <p:cNvSpPr>
            <a:spLocks noGrp="1"/>
          </p:cNvSpPr>
          <p:nvPr/>
        </p:nvSpPr>
        <p:spPr>
          <a:xfrm>
            <a:off x="476250" y="933450"/>
            <a:ext cx="1057275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特徵工程：把原始資料轉成模型可用資訊</a:t>
            </a:r>
          </a:p>
        </p:txBody>
      </p:sp>
      <p:sp>
        <p:nvSpPr>
          <p:cNvPr id="39" name="text-5">
            <a:extLst>
              <a:ext uri="{FF2B5EF4-FFF2-40B4-BE49-F238E27FC236}">
                <a16:creationId xmlns:a16="http://schemas.microsoft.com/office/drawing/2014/main" id="{F2330E4B-9878-460D-BF21-7AF7EEE3C3E0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953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sp>
        <p:nvSpPr>
          <p:cNvPr id="40" name="text-6">
            <a:extLst>
              <a:ext uri="{FF2B5EF4-FFF2-40B4-BE49-F238E27FC236}">
                <a16:creationId xmlns:a16="http://schemas.microsoft.com/office/drawing/2014/main" id="{0D152A37-F378-433C-8828-1B29C08DCB0E}"/>
              </a:ext>
            </a:extLst>
          </p:cNvPr>
          <p:cNvSpPr>
            <a:spLocks noGrp="1"/>
          </p:cNvSpPr>
          <p:nvPr/>
        </p:nvSpPr>
        <p:spPr>
          <a:xfrm>
            <a:off x="495300" y="1590675"/>
            <a:ext cx="20002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原始欄位</a:t>
            </a:r>
          </a:p>
        </p:txBody>
      </p:sp>
      <p:sp>
        <p:nvSpPr>
          <p:cNvPr id="41" name="text-7">
            <a:extLst>
              <a:ext uri="{FF2B5EF4-FFF2-40B4-BE49-F238E27FC236}">
                <a16:creationId xmlns:a16="http://schemas.microsoft.com/office/drawing/2014/main" id="{7533FD6D-08F7-428E-A9A8-554F107B318A}"/>
              </a:ext>
            </a:extLst>
          </p:cNvPr>
          <p:cNvSpPr>
            <a:spLocks noGrp="1"/>
          </p:cNvSpPr>
          <p:nvPr/>
        </p:nvSpPr>
        <p:spPr>
          <a:xfrm>
            <a:off x="3238500" y="1590675"/>
            <a:ext cx="42576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衍生特徵</a:t>
            </a:r>
          </a:p>
        </p:txBody>
      </p:sp>
      <p:sp>
        <p:nvSpPr>
          <p:cNvPr id="42" name="text-8">
            <a:extLst>
              <a:ext uri="{FF2B5EF4-FFF2-40B4-BE49-F238E27FC236}">
                <a16:creationId xmlns:a16="http://schemas.microsoft.com/office/drawing/2014/main" id="{AFF74792-5A68-4F05-AE28-389E18DD424B}"/>
              </a:ext>
            </a:extLst>
          </p:cNvPr>
          <p:cNvSpPr>
            <a:spLocks noGrp="1"/>
          </p:cNvSpPr>
          <p:nvPr/>
        </p:nvSpPr>
        <p:spPr>
          <a:xfrm>
            <a:off x="495300" y="2276475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標題</a:t>
            </a:r>
          </a:p>
        </p:txBody>
      </p:sp>
      <p:sp>
        <p:nvSpPr>
          <p:cNvPr id="43" name="text-9">
            <a:extLst>
              <a:ext uri="{FF2B5EF4-FFF2-40B4-BE49-F238E27FC236}">
                <a16:creationId xmlns:a16="http://schemas.microsoft.com/office/drawing/2014/main" id="{9167159D-CD9F-41CD-A607-12CB7F5CCDD5}"/>
              </a:ext>
            </a:extLst>
          </p:cNvPr>
          <p:cNvSpPr>
            <a:spLocks noGrp="1"/>
          </p:cNvSpPr>
          <p:nvPr/>
        </p:nvSpPr>
        <p:spPr>
          <a:xfrm>
            <a:off x="504825" y="2619375"/>
            <a:ext cx="2066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title</a:t>
            </a:r>
          </a:p>
        </p:txBody>
      </p:sp>
      <p:sp>
        <p:nvSpPr>
          <p:cNvPr id="44" name="element-10">
            <a:extLst>
              <a:ext uri="{FF2B5EF4-FFF2-40B4-BE49-F238E27FC236}">
                <a16:creationId xmlns:a16="http://schemas.microsoft.com/office/drawing/2014/main" id="{7A755D39-9D89-4993-9026-5921DEC47B47}"/>
              </a:ext>
            </a:extLst>
          </p:cNvPr>
          <p:cNvSpPr>
            <a:spLocks noGrp="1"/>
          </p:cNvSpPr>
          <p:nvPr/>
        </p:nvSpPr>
        <p:spPr>
          <a:xfrm>
            <a:off x="2447925" y="2609850"/>
            <a:ext cx="314325" cy="14288"/>
          </a:xfrm>
          <a:prstGeom prst="rect">
            <a:avLst/>
          </a:prstGeom>
          <a:solidFill>
            <a:srgbClr val="AAB3BE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element-11">
            <a:extLst>
              <a:ext uri="{FF2B5EF4-FFF2-40B4-BE49-F238E27FC236}">
                <a16:creationId xmlns:a16="http://schemas.microsoft.com/office/drawing/2014/main" id="{39FDA8A1-9A4E-4B84-B12F-0383F5CC4735}"/>
              </a:ext>
            </a:extLst>
          </p:cNvPr>
          <p:cNvSpPr>
            <a:spLocks noGrp="1"/>
          </p:cNvSpPr>
          <p:nvPr/>
        </p:nvSpPr>
        <p:spPr>
          <a:xfrm>
            <a:off x="2752725" y="2219325"/>
            <a:ext cx="14288" cy="762000"/>
          </a:xfrm>
          <a:prstGeom prst="rect">
            <a:avLst/>
          </a:prstGeom>
          <a:solidFill>
            <a:srgbClr val="AAB3BE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element-12">
            <a:extLst>
              <a:ext uri="{FF2B5EF4-FFF2-40B4-BE49-F238E27FC236}">
                <a16:creationId xmlns:a16="http://schemas.microsoft.com/office/drawing/2014/main" id="{832381D7-C34D-47A5-AAAC-09202386A400}"/>
              </a:ext>
            </a:extLst>
          </p:cNvPr>
          <p:cNvSpPr>
            <a:spLocks noGrp="1"/>
          </p:cNvSpPr>
          <p:nvPr/>
        </p:nvSpPr>
        <p:spPr>
          <a:xfrm>
            <a:off x="2752725" y="2219325"/>
            <a:ext cx="361950" cy="14288"/>
          </a:xfrm>
          <a:prstGeom prst="rect">
            <a:avLst/>
          </a:prstGeom>
          <a:solidFill>
            <a:srgbClr val="AAB3BE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-13">
            <a:extLst>
              <a:ext uri="{FF2B5EF4-FFF2-40B4-BE49-F238E27FC236}">
                <a16:creationId xmlns:a16="http://schemas.microsoft.com/office/drawing/2014/main" id="{52810B9E-AD9B-4F5D-9D8B-B1E5B0DEFBCF}"/>
              </a:ext>
            </a:extLst>
          </p:cNvPr>
          <p:cNvSpPr>
            <a:spLocks noGrp="1"/>
          </p:cNvSpPr>
          <p:nvPr/>
        </p:nvSpPr>
        <p:spPr>
          <a:xfrm>
            <a:off x="3238500" y="2019300"/>
            <a:ext cx="202882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標題長度</a:t>
            </a:r>
          </a:p>
        </p:txBody>
      </p:sp>
      <p:sp>
        <p:nvSpPr>
          <p:cNvPr id="48" name="text-14">
            <a:extLst>
              <a:ext uri="{FF2B5EF4-FFF2-40B4-BE49-F238E27FC236}">
                <a16:creationId xmlns:a16="http://schemas.microsoft.com/office/drawing/2014/main" id="{759D6B02-E8B5-4867-A645-B7EED2206C07}"/>
              </a:ext>
            </a:extLst>
          </p:cNvPr>
          <p:cNvSpPr>
            <a:spLocks noGrp="1"/>
          </p:cNvSpPr>
          <p:nvPr/>
        </p:nvSpPr>
        <p:spPr>
          <a:xfrm>
            <a:off x="5343525" y="2047875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title_length</a:t>
            </a:r>
          </a:p>
        </p:txBody>
      </p:sp>
      <p:sp>
        <p:nvSpPr>
          <p:cNvPr id="49" name="element-15">
            <a:extLst>
              <a:ext uri="{FF2B5EF4-FFF2-40B4-BE49-F238E27FC236}">
                <a16:creationId xmlns:a16="http://schemas.microsoft.com/office/drawing/2014/main" id="{62B90D2B-9BE8-4275-975E-FDA78BB344B5}"/>
              </a:ext>
            </a:extLst>
          </p:cNvPr>
          <p:cNvSpPr>
            <a:spLocks noGrp="1"/>
          </p:cNvSpPr>
          <p:nvPr/>
        </p:nvSpPr>
        <p:spPr>
          <a:xfrm>
            <a:off x="2752725" y="2600325"/>
            <a:ext cx="361950" cy="14288"/>
          </a:xfrm>
          <a:prstGeom prst="rect">
            <a:avLst/>
          </a:prstGeom>
          <a:solidFill>
            <a:srgbClr val="AAB3BE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-16">
            <a:extLst>
              <a:ext uri="{FF2B5EF4-FFF2-40B4-BE49-F238E27FC236}">
                <a16:creationId xmlns:a16="http://schemas.microsoft.com/office/drawing/2014/main" id="{071D6D63-F80C-4AD1-8538-FDEFE0CFF6EC}"/>
              </a:ext>
            </a:extLst>
          </p:cNvPr>
          <p:cNvSpPr>
            <a:spLocks noGrp="1"/>
          </p:cNvSpPr>
          <p:nvPr/>
        </p:nvSpPr>
        <p:spPr>
          <a:xfrm>
            <a:off x="3238500" y="2400300"/>
            <a:ext cx="202882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是否含數字</a:t>
            </a:r>
          </a:p>
        </p:txBody>
      </p:sp>
      <p:sp>
        <p:nvSpPr>
          <p:cNvPr id="51" name="text-17">
            <a:extLst>
              <a:ext uri="{FF2B5EF4-FFF2-40B4-BE49-F238E27FC236}">
                <a16:creationId xmlns:a16="http://schemas.microsoft.com/office/drawing/2014/main" id="{561775D9-8A3C-41CB-B9EF-969F50C7288D}"/>
              </a:ext>
            </a:extLst>
          </p:cNvPr>
          <p:cNvSpPr>
            <a:spLocks noGrp="1"/>
          </p:cNvSpPr>
          <p:nvPr/>
        </p:nvSpPr>
        <p:spPr>
          <a:xfrm>
            <a:off x="5343525" y="2428875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has_number</a:t>
            </a:r>
          </a:p>
        </p:txBody>
      </p:sp>
      <p:sp>
        <p:nvSpPr>
          <p:cNvPr id="52" name="element-18">
            <a:extLst>
              <a:ext uri="{FF2B5EF4-FFF2-40B4-BE49-F238E27FC236}">
                <a16:creationId xmlns:a16="http://schemas.microsoft.com/office/drawing/2014/main" id="{83D824EC-93C4-435A-B071-0575A585158F}"/>
              </a:ext>
            </a:extLst>
          </p:cNvPr>
          <p:cNvSpPr>
            <a:spLocks noGrp="1"/>
          </p:cNvSpPr>
          <p:nvPr/>
        </p:nvSpPr>
        <p:spPr>
          <a:xfrm>
            <a:off x="2752725" y="2981325"/>
            <a:ext cx="361950" cy="14288"/>
          </a:xfrm>
          <a:prstGeom prst="rect">
            <a:avLst/>
          </a:prstGeom>
          <a:solidFill>
            <a:srgbClr val="AAB3BE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-19">
            <a:extLst>
              <a:ext uri="{FF2B5EF4-FFF2-40B4-BE49-F238E27FC236}">
                <a16:creationId xmlns:a16="http://schemas.microsoft.com/office/drawing/2014/main" id="{A78D3E71-2BF3-40CD-B723-9C559CDE87E1}"/>
              </a:ext>
            </a:extLst>
          </p:cNvPr>
          <p:cNvSpPr>
            <a:spLocks noGrp="1"/>
          </p:cNvSpPr>
          <p:nvPr/>
        </p:nvSpPr>
        <p:spPr>
          <a:xfrm>
            <a:off x="3238500" y="2781300"/>
            <a:ext cx="202882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是否含問號</a:t>
            </a:r>
          </a:p>
        </p:txBody>
      </p:sp>
      <p:sp>
        <p:nvSpPr>
          <p:cNvPr id="54" name="text-20">
            <a:extLst>
              <a:ext uri="{FF2B5EF4-FFF2-40B4-BE49-F238E27FC236}">
                <a16:creationId xmlns:a16="http://schemas.microsoft.com/office/drawing/2014/main" id="{AB237892-40A0-4A9D-B565-591AD9E43868}"/>
              </a:ext>
            </a:extLst>
          </p:cNvPr>
          <p:cNvSpPr>
            <a:spLocks noGrp="1"/>
          </p:cNvSpPr>
          <p:nvPr/>
        </p:nvSpPr>
        <p:spPr>
          <a:xfrm>
            <a:off x="5343525" y="2809875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has_question</a:t>
            </a:r>
          </a:p>
        </p:txBody>
      </p:sp>
      <p:sp>
        <p:nvSpPr>
          <p:cNvPr id="55" name="text-21">
            <a:extLst>
              <a:ext uri="{FF2B5EF4-FFF2-40B4-BE49-F238E27FC236}">
                <a16:creationId xmlns:a16="http://schemas.microsoft.com/office/drawing/2014/main" id="{DB78E4B0-6CD5-4659-BCF2-F8B0141367DC}"/>
              </a:ext>
            </a:extLst>
          </p:cNvPr>
          <p:cNvSpPr>
            <a:spLocks noGrp="1"/>
          </p:cNvSpPr>
          <p:nvPr/>
        </p:nvSpPr>
        <p:spPr>
          <a:xfrm>
            <a:off x="495300" y="3419475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發布時間</a:t>
            </a:r>
          </a:p>
        </p:txBody>
      </p:sp>
      <p:sp>
        <p:nvSpPr>
          <p:cNvPr id="56" name="text-22">
            <a:extLst>
              <a:ext uri="{FF2B5EF4-FFF2-40B4-BE49-F238E27FC236}">
                <a16:creationId xmlns:a16="http://schemas.microsoft.com/office/drawing/2014/main" id="{06C60EAD-A609-4639-AC9D-7E19FD302AE1}"/>
              </a:ext>
            </a:extLst>
          </p:cNvPr>
          <p:cNvSpPr>
            <a:spLocks noGrp="1"/>
          </p:cNvSpPr>
          <p:nvPr/>
        </p:nvSpPr>
        <p:spPr>
          <a:xfrm>
            <a:off x="504825" y="3762375"/>
            <a:ext cx="2066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publishedAt</a:t>
            </a:r>
          </a:p>
        </p:txBody>
      </p:sp>
      <p:sp>
        <p:nvSpPr>
          <p:cNvPr id="57" name="element-23">
            <a:extLst>
              <a:ext uri="{FF2B5EF4-FFF2-40B4-BE49-F238E27FC236}">
                <a16:creationId xmlns:a16="http://schemas.microsoft.com/office/drawing/2014/main" id="{364EF43B-0FE6-4EF1-A350-D4C8E4BC6D98}"/>
              </a:ext>
            </a:extLst>
          </p:cNvPr>
          <p:cNvSpPr>
            <a:spLocks noGrp="1"/>
          </p:cNvSpPr>
          <p:nvPr/>
        </p:nvSpPr>
        <p:spPr>
          <a:xfrm>
            <a:off x="2447925" y="3752850"/>
            <a:ext cx="314325" cy="14288"/>
          </a:xfrm>
          <a:prstGeom prst="rect">
            <a:avLst/>
          </a:prstGeom>
          <a:solidFill>
            <a:srgbClr val="AAB3BE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element-24">
            <a:extLst>
              <a:ext uri="{FF2B5EF4-FFF2-40B4-BE49-F238E27FC236}">
                <a16:creationId xmlns:a16="http://schemas.microsoft.com/office/drawing/2014/main" id="{782BA7DF-64B3-49F5-A0FF-E3BEDD532C3B}"/>
              </a:ext>
            </a:extLst>
          </p:cNvPr>
          <p:cNvSpPr>
            <a:spLocks noGrp="1"/>
          </p:cNvSpPr>
          <p:nvPr/>
        </p:nvSpPr>
        <p:spPr>
          <a:xfrm>
            <a:off x="2752725" y="3552825"/>
            <a:ext cx="14288" cy="381000"/>
          </a:xfrm>
          <a:prstGeom prst="rect">
            <a:avLst/>
          </a:prstGeom>
          <a:solidFill>
            <a:srgbClr val="AAB3BE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element-25">
            <a:extLst>
              <a:ext uri="{FF2B5EF4-FFF2-40B4-BE49-F238E27FC236}">
                <a16:creationId xmlns:a16="http://schemas.microsoft.com/office/drawing/2014/main" id="{78EAC92C-19ED-4577-9043-CD6CDF9139F4}"/>
              </a:ext>
            </a:extLst>
          </p:cNvPr>
          <p:cNvSpPr>
            <a:spLocks noGrp="1"/>
          </p:cNvSpPr>
          <p:nvPr/>
        </p:nvSpPr>
        <p:spPr>
          <a:xfrm>
            <a:off x="2752725" y="3552825"/>
            <a:ext cx="361950" cy="14288"/>
          </a:xfrm>
          <a:prstGeom prst="rect">
            <a:avLst/>
          </a:prstGeom>
          <a:solidFill>
            <a:srgbClr val="AAB3BE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text-26">
            <a:extLst>
              <a:ext uri="{FF2B5EF4-FFF2-40B4-BE49-F238E27FC236}">
                <a16:creationId xmlns:a16="http://schemas.microsoft.com/office/drawing/2014/main" id="{128E0EBB-6982-4102-849B-1B1A4039EECF}"/>
              </a:ext>
            </a:extLst>
          </p:cNvPr>
          <p:cNvSpPr>
            <a:spLocks noGrp="1"/>
          </p:cNvSpPr>
          <p:nvPr/>
        </p:nvSpPr>
        <p:spPr>
          <a:xfrm>
            <a:off x="3238500" y="3352800"/>
            <a:ext cx="202882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發布星期</a:t>
            </a:r>
          </a:p>
        </p:txBody>
      </p:sp>
      <p:sp>
        <p:nvSpPr>
          <p:cNvPr id="61" name="text-27">
            <a:extLst>
              <a:ext uri="{FF2B5EF4-FFF2-40B4-BE49-F238E27FC236}">
                <a16:creationId xmlns:a16="http://schemas.microsoft.com/office/drawing/2014/main" id="{44B68D65-785A-452B-B4ED-62CCB0F8101A}"/>
              </a:ext>
            </a:extLst>
          </p:cNvPr>
          <p:cNvSpPr>
            <a:spLocks noGrp="1"/>
          </p:cNvSpPr>
          <p:nvPr/>
        </p:nvSpPr>
        <p:spPr>
          <a:xfrm>
            <a:off x="5343525" y="3381375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weekday</a:t>
            </a:r>
          </a:p>
        </p:txBody>
      </p:sp>
      <p:sp>
        <p:nvSpPr>
          <p:cNvPr id="62" name="element-28">
            <a:extLst>
              <a:ext uri="{FF2B5EF4-FFF2-40B4-BE49-F238E27FC236}">
                <a16:creationId xmlns:a16="http://schemas.microsoft.com/office/drawing/2014/main" id="{B55E2E56-8C60-4FA5-846D-FC9E5335C30F}"/>
              </a:ext>
            </a:extLst>
          </p:cNvPr>
          <p:cNvSpPr>
            <a:spLocks noGrp="1"/>
          </p:cNvSpPr>
          <p:nvPr/>
        </p:nvSpPr>
        <p:spPr>
          <a:xfrm>
            <a:off x="2752725" y="3933825"/>
            <a:ext cx="361950" cy="14288"/>
          </a:xfrm>
          <a:prstGeom prst="rect">
            <a:avLst/>
          </a:prstGeom>
          <a:solidFill>
            <a:srgbClr val="AAB3BE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text-29">
            <a:extLst>
              <a:ext uri="{FF2B5EF4-FFF2-40B4-BE49-F238E27FC236}">
                <a16:creationId xmlns:a16="http://schemas.microsoft.com/office/drawing/2014/main" id="{18122067-7000-48CE-AF31-167059F4C3EC}"/>
              </a:ext>
            </a:extLst>
          </p:cNvPr>
          <p:cNvSpPr>
            <a:spLocks noGrp="1"/>
          </p:cNvSpPr>
          <p:nvPr/>
        </p:nvSpPr>
        <p:spPr>
          <a:xfrm>
            <a:off x="3238500" y="3733800"/>
            <a:ext cx="202882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發布時段</a:t>
            </a:r>
          </a:p>
        </p:txBody>
      </p:sp>
      <p:sp>
        <p:nvSpPr>
          <p:cNvPr id="64" name="text-30">
            <a:extLst>
              <a:ext uri="{FF2B5EF4-FFF2-40B4-BE49-F238E27FC236}">
                <a16:creationId xmlns:a16="http://schemas.microsoft.com/office/drawing/2014/main" id="{2FA638AA-06CC-407C-806F-4D2A01D46033}"/>
              </a:ext>
            </a:extLst>
          </p:cNvPr>
          <p:cNvSpPr>
            <a:spLocks noGrp="1"/>
          </p:cNvSpPr>
          <p:nvPr/>
        </p:nvSpPr>
        <p:spPr>
          <a:xfrm>
            <a:off x="5343525" y="3762375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publish_period</a:t>
            </a:r>
          </a:p>
        </p:txBody>
      </p:sp>
      <p:sp>
        <p:nvSpPr>
          <p:cNvPr id="65" name="text-31">
            <a:extLst>
              <a:ext uri="{FF2B5EF4-FFF2-40B4-BE49-F238E27FC236}">
                <a16:creationId xmlns:a16="http://schemas.microsoft.com/office/drawing/2014/main" id="{4B51CC70-6AAF-4A13-8DA5-8E0BB85C91C2}"/>
              </a:ext>
            </a:extLst>
          </p:cNvPr>
          <p:cNvSpPr>
            <a:spLocks noGrp="1"/>
          </p:cNvSpPr>
          <p:nvPr/>
        </p:nvSpPr>
        <p:spPr>
          <a:xfrm>
            <a:off x="495300" y="4143375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影片長度</a:t>
            </a:r>
          </a:p>
        </p:txBody>
      </p:sp>
      <p:sp>
        <p:nvSpPr>
          <p:cNvPr id="66" name="text-32">
            <a:extLst>
              <a:ext uri="{FF2B5EF4-FFF2-40B4-BE49-F238E27FC236}">
                <a16:creationId xmlns:a16="http://schemas.microsoft.com/office/drawing/2014/main" id="{022C2C7F-6B56-4393-88D3-EBA5A00F9D77}"/>
              </a:ext>
            </a:extLst>
          </p:cNvPr>
          <p:cNvSpPr>
            <a:spLocks noGrp="1"/>
          </p:cNvSpPr>
          <p:nvPr/>
        </p:nvSpPr>
        <p:spPr>
          <a:xfrm>
            <a:off x="504825" y="4486275"/>
            <a:ext cx="2066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duration</a:t>
            </a:r>
          </a:p>
        </p:txBody>
      </p:sp>
      <p:sp>
        <p:nvSpPr>
          <p:cNvPr id="67" name="element-33">
            <a:extLst>
              <a:ext uri="{FF2B5EF4-FFF2-40B4-BE49-F238E27FC236}">
                <a16:creationId xmlns:a16="http://schemas.microsoft.com/office/drawing/2014/main" id="{AAF9B150-8BA8-4757-897A-EA6198F99862}"/>
              </a:ext>
            </a:extLst>
          </p:cNvPr>
          <p:cNvSpPr>
            <a:spLocks noGrp="1"/>
          </p:cNvSpPr>
          <p:nvPr/>
        </p:nvSpPr>
        <p:spPr>
          <a:xfrm>
            <a:off x="2447925" y="4476750"/>
            <a:ext cx="314325" cy="14288"/>
          </a:xfrm>
          <a:prstGeom prst="rect">
            <a:avLst/>
          </a:prstGeom>
          <a:solidFill>
            <a:srgbClr val="AAB3BE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element-34">
            <a:extLst>
              <a:ext uri="{FF2B5EF4-FFF2-40B4-BE49-F238E27FC236}">
                <a16:creationId xmlns:a16="http://schemas.microsoft.com/office/drawing/2014/main" id="{26274E58-6961-4393-8426-828D79221555}"/>
              </a:ext>
            </a:extLst>
          </p:cNvPr>
          <p:cNvSpPr>
            <a:spLocks noGrp="1"/>
          </p:cNvSpPr>
          <p:nvPr/>
        </p:nvSpPr>
        <p:spPr>
          <a:xfrm>
            <a:off x="2752725" y="4467225"/>
            <a:ext cx="361950" cy="14288"/>
          </a:xfrm>
          <a:prstGeom prst="rect">
            <a:avLst/>
          </a:prstGeom>
          <a:solidFill>
            <a:srgbClr val="AAB3BE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text-35">
            <a:extLst>
              <a:ext uri="{FF2B5EF4-FFF2-40B4-BE49-F238E27FC236}">
                <a16:creationId xmlns:a16="http://schemas.microsoft.com/office/drawing/2014/main" id="{68DBFDB9-5373-484D-AC3E-EEB5548A22BA}"/>
              </a:ext>
            </a:extLst>
          </p:cNvPr>
          <p:cNvSpPr>
            <a:spLocks noGrp="1"/>
          </p:cNvSpPr>
          <p:nvPr/>
        </p:nvSpPr>
        <p:spPr>
          <a:xfrm>
            <a:off x="3238500" y="4267200"/>
            <a:ext cx="202882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影片分鐘數</a:t>
            </a:r>
          </a:p>
        </p:txBody>
      </p:sp>
      <p:sp>
        <p:nvSpPr>
          <p:cNvPr id="70" name="text-36">
            <a:extLst>
              <a:ext uri="{FF2B5EF4-FFF2-40B4-BE49-F238E27FC236}">
                <a16:creationId xmlns:a16="http://schemas.microsoft.com/office/drawing/2014/main" id="{E58FB23C-9D42-4D4C-BFA8-6BF4494364BD}"/>
              </a:ext>
            </a:extLst>
          </p:cNvPr>
          <p:cNvSpPr>
            <a:spLocks noGrp="1"/>
          </p:cNvSpPr>
          <p:nvPr/>
        </p:nvSpPr>
        <p:spPr>
          <a:xfrm>
            <a:off x="5343525" y="4295775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duration_min</a:t>
            </a:r>
          </a:p>
        </p:txBody>
      </p:sp>
      <p:sp>
        <p:nvSpPr>
          <p:cNvPr id="71" name="text-37">
            <a:extLst>
              <a:ext uri="{FF2B5EF4-FFF2-40B4-BE49-F238E27FC236}">
                <a16:creationId xmlns:a16="http://schemas.microsoft.com/office/drawing/2014/main" id="{B35271C4-3C46-4BA6-A2CD-B34B157C4097}"/>
              </a:ext>
            </a:extLst>
          </p:cNvPr>
          <p:cNvSpPr>
            <a:spLocks noGrp="1"/>
          </p:cNvSpPr>
          <p:nvPr/>
        </p:nvSpPr>
        <p:spPr>
          <a:xfrm>
            <a:off x="495300" y="4905375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影片內容</a:t>
            </a:r>
          </a:p>
        </p:txBody>
      </p:sp>
      <p:sp>
        <p:nvSpPr>
          <p:cNvPr id="72" name="text-38">
            <a:extLst>
              <a:ext uri="{FF2B5EF4-FFF2-40B4-BE49-F238E27FC236}">
                <a16:creationId xmlns:a16="http://schemas.microsoft.com/office/drawing/2014/main" id="{E826973B-3584-4445-9B86-6E1F04DFE21A}"/>
              </a:ext>
            </a:extLst>
          </p:cNvPr>
          <p:cNvSpPr>
            <a:spLocks noGrp="1"/>
          </p:cNvSpPr>
          <p:nvPr/>
        </p:nvSpPr>
        <p:spPr>
          <a:xfrm>
            <a:off x="84455" y="5291137"/>
            <a:ext cx="27336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dirty="0"/>
              <a:t>機器初步分類＋人工確認</a:t>
            </a:r>
            <a:endParaRPr sz="1800" b="0" dirty="0">
              <a:solidFill>
                <a:srgbClr val="CDD2D8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73" name="element-39">
            <a:extLst>
              <a:ext uri="{FF2B5EF4-FFF2-40B4-BE49-F238E27FC236}">
                <a16:creationId xmlns:a16="http://schemas.microsoft.com/office/drawing/2014/main" id="{8103C621-86C5-43E4-AEF4-ADE87A10D108}"/>
              </a:ext>
            </a:extLst>
          </p:cNvPr>
          <p:cNvSpPr>
            <a:spLocks noGrp="1"/>
          </p:cNvSpPr>
          <p:nvPr/>
        </p:nvSpPr>
        <p:spPr>
          <a:xfrm>
            <a:off x="2447925" y="5238750"/>
            <a:ext cx="314325" cy="14288"/>
          </a:xfrm>
          <a:prstGeom prst="rect">
            <a:avLst/>
          </a:prstGeom>
          <a:solidFill>
            <a:srgbClr val="AAB3BE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element-40">
            <a:extLst>
              <a:ext uri="{FF2B5EF4-FFF2-40B4-BE49-F238E27FC236}">
                <a16:creationId xmlns:a16="http://schemas.microsoft.com/office/drawing/2014/main" id="{D5D54A8A-A607-4E6D-AB71-CE4DCA737CD2}"/>
              </a:ext>
            </a:extLst>
          </p:cNvPr>
          <p:cNvSpPr>
            <a:spLocks noGrp="1"/>
          </p:cNvSpPr>
          <p:nvPr/>
        </p:nvSpPr>
        <p:spPr>
          <a:xfrm>
            <a:off x="2752725" y="5229225"/>
            <a:ext cx="361950" cy="14288"/>
          </a:xfrm>
          <a:prstGeom prst="rect">
            <a:avLst/>
          </a:prstGeom>
          <a:solidFill>
            <a:srgbClr val="AAB3BE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text-41">
            <a:extLst>
              <a:ext uri="{FF2B5EF4-FFF2-40B4-BE49-F238E27FC236}">
                <a16:creationId xmlns:a16="http://schemas.microsoft.com/office/drawing/2014/main" id="{313E284A-4556-4485-ABA2-E6EDCEC1EA83}"/>
              </a:ext>
            </a:extLst>
          </p:cNvPr>
          <p:cNvSpPr>
            <a:spLocks noGrp="1"/>
          </p:cNvSpPr>
          <p:nvPr/>
        </p:nvSpPr>
        <p:spPr>
          <a:xfrm>
            <a:off x="3238500" y="5029200"/>
            <a:ext cx="202882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題材類別</a:t>
            </a:r>
          </a:p>
        </p:txBody>
      </p:sp>
      <p:sp>
        <p:nvSpPr>
          <p:cNvPr id="76" name="text-42">
            <a:extLst>
              <a:ext uri="{FF2B5EF4-FFF2-40B4-BE49-F238E27FC236}">
                <a16:creationId xmlns:a16="http://schemas.microsoft.com/office/drawing/2014/main" id="{85394D36-19B3-4B35-819A-3A47E6DBFC7F}"/>
              </a:ext>
            </a:extLst>
          </p:cNvPr>
          <p:cNvSpPr>
            <a:spLocks noGrp="1"/>
          </p:cNvSpPr>
          <p:nvPr/>
        </p:nvSpPr>
        <p:spPr>
          <a:xfrm>
            <a:off x="5343525" y="5057775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topic</a:t>
            </a:r>
          </a:p>
        </p:txBody>
      </p:sp>
      <p:sp>
        <p:nvSpPr>
          <p:cNvPr id="77" name="element-43">
            <a:extLst>
              <a:ext uri="{FF2B5EF4-FFF2-40B4-BE49-F238E27FC236}">
                <a16:creationId xmlns:a16="http://schemas.microsoft.com/office/drawing/2014/main" id="{19204765-FEAD-41DC-B755-3D81CE3FB22F}"/>
              </a:ext>
            </a:extLst>
          </p:cNvPr>
          <p:cNvSpPr>
            <a:spLocks noGrp="1"/>
          </p:cNvSpPr>
          <p:nvPr/>
        </p:nvSpPr>
        <p:spPr>
          <a:xfrm>
            <a:off x="514350" y="5610225"/>
            <a:ext cx="495300" cy="28575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text-44">
            <a:extLst>
              <a:ext uri="{FF2B5EF4-FFF2-40B4-BE49-F238E27FC236}">
                <a16:creationId xmlns:a16="http://schemas.microsoft.com/office/drawing/2014/main" id="{DD1C99F1-74C9-42EB-B522-CE7E679C4EF3}"/>
              </a:ext>
            </a:extLst>
          </p:cNvPr>
          <p:cNvSpPr>
            <a:spLocks noGrp="1"/>
          </p:cNvSpPr>
          <p:nvPr/>
        </p:nvSpPr>
        <p:spPr>
          <a:xfrm>
            <a:off x="485775" y="5743575"/>
            <a:ext cx="9715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建立特徵與最後納入模型是不同階段</a:t>
            </a:r>
          </a:p>
        </p:txBody>
      </p:sp>
      <p:sp>
        <p:nvSpPr>
          <p:cNvPr id="79" name="text-45">
            <a:extLst>
              <a:ext uri="{FF2B5EF4-FFF2-40B4-BE49-F238E27FC236}">
                <a16:creationId xmlns:a16="http://schemas.microsoft.com/office/drawing/2014/main" id="{B400FC52-8B11-4819-B70E-0161486F8F0E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rPr>
              <a:t>X 採以上 7 項；年份、上架天數用於分組或定義 y。</a:t>
            </a:r>
          </a:p>
        </p:txBody>
      </p:sp>
      <p:sp>
        <p:nvSpPr>
          <p:cNvPr id="80" name="text-46">
            <a:extLst>
              <a:ext uri="{FF2B5EF4-FFF2-40B4-BE49-F238E27FC236}">
                <a16:creationId xmlns:a16="http://schemas.microsoft.com/office/drawing/2014/main" id="{39156F20-92D8-482F-9D5A-DDB0E602C93C}"/>
              </a:ext>
            </a:extLst>
          </p:cNvPr>
          <p:cNvSpPr>
            <a:spLocks noGrp="1"/>
          </p:cNvSpPr>
          <p:nvPr/>
        </p:nvSpPr>
        <p:spPr>
          <a:xfrm>
            <a:off x="495300" y="6448425"/>
            <a:ext cx="106489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發布時間先轉台北時區；類別編碼與標準化在模型前處理階段進行。</a:t>
            </a:r>
          </a:p>
        </p:txBody>
      </p:sp>
    </p:spTree>
    <p:extLst>
      <p:ext uri="{BB962C8B-B14F-4D97-AF65-F5344CB8AC3E}">
        <p14:creationId xmlns:p14="http://schemas.microsoft.com/office/powerpoint/2010/main" val="1869710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圖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anel-161">
            <a:extLst>
              <a:ext uri="{FF2B5EF4-FFF2-40B4-BE49-F238E27FC236}">
                <a16:creationId xmlns:a16="http://schemas.microsoft.com/office/drawing/2014/main" id="{CF5105FD-2468-410A-92A6-6FA739951C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620250" cy="6858000"/>
          </a:xfrm>
          <a:prstGeom prst="rect">
            <a:avLst/>
          </a:prstGeom>
          <a:gradFill>
            <a:gsLst>
              <a:gs pos="0">
                <a:srgbClr val="091A2D">
                  <a:alpha val="28000"/>
                </a:srgbClr>
              </a:gs>
              <a:gs pos="65000">
                <a:srgbClr val="091A2D">
                  <a:alpha val="15000"/>
                </a:srgbClr>
              </a:gs>
              <a:gs pos="100000">
                <a:srgbClr val="091A2D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panel-162">
            <a:extLst>
              <a:ext uri="{FF2B5EF4-FFF2-40B4-BE49-F238E27FC236}">
                <a16:creationId xmlns:a16="http://schemas.microsoft.com/office/drawing/2014/main" id="{39C8E761-0AC4-4013-9A92-C7545CD05770}"/>
              </a:ext>
            </a:extLst>
          </p:cNvPr>
          <p:cNvSpPr>
            <a:spLocks noGrp="1"/>
          </p:cNvSpPr>
          <p:nvPr/>
        </p:nvSpPr>
        <p:spPr>
          <a:xfrm>
            <a:off x="0" y="5857875"/>
            <a:ext cx="12192000" cy="1000125"/>
          </a:xfrm>
          <a:prstGeom prst="rect">
            <a:avLst/>
          </a:prstGeom>
          <a:gradFill>
            <a:gsLst>
              <a:gs pos="0">
                <a:srgbClr val="091A2D">
                  <a:alpha val="0"/>
                </a:srgbClr>
              </a:gs>
              <a:gs pos="100000">
                <a:srgbClr val="091A2D">
                  <a:alpha val="25000"/>
                </a:srgbClr>
              </a:gs>
            </a:gsLst>
            <a:lin ang="540000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anel-163">
            <a:extLst>
              <a:ext uri="{FF2B5EF4-FFF2-40B4-BE49-F238E27FC236}">
                <a16:creationId xmlns:a16="http://schemas.microsoft.com/office/drawing/2014/main" id="{1C5F0D20-9D6A-44D9-8CD8-B1EEB67B2937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7625" cy="238125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ource-P8-0">
            <a:extLst>
              <a:ext uri="{FF2B5EF4-FFF2-40B4-BE49-F238E27FC236}">
                <a16:creationId xmlns:a16="http://schemas.microsoft.com/office/drawing/2014/main" id="{2B01D557-320A-4F3A-B536-AB4B856EB546}"/>
              </a:ext>
            </a:extLst>
          </p:cNvPr>
          <p:cNvSpPr>
            <a:spLocks noGrp="1"/>
          </p:cNvSpPr>
          <p:nvPr/>
        </p:nvSpPr>
        <p:spPr>
          <a:xfrm>
            <a:off x="647700" y="295275"/>
            <a:ext cx="105251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08 · X、y 與資料洩漏</a:t>
            </a:r>
          </a:p>
        </p:txBody>
      </p:sp>
      <p:sp>
        <p:nvSpPr>
          <p:cNvPr id="6" name="source-P8-1">
            <a:extLst>
              <a:ext uri="{FF2B5EF4-FFF2-40B4-BE49-F238E27FC236}">
                <a16:creationId xmlns:a16="http://schemas.microsoft.com/office/drawing/2014/main" id="{DB9B83F7-45A8-4A67-A69F-740086A81E78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953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7" name="source-P8-2">
            <a:extLst>
              <a:ext uri="{FF2B5EF4-FFF2-40B4-BE49-F238E27FC236}">
                <a16:creationId xmlns:a16="http://schemas.microsoft.com/office/drawing/2014/main" id="{670BFDB6-ED08-4FDA-A975-3CFCFF7693A1}"/>
              </a:ext>
            </a:extLst>
          </p:cNvPr>
          <p:cNvSpPr>
            <a:spLocks noGrp="1"/>
          </p:cNvSpPr>
          <p:nvPr/>
        </p:nvSpPr>
        <p:spPr>
          <a:xfrm>
            <a:off x="457200" y="933450"/>
            <a:ext cx="8810625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模型看什麼？答案又怎麼定義？</a:t>
            </a:r>
          </a:p>
        </p:txBody>
      </p:sp>
      <p:sp>
        <p:nvSpPr>
          <p:cNvPr id="8" name="panel-167">
            <a:extLst>
              <a:ext uri="{FF2B5EF4-FFF2-40B4-BE49-F238E27FC236}">
                <a16:creationId xmlns:a16="http://schemas.microsoft.com/office/drawing/2014/main" id="{A737D685-F19B-4741-99AE-143B7B91D251}"/>
              </a:ext>
            </a:extLst>
          </p:cNvPr>
          <p:cNvSpPr>
            <a:spLocks noGrp="1"/>
          </p:cNvSpPr>
          <p:nvPr/>
        </p:nvSpPr>
        <p:spPr>
          <a:xfrm>
            <a:off x="476250" y="1809750"/>
            <a:ext cx="3390900" cy="3476625"/>
          </a:xfrm>
          <a:prstGeom prst="roundRect">
            <a:avLst>
              <a:gd name="adj" fmla="val 3371"/>
            </a:avLst>
          </a:prstGeom>
          <a:solidFill>
            <a:srgbClr val="141B25">
              <a:alpha val="88000"/>
            </a:srgbClr>
          </a:solidFill>
          <a:ln w="9525">
            <a:solidFill>
              <a:srgbClr val="344251">
                <a:alpha val="4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panel-168">
            <a:extLst>
              <a:ext uri="{FF2B5EF4-FFF2-40B4-BE49-F238E27FC236}">
                <a16:creationId xmlns:a16="http://schemas.microsoft.com/office/drawing/2014/main" id="{A2356EE7-D05B-4AB3-804D-3B1B4AC834D4}"/>
              </a:ext>
            </a:extLst>
          </p:cNvPr>
          <p:cNvSpPr>
            <a:spLocks noGrp="1"/>
          </p:cNvSpPr>
          <p:nvPr/>
        </p:nvSpPr>
        <p:spPr>
          <a:xfrm>
            <a:off x="4000500" y="1809750"/>
            <a:ext cx="3657600" cy="3476625"/>
          </a:xfrm>
          <a:prstGeom prst="roundRect">
            <a:avLst>
              <a:gd name="adj" fmla="val 3288"/>
            </a:avLst>
          </a:prstGeom>
          <a:solidFill>
            <a:srgbClr val="141B25">
              <a:alpha val="88000"/>
            </a:srgbClr>
          </a:solidFill>
          <a:ln w="9525">
            <a:solidFill>
              <a:srgbClr val="344251">
                <a:alpha val="4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ource-P8-3">
            <a:extLst>
              <a:ext uri="{FF2B5EF4-FFF2-40B4-BE49-F238E27FC236}">
                <a16:creationId xmlns:a16="http://schemas.microsoft.com/office/drawing/2014/main" id="{07428CF1-D2BB-453B-AA2D-1CA3265DA83E}"/>
              </a:ext>
            </a:extLst>
          </p:cNvPr>
          <p:cNvSpPr>
            <a:spLocks noGrp="1"/>
          </p:cNvSpPr>
          <p:nvPr/>
        </p:nvSpPr>
        <p:spPr>
          <a:xfrm>
            <a:off x="628650" y="1933575"/>
            <a:ext cx="30861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X｜發布前可知</a:t>
            </a:r>
          </a:p>
        </p:txBody>
      </p:sp>
      <p:sp>
        <p:nvSpPr>
          <p:cNvPr id="11" name="source-P8-4">
            <a:extLst>
              <a:ext uri="{FF2B5EF4-FFF2-40B4-BE49-F238E27FC236}">
                <a16:creationId xmlns:a16="http://schemas.microsoft.com/office/drawing/2014/main" id="{AD5D5015-F894-40F0-8954-D5E2A5E31348}"/>
              </a:ext>
            </a:extLst>
          </p:cNvPr>
          <p:cNvSpPr>
            <a:spLocks noGrp="1"/>
          </p:cNvSpPr>
          <p:nvPr/>
        </p:nvSpPr>
        <p:spPr>
          <a:xfrm>
            <a:off x="628650" y="2533650"/>
            <a:ext cx="31242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topic｜題材類別</a:t>
            </a:r>
          </a:p>
        </p:txBody>
      </p:sp>
      <p:sp>
        <p:nvSpPr>
          <p:cNvPr id="12" name="source-P8-5">
            <a:extLst>
              <a:ext uri="{FF2B5EF4-FFF2-40B4-BE49-F238E27FC236}">
                <a16:creationId xmlns:a16="http://schemas.microsoft.com/office/drawing/2014/main" id="{BEEB5AAC-9183-4823-93EB-18A4417F12F8}"/>
              </a:ext>
            </a:extLst>
          </p:cNvPr>
          <p:cNvSpPr>
            <a:spLocks noGrp="1"/>
          </p:cNvSpPr>
          <p:nvPr/>
        </p:nvSpPr>
        <p:spPr>
          <a:xfrm>
            <a:off x="628650" y="2895600"/>
            <a:ext cx="31242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title_length｜標題長度</a:t>
            </a:r>
          </a:p>
        </p:txBody>
      </p:sp>
      <p:sp>
        <p:nvSpPr>
          <p:cNvPr id="13" name="source-P8-6">
            <a:extLst>
              <a:ext uri="{FF2B5EF4-FFF2-40B4-BE49-F238E27FC236}">
                <a16:creationId xmlns:a16="http://schemas.microsoft.com/office/drawing/2014/main" id="{1EC22F27-2393-4018-B6C3-B30A5F62B049}"/>
              </a:ext>
            </a:extLst>
          </p:cNvPr>
          <p:cNvSpPr>
            <a:spLocks noGrp="1"/>
          </p:cNvSpPr>
          <p:nvPr/>
        </p:nvSpPr>
        <p:spPr>
          <a:xfrm>
            <a:off x="628650" y="3257550"/>
            <a:ext cx="31242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has_number｜標題有無數字</a:t>
            </a:r>
          </a:p>
        </p:txBody>
      </p:sp>
      <p:sp>
        <p:nvSpPr>
          <p:cNvPr id="14" name="source-P8-7">
            <a:extLst>
              <a:ext uri="{FF2B5EF4-FFF2-40B4-BE49-F238E27FC236}">
                <a16:creationId xmlns:a16="http://schemas.microsoft.com/office/drawing/2014/main" id="{D1D76FB1-5250-4121-99C8-562DC5605420}"/>
              </a:ext>
            </a:extLst>
          </p:cNvPr>
          <p:cNvSpPr>
            <a:spLocks noGrp="1"/>
          </p:cNvSpPr>
          <p:nvPr/>
        </p:nvSpPr>
        <p:spPr>
          <a:xfrm>
            <a:off x="628650" y="3619500"/>
            <a:ext cx="31242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has_question｜標題有無問號</a:t>
            </a:r>
          </a:p>
        </p:txBody>
      </p:sp>
      <p:sp>
        <p:nvSpPr>
          <p:cNvPr id="15" name="source-P8-8">
            <a:extLst>
              <a:ext uri="{FF2B5EF4-FFF2-40B4-BE49-F238E27FC236}">
                <a16:creationId xmlns:a16="http://schemas.microsoft.com/office/drawing/2014/main" id="{BEC76EB2-335B-40B0-9280-3BEEC9924935}"/>
              </a:ext>
            </a:extLst>
          </p:cNvPr>
          <p:cNvSpPr>
            <a:spLocks noGrp="1"/>
          </p:cNvSpPr>
          <p:nvPr/>
        </p:nvSpPr>
        <p:spPr>
          <a:xfrm>
            <a:off x="628650" y="3981450"/>
            <a:ext cx="31242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duration_min｜影片分鐘數</a:t>
            </a:r>
          </a:p>
        </p:txBody>
      </p:sp>
      <p:sp>
        <p:nvSpPr>
          <p:cNvPr id="16" name="source-P8-9">
            <a:extLst>
              <a:ext uri="{FF2B5EF4-FFF2-40B4-BE49-F238E27FC236}">
                <a16:creationId xmlns:a16="http://schemas.microsoft.com/office/drawing/2014/main" id="{F2EF075E-7D97-454B-89DE-3E4A9F971265}"/>
              </a:ext>
            </a:extLst>
          </p:cNvPr>
          <p:cNvSpPr>
            <a:spLocks noGrp="1"/>
          </p:cNvSpPr>
          <p:nvPr/>
        </p:nvSpPr>
        <p:spPr>
          <a:xfrm>
            <a:off x="628650" y="4343400"/>
            <a:ext cx="31242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weekday｜發布星期</a:t>
            </a:r>
          </a:p>
        </p:txBody>
      </p:sp>
      <p:sp>
        <p:nvSpPr>
          <p:cNvPr id="17" name="source-P8-10">
            <a:extLst>
              <a:ext uri="{FF2B5EF4-FFF2-40B4-BE49-F238E27FC236}">
                <a16:creationId xmlns:a16="http://schemas.microsoft.com/office/drawing/2014/main" id="{D21528F2-2E9E-40DF-B61B-431D564CF16A}"/>
              </a:ext>
            </a:extLst>
          </p:cNvPr>
          <p:cNvSpPr>
            <a:spLocks noGrp="1"/>
          </p:cNvSpPr>
          <p:nvPr/>
        </p:nvSpPr>
        <p:spPr>
          <a:xfrm>
            <a:off x="628650" y="4705350"/>
            <a:ext cx="31242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publish_period｜發布時段</a:t>
            </a:r>
          </a:p>
        </p:txBody>
      </p:sp>
      <p:sp>
        <p:nvSpPr>
          <p:cNvPr id="18" name="source-P8-11">
            <a:extLst>
              <a:ext uri="{FF2B5EF4-FFF2-40B4-BE49-F238E27FC236}">
                <a16:creationId xmlns:a16="http://schemas.microsoft.com/office/drawing/2014/main" id="{6794646E-903C-4CCB-83BE-A86ECF37FE0B}"/>
              </a:ext>
            </a:extLst>
          </p:cNvPr>
          <p:cNvSpPr>
            <a:spLocks noGrp="1"/>
          </p:cNvSpPr>
          <p:nvPr/>
        </p:nvSpPr>
        <p:spPr>
          <a:xfrm>
            <a:off x="4152900" y="1933575"/>
            <a:ext cx="3352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y｜同年度相對高成效</a:t>
            </a:r>
          </a:p>
        </p:txBody>
      </p:sp>
      <p:sp>
        <p:nvSpPr>
          <p:cNvPr id="19" name="source-P8-12">
            <a:extLst>
              <a:ext uri="{FF2B5EF4-FFF2-40B4-BE49-F238E27FC236}">
                <a16:creationId xmlns:a16="http://schemas.microsoft.com/office/drawing/2014/main" id="{ECD6F825-9D8D-4344-8952-6D79D2578DF8}"/>
              </a:ext>
            </a:extLst>
          </p:cNvPr>
          <p:cNvSpPr>
            <a:spLocks noGrp="1"/>
          </p:cNvSpPr>
          <p:nvPr/>
        </p:nvSpPr>
        <p:spPr>
          <a:xfrm>
            <a:off x="4152900" y="2362200"/>
            <a:ext cx="33528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high_performance</a:t>
            </a:r>
          </a:p>
        </p:txBody>
      </p:sp>
      <p:sp>
        <p:nvSpPr>
          <p:cNvPr id="20" name="source-P8-13">
            <a:extLst>
              <a:ext uri="{FF2B5EF4-FFF2-40B4-BE49-F238E27FC236}">
                <a16:creationId xmlns:a16="http://schemas.microsoft.com/office/drawing/2014/main" id="{527139E5-4CC1-4F27-85C2-F0E49395CCA8}"/>
              </a:ext>
            </a:extLst>
          </p:cNvPr>
          <p:cNvSpPr>
            <a:spLocks noGrp="1"/>
          </p:cNvSpPr>
          <p:nvPr/>
        </p:nvSpPr>
        <p:spPr>
          <a:xfrm>
            <a:off x="4152900" y="2800350"/>
            <a:ext cx="335280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日均觀看數 views_per_day</a:t>
            </a:r>
          </a:p>
          <a:p>
            <a:pPr algn="l">
              <a:defRPr sz="1725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＝ viewCount ÷ age_days</a:t>
            </a:r>
          </a:p>
          <a:p>
            <a:pPr algn="l">
              <a:defRPr sz="1725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（觀看數 ÷ 上架天數）</a:t>
            </a:r>
          </a:p>
        </p:txBody>
      </p:sp>
      <p:sp>
        <p:nvSpPr>
          <p:cNvPr id="21" name="source-P8-14">
            <a:extLst>
              <a:ext uri="{FF2B5EF4-FFF2-40B4-BE49-F238E27FC236}">
                <a16:creationId xmlns:a16="http://schemas.microsoft.com/office/drawing/2014/main" id="{0894A13D-34E3-4C9D-9FF9-237F52A40BAC}"/>
              </a:ext>
            </a:extLst>
          </p:cNvPr>
          <p:cNvSpPr>
            <a:spLocks noGrp="1"/>
          </p:cNvSpPr>
          <p:nvPr/>
        </p:nvSpPr>
        <p:spPr>
          <a:xfrm>
            <a:off x="4152900" y="3876675"/>
            <a:ext cx="3352800" cy="1019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2020–2025 各年度內排序</a:t>
            </a:r>
          </a:p>
          <a:p>
            <a:pPr algn="l">
              <a:defRPr sz="187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前 25% → High = 1</a:t>
            </a:r>
          </a:p>
          <a:p>
            <a:pPr algn="l">
              <a:defRPr sz="187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其餘 → Normal = 0</a:t>
            </a:r>
          </a:p>
        </p:txBody>
      </p:sp>
      <p:sp>
        <p:nvSpPr>
          <p:cNvPr id="22" name="source-P8-15">
            <a:extLst>
              <a:ext uri="{FF2B5EF4-FFF2-40B4-BE49-F238E27FC236}">
                <a16:creationId xmlns:a16="http://schemas.microsoft.com/office/drawing/2014/main" id="{7B31C2BF-A137-49C3-8BBB-2C5F1AF09F2E}"/>
              </a:ext>
            </a:extLst>
          </p:cNvPr>
          <p:cNvSpPr>
            <a:spLocks noGrp="1"/>
          </p:cNvSpPr>
          <p:nvPr/>
        </p:nvSpPr>
        <p:spPr>
          <a:xfrm>
            <a:off x="504825" y="5457825"/>
            <a:ext cx="37338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104 部一般（Normal）</a:t>
            </a:r>
          </a:p>
        </p:txBody>
      </p:sp>
      <p:sp>
        <p:nvSpPr>
          <p:cNvPr id="23" name="source-P8-16">
            <a:extLst>
              <a:ext uri="{FF2B5EF4-FFF2-40B4-BE49-F238E27FC236}">
                <a16:creationId xmlns:a16="http://schemas.microsoft.com/office/drawing/2014/main" id="{5E4C8683-5ECA-424B-988F-878C0D1BEE0F}"/>
              </a:ext>
            </a:extLst>
          </p:cNvPr>
          <p:cNvSpPr>
            <a:spLocks noGrp="1"/>
          </p:cNvSpPr>
          <p:nvPr/>
        </p:nvSpPr>
        <p:spPr>
          <a:xfrm>
            <a:off x="4219575" y="5457825"/>
            <a:ext cx="3619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38 部高成效（High）</a:t>
            </a:r>
          </a:p>
        </p:txBody>
      </p:sp>
      <p:sp>
        <p:nvSpPr>
          <p:cNvPr id="24" name="source-P8-17">
            <a:extLst>
              <a:ext uri="{FF2B5EF4-FFF2-40B4-BE49-F238E27FC236}">
                <a16:creationId xmlns:a16="http://schemas.microsoft.com/office/drawing/2014/main" id="{36052D8F-20B9-4D32-BB04-3AD97D3844AA}"/>
              </a:ext>
            </a:extLst>
          </p:cNvPr>
          <p:cNvSpPr>
            <a:spLocks noGrp="1"/>
          </p:cNvSpPr>
          <p:nvPr/>
        </p:nvSpPr>
        <p:spPr>
          <a:xfrm>
            <a:off x="504825" y="5981700"/>
            <a:ext cx="761047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觀看數 viewCount、按讚數 likeCount、留言數 commentCount</a:t>
            </a:r>
          </a:p>
        </p:txBody>
      </p:sp>
      <p:sp>
        <p:nvSpPr>
          <p:cNvPr id="25" name="source-P8-18">
            <a:extLst>
              <a:ext uri="{FF2B5EF4-FFF2-40B4-BE49-F238E27FC236}">
                <a16:creationId xmlns:a16="http://schemas.microsoft.com/office/drawing/2014/main" id="{246BB7EB-94FC-457F-97C0-14B262ED9D19}"/>
              </a:ext>
            </a:extLst>
          </p:cNvPr>
          <p:cNvSpPr>
            <a:spLocks noGrp="1"/>
          </p:cNvSpPr>
          <p:nvPr/>
        </p:nvSpPr>
        <p:spPr>
          <a:xfrm>
            <a:off x="504825" y="6286500"/>
            <a:ext cx="100012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發布後才知道，不放入 X。資料洩漏（Data Leakage）＝先把部分答案告訴模型。</a:t>
            </a:r>
          </a:p>
        </p:txBody>
      </p:sp>
      <p:sp>
        <p:nvSpPr>
          <p:cNvPr id="26" name="source-P8-19">
            <a:extLst>
              <a:ext uri="{FF2B5EF4-FFF2-40B4-BE49-F238E27FC236}">
                <a16:creationId xmlns:a16="http://schemas.microsoft.com/office/drawing/2014/main" id="{5A663386-6D77-42B0-957B-0FC7C7B2F306}"/>
              </a:ext>
            </a:extLst>
          </p:cNvPr>
          <p:cNvSpPr>
            <a:spLocks noGrp="1"/>
          </p:cNvSpPr>
          <p:nvPr/>
        </p:nvSpPr>
        <p:spPr>
          <a:xfrm>
            <a:off x="504825" y="6657975"/>
            <a:ext cx="10191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各年度前 25% 部數向上取整；2026 不建立正式 y。</a:t>
            </a:r>
          </a:p>
        </p:txBody>
      </p:sp>
    </p:spTree>
    <p:extLst>
      <p:ext uri="{BB962C8B-B14F-4D97-AF65-F5344CB8AC3E}">
        <p14:creationId xmlns:p14="http://schemas.microsoft.com/office/powerpoint/2010/main" val="907099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圖片 4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anel-186">
            <a:extLst>
              <a:ext uri="{FF2B5EF4-FFF2-40B4-BE49-F238E27FC236}">
                <a16:creationId xmlns:a16="http://schemas.microsoft.com/office/drawing/2014/main" id="{D1875FF7-7A8B-4644-91CF-A9A080A2FA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620250" cy="6858000"/>
          </a:xfrm>
          <a:prstGeom prst="rect">
            <a:avLst/>
          </a:prstGeom>
          <a:gradFill>
            <a:gsLst>
              <a:gs pos="0">
                <a:srgbClr val="091A2D">
                  <a:alpha val="28000"/>
                </a:srgbClr>
              </a:gs>
              <a:gs pos="65000">
                <a:srgbClr val="091A2D">
                  <a:alpha val="15000"/>
                </a:srgbClr>
              </a:gs>
              <a:gs pos="100000">
                <a:srgbClr val="091A2D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panel-187">
            <a:extLst>
              <a:ext uri="{FF2B5EF4-FFF2-40B4-BE49-F238E27FC236}">
                <a16:creationId xmlns:a16="http://schemas.microsoft.com/office/drawing/2014/main" id="{B7BCC7FD-CEE3-4768-A69B-27A79232E06A}"/>
              </a:ext>
            </a:extLst>
          </p:cNvPr>
          <p:cNvSpPr>
            <a:spLocks noGrp="1"/>
          </p:cNvSpPr>
          <p:nvPr/>
        </p:nvSpPr>
        <p:spPr>
          <a:xfrm>
            <a:off x="0" y="5857875"/>
            <a:ext cx="12192000" cy="1000125"/>
          </a:xfrm>
          <a:prstGeom prst="rect">
            <a:avLst/>
          </a:prstGeom>
          <a:gradFill>
            <a:gsLst>
              <a:gs pos="0">
                <a:srgbClr val="091A2D">
                  <a:alpha val="0"/>
                </a:srgbClr>
              </a:gs>
              <a:gs pos="100000">
                <a:srgbClr val="091A2D">
                  <a:alpha val="25000"/>
                </a:srgbClr>
              </a:gs>
            </a:gsLst>
            <a:lin ang="540000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anel-188">
            <a:extLst>
              <a:ext uri="{FF2B5EF4-FFF2-40B4-BE49-F238E27FC236}">
                <a16:creationId xmlns:a16="http://schemas.microsoft.com/office/drawing/2014/main" id="{A5E06A4D-BB63-4DB3-B3F8-EB9E2E43D8B7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7625" cy="238125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ource-P9-0">
            <a:extLst>
              <a:ext uri="{FF2B5EF4-FFF2-40B4-BE49-F238E27FC236}">
                <a16:creationId xmlns:a16="http://schemas.microsoft.com/office/drawing/2014/main" id="{DCED63D4-22B9-4B10-A8B0-C5020A8D1B88}"/>
              </a:ext>
            </a:extLst>
          </p:cNvPr>
          <p:cNvSpPr>
            <a:spLocks noGrp="1"/>
          </p:cNvSpPr>
          <p:nvPr/>
        </p:nvSpPr>
        <p:spPr>
          <a:xfrm>
            <a:off x="647700" y="295275"/>
            <a:ext cx="105251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09 · 機器學習設計</a:t>
            </a:r>
          </a:p>
        </p:txBody>
      </p:sp>
      <p:sp>
        <p:nvSpPr>
          <p:cNvPr id="6" name="source-P9-1">
            <a:extLst>
              <a:ext uri="{FF2B5EF4-FFF2-40B4-BE49-F238E27FC236}">
                <a16:creationId xmlns:a16="http://schemas.microsoft.com/office/drawing/2014/main" id="{8493B78E-0DD6-4BC1-967D-262D5FD593C1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953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sp>
        <p:nvSpPr>
          <p:cNvPr id="7" name="source-P9-2">
            <a:extLst>
              <a:ext uri="{FF2B5EF4-FFF2-40B4-BE49-F238E27FC236}">
                <a16:creationId xmlns:a16="http://schemas.microsoft.com/office/drawing/2014/main" id="{95B90E5D-270D-40F0-9CF2-BCEC92B8DB71}"/>
              </a:ext>
            </a:extLst>
          </p:cNvPr>
          <p:cNvSpPr>
            <a:spLocks noGrp="1"/>
          </p:cNvSpPr>
          <p:nvPr/>
        </p:nvSpPr>
        <p:spPr>
          <a:xfrm>
            <a:off x="457200" y="933450"/>
            <a:ext cx="8810625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機器學習設計：如何分類 High / Normal？</a:t>
            </a:r>
          </a:p>
        </p:txBody>
      </p:sp>
      <p:sp>
        <p:nvSpPr>
          <p:cNvPr id="8" name="source-P9-3">
            <a:extLst>
              <a:ext uri="{FF2B5EF4-FFF2-40B4-BE49-F238E27FC236}">
                <a16:creationId xmlns:a16="http://schemas.microsoft.com/office/drawing/2014/main" id="{30B7BF66-8294-4694-9DFE-A8B0BD52089A}"/>
              </a:ext>
            </a:extLst>
          </p:cNvPr>
          <p:cNvSpPr>
            <a:spLocks noGrp="1"/>
          </p:cNvSpPr>
          <p:nvPr/>
        </p:nvSpPr>
        <p:spPr>
          <a:xfrm>
            <a:off x="495300" y="1647825"/>
            <a:ext cx="835342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二元分類：高成效／一般；不是預測連續觀看數。</a:t>
            </a:r>
          </a:p>
        </p:txBody>
      </p:sp>
      <p:sp>
        <p:nvSpPr>
          <p:cNvPr id="9" name="source-P9-4">
            <a:extLst>
              <a:ext uri="{FF2B5EF4-FFF2-40B4-BE49-F238E27FC236}">
                <a16:creationId xmlns:a16="http://schemas.microsoft.com/office/drawing/2014/main" id="{D91083D5-CD2E-45F8-B048-0755B2729B71}"/>
              </a:ext>
            </a:extLst>
          </p:cNvPr>
          <p:cNvSpPr>
            <a:spLocks noGrp="1"/>
          </p:cNvSpPr>
          <p:nvPr/>
        </p:nvSpPr>
        <p:spPr>
          <a:xfrm>
            <a:off x="495300" y="2095500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2020–2025：142 部</a:t>
            </a:r>
          </a:p>
        </p:txBody>
      </p:sp>
      <p:sp>
        <p:nvSpPr>
          <p:cNvPr id="10" name="source-P9-5">
            <a:extLst>
              <a:ext uri="{FF2B5EF4-FFF2-40B4-BE49-F238E27FC236}">
                <a16:creationId xmlns:a16="http://schemas.microsoft.com/office/drawing/2014/main" id="{788BC6EC-D43B-41AB-B566-ECF16DC92937}"/>
              </a:ext>
            </a:extLst>
          </p:cNvPr>
          <p:cNvSpPr>
            <a:spLocks noGrp="1"/>
          </p:cNvSpPr>
          <p:nvPr/>
        </p:nvSpPr>
        <p:spPr>
          <a:xfrm>
            <a:off x="495300" y="2438400"/>
            <a:ext cx="38957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High 38／Normal 104</a:t>
            </a:r>
          </a:p>
        </p:txBody>
      </p:sp>
      <p:sp>
        <p:nvSpPr>
          <p:cNvPr id="11" name="source-P9-6">
            <a:extLst>
              <a:ext uri="{FF2B5EF4-FFF2-40B4-BE49-F238E27FC236}">
                <a16:creationId xmlns:a16="http://schemas.microsoft.com/office/drawing/2014/main" id="{E812A22F-4DA0-4AF0-8673-C0865CA3AF59}"/>
              </a:ext>
            </a:extLst>
          </p:cNvPr>
          <p:cNvSpPr>
            <a:spLocks noGrp="1"/>
          </p:cNvSpPr>
          <p:nvPr/>
        </p:nvSpPr>
        <p:spPr>
          <a:xfrm>
            <a:off x="4181475" y="24098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↓</a:t>
            </a:r>
          </a:p>
        </p:txBody>
      </p:sp>
      <p:sp>
        <p:nvSpPr>
          <p:cNvPr id="12" name="source-P9-7">
            <a:extLst>
              <a:ext uri="{FF2B5EF4-FFF2-40B4-BE49-F238E27FC236}">
                <a16:creationId xmlns:a16="http://schemas.microsoft.com/office/drawing/2014/main" id="{32168E05-0B9F-4F6B-A7E5-5F72BF4D7EBF}"/>
              </a:ext>
            </a:extLst>
          </p:cNvPr>
          <p:cNvSpPr>
            <a:spLocks noGrp="1"/>
          </p:cNvSpPr>
          <p:nvPr/>
        </p:nvSpPr>
        <p:spPr>
          <a:xfrm>
            <a:off x="495300" y="2743200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訓練集 113／測試集 29</a:t>
            </a:r>
          </a:p>
        </p:txBody>
      </p:sp>
      <p:sp>
        <p:nvSpPr>
          <p:cNvPr id="13" name="source-P9-8">
            <a:extLst>
              <a:ext uri="{FF2B5EF4-FFF2-40B4-BE49-F238E27FC236}">
                <a16:creationId xmlns:a16="http://schemas.microsoft.com/office/drawing/2014/main" id="{759D9AE8-472C-4D02-AEDE-4D3FEF7E5E90}"/>
              </a:ext>
            </a:extLst>
          </p:cNvPr>
          <p:cNvSpPr>
            <a:spLocks noGrp="1"/>
          </p:cNvSpPr>
          <p:nvPr/>
        </p:nvSpPr>
        <p:spPr>
          <a:xfrm>
            <a:off x="495300" y="3086100"/>
            <a:ext cx="38957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Train / Test，依類別比例切分</a:t>
            </a:r>
          </a:p>
        </p:txBody>
      </p:sp>
      <p:sp>
        <p:nvSpPr>
          <p:cNvPr id="14" name="source-P9-9">
            <a:extLst>
              <a:ext uri="{FF2B5EF4-FFF2-40B4-BE49-F238E27FC236}">
                <a16:creationId xmlns:a16="http://schemas.microsoft.com/office/drawing/2014/main" id="{4AA82BB1-5569-4655-AB5B-A73A953A9E5D}"/>
              </a:ext>
            </a:extLst>
          </p:cNvPr>
          <p:cNvSpPr>
            <a:spLocks noGrp="1"/>
          </p:cNvSpPr>
          <p:nvPr/>
        </p:nvSpPr>
        <p:spPr>
          <a:xfrm>
            <a:off x="4181475" y="30575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↓</a:t>
            </a:r>
          </a:p>
        </p:txBody>
      </p:sp>
      <p:sp>
        <p:nvSpPr>
          <p:cNvPr id="15" name="source-P9-10">
            <a:extLst>
              <a:ext uri="{FF2B5EF4-FFF2-40B4-BE49-F238E27FC236}">
                <a16:creationId xmlns:a16="http://schemas.microsoft.com/office/drawing/2014/main" id="{F2F8EAE6-012F-44B4-8693-F417DDA6ADBE}"/>
              </a:ext>
            </a:extLst>
          </p:cNvPr>
          <p:cNvSpPr>
            <a:spLocks noGrp="1"/>
          </p:cNvSpPr>
          <p:nvPr/>
        </p:nvSpPr>
        <p:spPr>
          <a:xfrm>
            <a:off x="495300" y="3390900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資料前處理</a:t>
            </a:r>
          </a:p>
        </p:txBody>
      </p:sp>
      <p:sp>
        <p:nvSpPr>
          <p:cNvPr id="16" name="source-P9-11">
            <a:extLst>
              <a:ext uri="{FF2B5EF4-FFF2-40B4-BE49-F238E27FC236}">
                <a16:creationId xmlns:a16="http://schemas.microsoft.com/office/drawing/2014/main" id="{393D46E4-BA3A-4906-99DB-B248582FE5D4}"/>
              </a:ext>
            </a:extLst>
          </p:cNvPr>
          <p:cNvSpPr>
            <a:spLocks noGrp="1"/>
          </p:cNvSpPr>
          <p:nvPr/>
        </p:nvSpPr>
        <p:spPr>
          <a:xfrm>
            <a:off x="495300" y="3733800"/>
            <a:ext cx="38957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獨熱編碼（One-Hot Encoding）</a:t>
            </a:r>
          </a:p>
          <a:p>
            <a:pPr algn="l">
              <a:def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類別轉成模型可讀取的 0／1</a:t>
            </a:r>
          </a:p>
        </p:txBody>
      </p:sp>
      <p:sp>
        <p:nvSpPr>
          <p:cNvPr id="17" name="source-P9-12">
            <a:extLst>
              <a:ext uri="{FF2B5EF4-FFF2-40B4-BE49-F238E27FC236}">
                <a16:creationId xmlns:a16="http://schemas.microsoft.com/office/drawing/2014/main" id="{36EE229C-3B4D-443B-91AA-2B618B16997D}"/>
              </a:ext>
            </a:extLst>
          </p:cNvPr>
          <p:cNvSpPr>
            <a:spLocks noGrp="1"/>
          </p:cNvSpPr>
          <p:nvPr/>
        </p:nvSpPr>
        <p:spPr>
          <a:xfrm>
            <a:off x="4181475" y="37052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↓</a:t>
            </a:r>
          </a:p>
        </p:txBody>
      </p:sp>
      <p:sp>
        <p:nvSpPr>
          <p:cNvPr id="18" name="source-P9-13">
            <a:extLst>
              <a:ext uri="{FF2B5EF4-FFF2-40B4-BE49-F238E27FC236}">
                <a16:creationId xmlns:a16="http://schemas.microsoft.com/office/drawing/2014/main" id="{501E0B15-EE4A-452D-ADEE-3CCE18A0E978}"/>
              </a:ext>
            </a:extLst>
          </p:cNvPr>
          <p:cNvSpPr>
            <a:spLocks noGrp="1"/>
          </p:cNvSpPr>
          <p:nvPr/>
        </p:nvSpPr>
        <p:spPr>
          <a:xfrm>
            <a:off x="495300" y="4362450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兩種分類模型</a:t>
            </a:r>
          </a:p>
        </p:txBody>
      </p:sp>
      <p:sp>
        <p:nvSpPr>
          <p:cNvPr id="19" name="source-P9-14">
            <a:extLst>
              <a:ext uri="{FF2B5EF4-FFF2-40B4-BE49-F238E27FC236}">
                <a16:creationId xmlns:a16="http://schemas.microsoft.com/office/drawing/2014/main" id="{EB55A983-7CEA-42FB-99DD-706015178A0F}"/>
              </a:ext>
            </a:extLst>
          </p:cNvPr>
          <p:cNvSpPr>
            <a:spLocks noGrp="1"/>
          </p:cNvSpPr>
          <p:nvPr/>
        </p:nvSpPr>
        <p:spPr>
          <a:xfrm>
            <a:off x="495300" y="4705350"/>
            <a:ext cx="38957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邏輯斯迴歸（LR）／隨機森林（RF）</a:t>
            </a:r>
          </a:p>
        </p:txBody>
      </p:sp>
      <p:sp>
        <p:nvSpPr>
          <p:cNvPr id="20" name="source-P9-15">
            <a:extLst>
              <a:ext uri="{FF2B5EF4-FFF2-40B4-BE49-F238E27FC236}">
                <a16:creationId xmlns:a16="http://schemas.microsoft.com/office/drawing/2014/main" id="{FF73FE96-6E8C-47F1-8ABE-0EEF5423DED1}"/>
              </a:ext>
            </a:extLst>
          </p:cNvPr>
          <p:cNvSpPr>
            <a:spLocks noGrp="1"/>
          </p:cNvSpPr>
          <p:nvPr/>
        </p:nvSpPr>
        <p:spPr>
          <a:xfrm>
            <a:off x="4181475" y="467677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↓</a:t>
            </a:r>
          </a:p>
        </p:txBody>
      </p:sp>
      <p:sp>
        <p:nvSpPr>
          <p:cNvPr id="21" name="source-P9-16">
            <a:extLst>
              <a:ext uri="{FF2B5EF4-FFF2-40B4-BE49-F238E27FC236}">
                <a16:creationId xmlns:a16="http://schemas.microsoft.com/office/drawing/2014/main" id="{C0D9C2E2-CAA9-4FC3-8867-230AF576188E}"/>
              </a:ext>
            </a:extLst>
          </p:cNvPr>
          <p:cNvSpPr>
            <a:spLocks noGrp="1"/>
          </p:cNvSpPr>
          <p:nvPr/>
        </p:nvSpPr>
        <p:spPr>
          <a:xfrm>
            <a:off x="495300" y="5010150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模型評估</a:t>
            </a:r>
          </a:p>
        </p:txBody>
      </p:sp>
      <p:sp>
        <p:nvSpPr>
          <p:cNvPr id="22" name="source-P9-17">
            <a:extLst>
              <a:ext uri="{FF2B5EF4-FFF2-40B4-BE49-F238E27FC236}">
                <a16:creationId xmlns:a16="http://schemas.microsoft.com/office/drawing/2014/main" id="{93D1FC2E-8821-4D19-B622-83BD0CBA4F85}"/>
              </a:ext>
            </a:extLst>
          </p:cNvPr>
          <p:cNvSpPr>
            <a:spLocks noGrp="1"/>
          </p:cNvSpPr>
          <p:nvPr/>
        </p:nvSpPr>
        <p:spPr>
          <a:xfrm>
            <a:off x="495300" y="5353050"/>
            <a:ext cx="38957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固定測試集，觀察答對與錯在哪裡</a:t>
            </a:r>
          </a:p>
        </p:txBody>
      </p:sp>
      <p:sp>
        <p:nvSpPr>
          <p:cNvPr id="23" name="source-P9-18">
            <a:extLst>
              <a:ext uri="{FF2B5EF4-FFF2-40B4-BE49-F238E27FC236}">
                <a16:creationId xmlns:a16="http://schemas.microsoft.com/office/drawing/2014/main" id="{91BA3776-E65E-4D1B-A764-1364AC42E521}"/>
              </a:ext>
            </a:extLst>
          </p:cNvPr>
          <p:cNvSpPr>
            <a:spLocks noGrp="1"/>
          </p:cNvSpPr>
          <p:nvPr/>
        </p:nvSpPr>
        <p:spPr>
          <a:xfrm>
            <a:off x="4181475" y="532447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↓</a:t>
            </a:r>
          </a:p>
        </p:txBody>
      </p:sp>
      <p:sp>
        <p:nvSpPr>
          <p:cNvPr id="24" name="source-P9-19">
            <a:extLst>
              <a:ext uri="{FF2B5EF4-FFF2-40B4-BE49-F238E27FC236}">
                <a16:creationId xmlns:a16="http://schemas.microsoft.com/office/drawing/2014/main" id="{2ED8CFD4-7947-4C6B-871C-8CF9F951422E}"/>
              </a:ext>
            </a:extLst>
          </p:cNvPr>
          <p:cNvSpPr>
            <a:spLocks noGrp="1"/>
          </p:cNvSpPr>
          <p:nvPr/>
        </p:nvSpPr>
        <p:spPr>
          <a:xfrm>
            <a:off x="495300" y="5657850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五折交叉驗證</a:t>
            </a:r>
          </a:p>
        </p:txBody>
      </p:sp>
      <p:sp>
        <p:nvSpPr>
          <p:cNvPr id="25" name="source-P9-20">
            <a:extLst>
              <a:ext uri="{FF2B5EF4-FFF2-40B4-BE49-F238E27FC236}">
                <a16:creationId xmlns:a16="http://schemas.microsoft.com/office/drawing/2014/main" id="{4DD26B26-47A8-4DA4-B4E9-750D3611D09C}"/>
              </a:ext>
            </a:extLst>
          </p:cNvPr>
          <p:cNvSpPr>
            <a:spLocks noGrp="1"/>
          </p:cNvSpPr>
          <p:nvPr/>
        </p:nvSpPr>
        <p:spPr>
          <a:xfrm>
            <a:off x="495300" y="6000750"/>
            <a:ext cx="38957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訓練資料分五批、輪流驗證</a:t>
            </a:r>
          </a:p>
          <a:p>
            <a:pPr algn="l">
              <a:def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5-fold Cross Validation</a:t>
            </a:r>
          </a:p>
        </p:txBody>
      </p:sp>
      <p:sp>
        <p:nvSpPr>
          <p:cNvPr id="26" name="panel-210">
            <a:extLst>
              <a:ext uri="{FF2B5EF4-FFF2-40B4-BE49-F238E27FC236}">
                <a16:creationId xmlns:a16="http://schemas.microsoft.com/office/drawing/2014/main" id="{5BD54B78-334E-4298-900F-1959D72B60DD}"/>
              </a:ext>
            </a:extLst>
          </p:cNvPr>
          <p:cNvSpPr>
            <a:spLocks noGrp="1"/>
          </p:cNvSpPr>
          <p:nvPr/>
        </p:nvSpPr>
        <p:spPr>
          <a:xfrm>
            <a:off x="4629150" y="2143125"/>
            <a:ext cx="4095750" cy="4171950"/>
          </a:xfrm>
          <a:prstGeom prst="roundRect">
            <a:avLst>
              <a:gd name="adj" fmla="val 2791"/>
            </a:avLst>
          </a:prstGeom>
          <a:solidFill>
            <a:srgbClr val="141B25">
              <a:alpha val="85000"/>
            </a:srgbClr>
          </a:solidFill>
          <a:ln w="9525">
            <a:solidFill>
              <a:srgbClr val="344251">
                <a:alpha val="4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ource-P9-21">
            <a:extLst>
              <a:ext uri="{FF2B5EF4-FFF2-40B4-BE49-F238E27FC236}">
                <a16:creationId xmlns:a16="http://schemas.microsoft.com/office/drawing/2014/main" id="{10737DA7-2BA6-4FA3-9D65-9BACB7D3E697}"/>
              </a:ext>
            </a:extLst>
          </p:cNvPr>
          <p:cNvSpPr>
            <a:spLocks noGrp="1"/>
          </p:cNvSpPr>
          <p:nvPr/>
        </p:nvSpPr>
        <p:spPr>
          <a:xfrm>
            <a:off x="4781550" y="2266950"/>
            <a:ext cx="37814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評估指標怎麼看？</a:t>
            </a:r>
          </a:p>
        </p:txBody>
      </p:sp>
      <p:sp>
        <p:nvSpPr>
          <p:cNvPr id="28" name="source-P9-22">
            <a:extLst>
              <a:ext uri="{FF2B5EF4-FFF2-40B4-BE49-F238E27FC236}">
                <a16:creationId xmlns:a16="http://schemas.microsoft.com/office/drawing/2014/main" id="{C5796FE0-C06A-414A-99E4-D577EE680FF5}"/>
              </a:ext>
            </a:extLst>
          </p:cNvPr>
          <p:cNvSpPr>
            <a:spLocks noGrp="1"/>
          </p:cNvSpPr>
          <p:nvPr/>
        </p:nvSpPr>
        <p:spPr>
          <a:xfrm>
            <a:off x="4781550" y="2762250"/>
            <a:ext cx="37814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正確率 Accuracy</a:t>
            </a:r>
          </a:p>
        </p:txBody>
      </p:sp>
      <p:sp>
        <p:nvSpPr>
          <p:cNvPr id="29" name="source-P9-23">
            <a:extLst>
              <a:ext uri="{FF2B5EF4-FFF2-40B4-BE49-F238E27FC236}">
                <a16:creationId xmlns:a16="http://schemas.microsoft.com/office/drawing/2014/main" id="{97CAA2C4-2845-4A87-A61E-A88CFB47F2E9}"/>
              </a:ext>
            </a:extLst>
          </p:cNvPr>
          <p:cNvSpPr>
            <a:spLocks noGrp="1"/>
          </p:cNvSpPr>
          <p:nvPr/>
        </p:nvSpPr>
        <p:spPr>
          <a:xfrm>
            <a:off x="4781550" y="3038475"/>
            <a:ext cx="378142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全部影片中，模型答對多少</a:t>
            </a:r>
          </a:p>
        </p:txBody>
      </p:sp>
      <p:sp>
        <p:nvSpPr>
          <p:cNvPr id="30" name="source-P9-24">
            <a:extLst>
              <a:ext uri="{FF2B5EF4-FFF2-40B4-BE49-F238E27FC236}">
                <a16:creationId xmlns:a16="http://schemas.microsoft.com/office/drawing/2014/main" id="{108A3799-3A40-4C50-8CE1-E857627408D7}"/>
              </a:ext>
            </a:extLst>
          </p:cNvPr>
          <p:cNvSpPr>
            <a:spLocks noGrp="1"/>
          </p:cNvSpPr>
          <p:nvPr/>
        </p:nvSpPr>
        <p:spPr>
          <a:xfrm>
            <a:off x="4781550" y="3314700"/>
            <a:ext cx="37814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精準率 Precision</a:t>
            </a:r>
          </a:p>
        </p:txBody>
      </p:sp>
      <p:sp>
        <p:nvSpPr>
          <p:cNvPr id="31" name="source-P9-25">
            <a:extLst>
              <a:ext uri="{FF2B5EF4-FFF2-40B4-BE49-F238E27FC236}">
                <a16:creationId xmlns:a16="http://schemas.microsoft.com/office/drawing/2014/main" id="{FE8186BC-4E65-43D1-82D3-371FFEC04D10}"/>
              </a:ext>
            </a:extLst>
          </p:cNvPr>
          <p:cNvSpPr>
            <a:spLocks noGrp="1"/>
          </p:cNvSpPr>
          <p:nvPr/>
        </p:nvSpPr>
        <p:spPr>
          <a:xfrm>
            <a:off x="4781550" y="3590925"/>
            <a:ext cx="378142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模型判 High 的，有多少真的 High</a:t>
            </a:r>
          </a:p>
        </p:txBody>
      </p:sp>
      <p:sp>
        <p:nvSpPr>
          <p:cNvPr id="32" name="source-P9-26">
            <a:extLst>
              <a:ext uri="{FF2B5EF4-FFF2-40B4-BE49-F238E27FC236}">
                <a16:creationId xmlns:a16="http://schemas.microsoft.com/office/drawing/2014/main" id="{C15CD5D4-99E0-40FB-AF89-43F883EE2950}"/>
              </a:ext>
            </a:extLst>
          </p:cNvPr>
          <p:cNvSpPr>
            <a:spLocks noGrp="1"/>
          </p:cNvSpPr>
          <p:nvPr/>
        </p:nvSpPr>
        <p:spPr>
          <a:xfrm>
            <a:off x="4781550" y="3867150"/>
            <a:ext cx="37814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召回率 Recall</a:t>
            </a:r>
          </a:p>
        </p:txBody>
      </p:sp>
      <p:sp>
        <p:nvSpPr>
          <p:cNvPr id="33" name="source-P9-27">
            <a:extLst>
              <a:ext uri="{FF2B5EF4-FFF2-40B4-BE49-F238E27FC236}">
                <a16:creationId xmlns:a16="http://schemas.microsoft.com/office/drawing/2014/main" id="{840515EC-F7C9-438C-82B5-7A7F4E38CBB3}"/>
              </a:ext>
            </a:extLst>
          </p:cNvPr>
          <p:cNvSpPr>
            <a:spLocks noGrp="1"/>
          </p:cNvSpPr>
          <p:nvPr/>
        </p:nvSpPr>
        <p:spPr>
          <a:xfrm>
            <a:off x="4781550" y="4143375"/>
            <a:ext cx="378142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真正 High 的，模型抓到多少</a:t>
            </a:r>
          </a:p>
        </p:txBody>
      </p:sp>
      <p:sp>
        <p:nvSpPr>
          <p:cNvPr id="34" name="source-P9-28">
            <a:extLst>
              <a:ext uri="{FF2B5EF4-FFF2-40B4-BE49-F238E27FC236}">
                <a16:creationId xmlns:a16="http://schemas.microsoft.com/office/drawing/2014/main" id="{CB452610-A1F4-421A-A13F-35883F08DB39}"/>
              </a:ext>
            </a:extLst>
          </p:cNvPr>
          <p:cNvSpPr>
            <a:spLocks noGrp="1"/>
          </p:cNvSpPr>
          <p:nvPr/>
        </p:nvSpPr>
        <p:spPr>
          <a:xfrm>
            <a:off x="4781550" y="4419600"/>
            <a:ext cx="37814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F1 分數</a:t>
            </a:r>
          </a:p>
        </p:txBody>
      </p:sp>
      <p:sp>
        <p:nvSpPr>
          <p:cNvPr id="35" name="source-P9-29">
            <a:extLst>
              <a:ext uri="{FF2B5EF4-FFF2-40B4-BE49-F238E27FC236}">
                <a16:creationId xmlns:a16="http://schemas.microsoft.com/office/drawing/2014/main" id="{5AB1C7A4-9BF2-4864-BBD0-959D6BD68605}"/>
              </a:ext>
            </a:extLst>
          </p:cNvPr>
          <p:cNvSpPr>
            <a:spLocks noGrp="1"/>
          </p:cNvSpPr>
          <p:nvPr/>
        </p:nvSpPr>
        <p:spPr>
          <a:xfrm>
            <a:off x="4781550" y="4695825"/>
            <a:ext cx="378142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精準率與召回率的綜合分數</a:t>
            </a:r>
          </a:p>
        </p:txBody>
      </p:sp>
      <p:sp>
        <p:nvSpPr>
          <p:cNvPr id="36" name="source-P9-30">
            <a:extLst>
              <a:ext uri="{FF2B5EF4-FFF2-40B4-BE49-F238E27FC236}">
                <a16:creationId xmlns:a16="http://schemas.microsoft.com/office/drawing/2014/main" id="{E76C2B92-B6D0-4874-B23B-3C82AA954367}"/>
              </a:ext>
            </a:extLst>
          </p:cNvPr>
          <p:cNvSpPr>
            <a:spLocks noGrp="1"/>
          </p:cNvSpPr>
          <p:nvPr/>
        </p:nvSpPr>
        <p:spPr>
          <a:xfrm>
            <a:off x="4781550" y="4972050"/>
            <a:ext cx="37814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ROC-AUC｜區辨能力</a:t>
            </a:r>
          </a:p>
        </p:txBody>
      </p:sp>
      <p:sp>
        <p:nvSpPr>
          <p:cNvPr id="37" name="source-P9-31">
            <a:extLst>
              <a:ext uri="{FF2B5EF4-FFF2-40B4-BE49-F238E27FC236}">
                <a16:creationId xmlns:a16="http://schemas.microsoft.com/office/drawing/2014/main" id="{7CC6DC00-43DA-4122-A368-C44DAAC01838}"/>
              </a:ext>
            </a:extLst>
          </p:cNvPr>
          <p:cNvSpPr>
            <a:spLocks noGrp="1"/>
          </p:cNvSpPr>
          <p:nvPr/>
        </p:nvSpPr>
        <p:spPr>
          <a:xfrm>
            <a:off x="4781550" y="5248275"/>
            <a:ext cx="378142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不同判定門檻下的區分能力</a:t>
            </a:r>
          </a:p>
        </p:txBody>
      </p:sp>
      <p:sp>
        <p:nvSpPr>
          <p:cNvPr id="38" name="source-P9-32">
            <a:extLst>
              <a:ext uri="{FF2B5EF4-FFF2-40B4-BE49-F238E27FC236}">
                <a16:creationId xmlns:a16="http://schemas.microsoft.com/office/drawing/2014/main" id="{818AC725-6388-4A98-8D2B-707340BED61F}"/>
              </a:ext>
            </a:extLst>
          </p:cNvPr>
          <p:cNvSpPr>
            <a:spLocks noGrp="1"/>
          </p:cNvSpPr>
          <p:nvPr/>
        </p:nvSpPr>
        <p:spPr>
          <a:xfrm>
            <a:off x="4781550" y="5524500"/>
            <a:ext cx="37814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混淆矩陣 Confusion Matrix</a:t>
            </a:r>
          </a:p>
        </p:txBody>
      </p:sp>
      <p:sp>
        <p:nvSpPr>
          <p:cNvPr id="39" name="source-P9-33">
            <a:extLst>
              <a:ext uri="{FF2B5EF4-FFF2-40B4-BE49-F238E27FC236}">
                <a16:creationId xmlns:a16="http://schemas.microsoft.com/office/drawing/2014/main" id="{F89BA55E-E6A3-478C-A43E-5B791E98C95E}"/>
              </a:ext>
            </a:extLst>
          </p:cNvPr>
          <p:cNvSpPr>
            <a:spLocks noGrp="1"/>
          </p:cNvSpPr>
          <p:nvPr/>
        </p:nvSpPr>
        <p:spPr>
          <a:xfrm>
            <a:off x="4781550" y="5800725"/>
            <a:ext cx="378142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看答對、誤報與漏報</a:t>
            </a:r>
          </a:p>
        </p:txBody>
      </p:sp>
      <p:sp>
        <p:nvSpPr>
          <p:cNvPr id="40" name="source-P9-34">
            <a:extLst>
              <a:ext uri="{FF2B5EF4-FFF2-40B4-BE49-F238E27FC236}">
                <a16:creationId xmlns:a16="http://schemas.microsoft.com/office/drawing/2014/main" id="{482B9487-2771-4CBA-83B8-198DA4FBA89B}"/>
              </a:ext>
            </a:extLst>
          </p:cNvPr>
          <p:cNvSpPr>
            <a:spLocks noGrp="1"/>
          </p:cNvSpPr>
          <p:nvPr/>
        </p:nvSpPr>
        <p:spPr>
          <a:xfrm>
            <a:off x="495300" y="6591300"/>
            <a:ext cx="106680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LR：常用二元分類，較容易解釋特徵方向；RF：多棵樹綜合判斷，處理較複雜的特徵組合。</a:t>
            </a:r>
          </a:p>
        </p:txBody>
      </p:sp>
    </p:spTree>
    <p:extLst>
      <p:ext uri="{BB962C8B-B14F-4D97-AF65-F5344CB8AC3E}">
        <p14:creationId xmlns:p14="http://schemas.microsoft.com/office/powerpoint/2010/main" val="1591505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圖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element-47">
            <a:extLst>
              <a:ext uri="{FF2B5EF4-FFF2-40B4-BE49-F238E27FC236}">
                <a16:creationId xmlns:a16="http://schemas.microsoft.com/office/drawing/2014/main" id="{691FA6CA-262B-4ADA-857D-CC1934AFF1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96250" cy="6858000"/>
          </a:xfrm>
          <a:prstGeom prst="rect">
            <a:avLst/>
          </a:prstGeom>
          <a:gradFill>
            <a:gsLst>
              <a:gs pos="0">
                <a:srgbClr val="05101E">
                  <a:alpha val="42000"/>
                </a:srgbClr>
              </a:gs>
              <a:gs pos="68000">
                <a:srgbClr val="05101E">
                  <a:alpha val="32000"/>
                </a:srgbClr>
              </a:gs>
              <a:gs pos="100000">
                <a:srgbClr val="05101E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element-48">
            <a:extLst>
              <a:ext uri="{FF2B5EF4-FFF2-40B4-BE49-F238E27FC236}">
                <a16:creationId xmlns:a16="http://schemas.microsoft.com/office/drawing/2014/main" id="{A96234F7-775C-448B-A40A-67F2F65D5D34}"/>
              </a:ext>
            </a:extLst>
          </p:cNvPr>
          <p:cNvSpPr>
            <a:spLocks noGrp="1"/>
          </p:cNvSpPr>
          <p:nvPr/>
        </p:nvSpPr>
        <p:spPr>
          <a:xfrm>
            <a:off x="152400" y="2324100"/>
            <a:ext cx="7524750" cy="3362325"/>
          </a:xfrm>
          <a:prstGeom prst="rect">
            <a:avLst/>
          </a:prstGeom>
          <a:gradFill>
            <a:gsLst>
              <a:gs pos="0">
                <a:srgbClr val="05101E">
                  <a:alpha val="62000"/>
                </a:srgbClr>
              </a:gs>
              <a:gs pos="63000">
                <a:srgbClr val="05101E">
                  <a:alpha val="36000"/>
                </a:srgbClr>
              </a:gs>
              <a:gs pos="100000">
                <a:srgbClr val="05101E">
                  <a:alpha val="0"/>
                </a:srgbClr>
              </a:gs>
            </a:gsLst>
            <a:path path="shape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element-49">
            <a:extLst>
              <a:ext uri="{FF2B5EF4-FFF2-40B4-BE49-F238E27FC236}">
                <a16:creationId xmlns:a16="http://schemas.microsoft.com/office/drawing/2014/main" id="{97FE6421-B600-4400-BD7B-2C2EE1657FD9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7625" cy="238125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-50">
            <a:extLst>
              <a:ext uri="{FF2B5EF4-FFF2-40B4-BE49-F238E27FC236}">
                <a16:creationId xmlns:a16="http://schemas.microsoft.com/office/drawing/2014/main" id="{503D40AC-E5C9-4D2E-9C72-566B2DE0F091}"/>
              </a:ext>
            </a:extLst>
          </p:cNvPr>
          <p:cNvSpPr>
            <a:spLocks noGrp="1"/>
          </p:cNvSpPr>
          <p:nvPr/>
        </p:nvSpPr>
        <p:spPr>
          <a:xfrm>
            <a:off x="657225" y="28575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10 · 探索性資料分析（EDA）：題材</a:t>
            </a:r>
          </a:p>
        </p:txBody>
      </p:sp>
      <p:sp>
        <p:nvSpPr>
          <p:cNvPr id="20" name="text-51">
            <a:extLst>
              <a:ext uri="{FF2B5EF4-FFF2-40B4-BE49-F238E27FC236}">
                <a16:creationId xmlns:a16="http://schemas.microsoft.com/office/drawing/2014/main" id="{3599C4A4-2F2C-4FB0-9F32-788B9C3D959A}"/>
              </a:ext>
            </a:extLst>
          </p:cNvPr>
          <p:cNvSpPr>
            <a:spLocks noGrp="1"/>
          </p:cNvSpPr>
          <p:nvPr/>
        </p:nvSpPr>
        <p:spPr>
          <a:xfrm>
            <a:off x="476250" y="933450"/>
            <a:ext cx="1057275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不同題材的歷史高成效率</a:t>
            </a:r>
          </a:p>
        </p:txBody>
      </p:sp>
      <p:sp>
        <p:nvSpPr>
          <p:cNvPr id="21" name="text-52">
            <a:extLst>
              <a:ext uri="{FF2B5EF4-FFF2-40B4-BE49-F238E27FC236}">
                <a16:creationId xmlns:a16="http://schemas.microsoft.com/office/drawing/2014/main" id="{EFD8BBA2-05B0-4812-B2F9-4D8B269B5576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953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22" name="text-53">
            <a:extLst>
              <a:ext uri="{FF2B5EF4-FFF2-40B4-BE49-F238E27FC236}">
                <a16:creationId xmlns:a16="http://schemas.microsoft.com/office/drawing/2014/main" id="{8C7E709F-624B-44EF-8BDA-6DC00577D44B}"/>
              </a:ext>
            </a:extLst>
          </p:cNvPr>
          <p:cNvSpPr>
            <a:spLocks noGrp="1"/>
          </p:cNvSpPr>
          <p:nvPr/>
        </p:nvSpPr>
        <p:spPr>
          <a:xfrm>
            <a:off x="504825" y="1666875"/>
            <a:ext cx="72009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rPr>
              <a:t>2020–2025｜142 部歷史影片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="419100" y="2362200"/>
          <a:ext cx="71628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-54">
            <a:extLst>
              <a:ext uri="{FF2B5EF4-FFF2-40B4-BE49-F238E27FC236}">
                <a16:creationId xmlns:a16="http://schemas.microsoft.com/office/drawing/2014/main" id="{F51AC80F-8DB3-4ABB-AEEB-A9424F0FDD00}"/>
              </a:ext>
            </a:extLst>
          </p:cNvPr>
          <p:cNvSpPr>
            <a:spLocks noGrp="1"/>
          </p:cNvSpPr>
          <p:nvPr/>
        </p:nvSpPr>
        <p:spPr>
          <a:xfrm>
            <a:off x="495300" y="5734050"/>
            <a:ext cx="71342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總體經濟／國際的高成效率最高</a:t>
            </a:r>
          </a:p>
        </p:txBody>
      </p:sp>
      <p:sp>
        <p:nvSpPr>
          <p:cNvPr id="25" name="text-55">
            <a:extLst>
              <a:ext uri="{FF2B5EF4-FFF2-40B4-BE49-F238E27FC236}">
                <a16:creationId xmlns:a16="http://schemas.microsoft.com/office/drawing/2014/main" id="{DBA12751-9ADB-4CFA-9657-35738459EFB6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7096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rPr>
              <a:t>描述性比較，不代表因果關係</a:t>
            </a:r>
          </a:p>
        </p:txBody>
      </p:sp>
      <p:sp>
        <p:nvSpPr>
          <p:cNvPr id="26" name="text-56">
            <a:extLst>
              <a:ext uri="{FF2B5EF4-FFF2-40B4-BE49-F238E27FC236}">
                <a16:creationId xmlns:a16="http://schemas.microsoft.com/office/drawing/2014/main" id="{14669F78-2CAA-4B43-B1BB-B2003CFD4F45}"/>
              </a:ext>
            </a:extLst>
          </p:cNvPr>
          <p:cNvSpPr>
            <a:spLocks noGrp="1"/>
          </p:cNvSpPr>
          <p:nvPr/>
        </p:nvSpPr>
        <p:spPr>
          <a:xfrm>
            <a:off x="495300" y="6553200"/>
            <a:ext cx="105727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支數為 High／該類總數；「其他」n=17。</a:t>
            </a:r>
          </a:p>
        </p:txBody>
      </p:sp>
    </p:spTree>
    <p:extLst>
      <p:ext uri="{BB962C8B-B14F-4D97-AF65-F5344CB8AC3E}">
        <p14:creationId xmlns:p14="http://schemas.microsoft.com/office/powerpoint/2010/main" val="1980461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圖片 1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anel-237">
            <a:extLst>
              <a:ext uri="{FF2B5EF4-FFF2-40B4-BE49-F238E27FC236}">
                <a16:creationId xmlns:a16="http://schemas.microsoft.com/office/drawing/2014/main" id="{FA513182-60A6-4BA5-BBDA-EC3294C9F6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620250" cy="6858000"/>
          </a:xfrm>
          <a:prstGeom prst="rect">
            <a:avLst/>
          </a:prstGeom>
          <a:gradFill>
            <a:gsLst>
              <a:gs pos="0">
                <a:srgbClr val="091A2D">
                  <a:alpha val="28000"/>
                </a:srgbClr>
              </a:gs>
              <a:gs pos="65000">
                <a:srgbClr val="091A2D">
                  <a:alpha val="15000"/>
                </a:srgbClr>
              </a:gs>
              <a:gs pos="100000">
                <a:srgbClr val="091A2D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panel-238">
            <a:extLst>
              <a:ext uri="{FF2B5EF4-FFF2-40B4-BE49-F238E27FC236}">
                <a16:creationId xmlns:a16="http://schemas.microsoft.com/office/drawing/2014/main" id="{C643BCC3-6635-41C8-AC5D-F9F20AA2573E}"/>
              </a:ext>
            </a:extLst>
          </p:cNvPr>
          <p:cNvSpPr>
            <a:spLocks noGrp="1"/>
          </p:cNvSpPr>
          <p:nvPr/>
        </p:nvSpPr>
        <p:spPr>
          <a:xfrm>
            <a:off x="0" y="5857875"/>
            <a:ext cx="12192000" cy="1000125"/>
          </a:xfrm>
          <a:prstGeom prst="rect">
            <a:avLst/>
          </a:prstGeom>
          <a:gradFill>
            <a:gsLst>
              <a:gs pos="0">
                <a:srgbClr val="091A2D">
                  <a:alpha val="0"/>
                </a:srgbClr>
              </a:gs>
              <a:gs pos="100000">
                <a:srgbClr val="091A2D">
                  <a:alpha val="25000"/>
                </a:srgbClr>
              </a:gs>
            </a:gsLst>
            <a:lin ang="540000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anel-239">
            <a:extLst>
              <a:ext uri="{FF2B5EF4-FFF2-40B4-BE49-F238E27FC236}">
                <a16:creationId xmlns:a16="http://schemas.microsoft.com/office/drawing/2014/main" id="{C9FD2908-5195-4772-BF5E-F2A5E5B6F741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7625" cy="238125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ource-P11-0">
            <a:extLst>
              <a:ext uri="{FF2B5EF4-FFF2-40B4-BE49-F238E27FC236}">
                <a16:creationId xmlns:a16="http://schemas.microsoft.com/office/drawing/2014/main" id="{CECAD3DA-78C7-40E9-9874-83F813F63E83}"/>
              </a:ext>
            </a:extLst>
          </p:cNvPr>
          <p:cNvSpPr>
            <a:spLocks noGrp="1"/>
          </p:cNvSpPr>
          <p:nvPr/>
        </p:nvSpPr>
        <p:spPr>
          <a:xfrm>
            <a:off x="647700" y="295275"/>
            <a:ext cx="105251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11 · 探索性資料分析：片長、標題與發布時間</a:t>
            </a:r>
          </a:p>
        </p:txBody>
      </p:sp>
      <p:sp>
        <p:nvSpPr>
          <p:cNvPr id="6" name="source-P11-1">
            <a:extLst>
              <a:ext uri="{FF2B5EF4-FFF2-40B4-BE49-F238E27FC236}">
                <a16:creationId xmlns:a16="http://schemas.microsoft.com/office/drawing/2014/main" id="{2CAD8507-9532-4CD3-A731-4EA485D1F583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953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7" name="source-P11-2">
            <a:extLst>
              <a:ext uri="{FF2B5EF4-FFF2-40B4-BE49-F238E27FC236}">
                <a16:creationId xmlns:a16="http://schemas.microsoft.com/office/drawing/2014/main" id="{E9D3ED91-94F6-4571-9D75-87906E737B20}"/>
              </a:ext>
            </a:extLst>
          </p:cNvPr>
          <p:cNvSpPr>
            <a:spLocks noGrp="1"/>
          </p:cNvSpPr>
          <p:nvPr/>
        </p:nvSpPr>
        <p:spPr>
          <a:xfrm>
            <a:off x="457200" y="933450"/>
            <a:ext cx="8810625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片長是目前較值得注意的差異</a:t>
            </a:r>
          </a:p>
        </p:txBody>
      </p:sp>
      <p:sp>
        <p:nvSpPr>
          <p:cNvPr id="8" name="panel-243">
            <a:extLst>
              <a:ext uri="{FF2B5EF4-FFF2-40B4-BE49-F238E27FC236}">
                <a16:creationId xmlns:a16="http://schemas.microsoft.com/office/drawing/2014/main" id="{AF60F227-50C2-4C15-B4C7-1D37EF80592F}"/>
              </a:ext>
            </a:extLst>
          </p:cNvPr>
          <p:cNvSpPr>
            <a:spLocks noGrp="1"/>
          </p:cNvSpPr>
          <p:nvPr/>
        </p:nvSpPr>
        <p:spPr>
          <a:xfrm>
            <a:off x="476250" y="1905000"/>
            <a:ext cx="7162800" cy="3019425"/>
          </a:xfrm>
          <a:prstGeom prst="roundRect">
            <a:avLst>
              <a:gd name="adj" fmla="val 3785"/>
            </a:avLst>
          </a:prstGeom>
          <a:solidFill>
            <a:srgbClr val="141B25">
              <a:alpha val="100000"/>
            </a:srgbClr>
          </a:solidFill>
          <a:ln w="9525">
            <a:solidFill>
              <a:srgbClr val="344251">
                <a:alpha val="4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ource-P11-3">
            <a:extLst>
              <a:ext uri="{FF2B5EF4-FFF2-40B4-BE49-F238E27FC236}">
                <a16:creationId xmlns:a16="http://schemas.microsoft.com/office/drawing/2014/main" id="{16806D36-87E0-479B-A01E-0AD71109035B}"/>
              </a:ext>
            </a:extLst>
          </p:cNvPr>
          <p:cNvSpPr>
            <a:spLocks noGrp="1"/>
          </p:cNvSpPr>
          <p:nvPr/>
        </p:nvSpPr>
        <p:spPr>
          <a:xfrm>
            <a:off x="619125" y="2009775"/>
            <a:ext cx="33147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22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25.34 分鐘</a:t>
            </a:r>
          </a:p>
        </p:txBody>
      </p:sp>
      <p:sp>
        <p:nvSpPr>
          <p:cNvPr id="10" name="source-P11-4">
            <a:extLst>
              <a:ext uri="{FF2B5EF4-FFF2-40B4-BE49-F238E27FC236}">
                <a16:creationId xmlns:a16="http://schemas.microsoft.com/office/drawing/2014/main" id="{403D1852-042B-4284-9A4B-1DE4FD04F0B8}"/>
              </a:ext>
            </a:extLst>
          </p:cNvPr>
          <p:cNvSpPr>
            <a:spLocks noGrp="1"/>
          </p:cNvSpPr>
          <p:nvPr/>
        </p:nvSpPr>
        <p:spPr>
          <a:xfrm>
            <a:off x="4143375" y="2009775"/>
            <a:ext cx="333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225" b="1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18.73 分鐘</a:t>
            </a:r>
          </a:p>
        </p:txBody>
      </p:sp>
      <p:sp>
        <p:nvSpPr>
          <p:cNvPr id="11" name="source-P11-5">
            <a:extLst>
              <a:ext uri="{FF2B5EF4-FFF2-40B4-BE49-F238E27FC236}">
                <a16:creationId xmlns:a16="http://schemas.microsoft.com/office/drawing/2014/main" id="{0E3FE3FC-E11D-482A-8B65-34AC5AC5297D}"/>
              </a:ext>
            </a:extLst>
          </p:cNvPr>
          <p:cNvSpPr>
            <a:spLocks noGrp="1"/>
          </p:cNvSpPr>
          <p:nvPr/>
        </p:nvSpPr>
        <p:spPr>
          <a:xfrm>
            <a:off x="647700" y="2600325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高成效組（High）平均片長</a:t>
            </a:r>
          </a:p>
        </p:txBody>
      </p:sp>
      <p:sp>
        <p:nvSpPr>
          <p:cNvPr id="12" name="source-P11-6">
            <a:extLst>
              <a:ext uri="{FF2B5EF4-FFF2-40B4-BE49-F238E27FC236}">
                <a16:creationId xmlns:a16="http://schemas.microsoft.com/office/drawing/2014/main" id="{A895548B-7CC1-4A4D-875D-9CD9BFE3CB8A}"/>
              </a:ext>
            </a:extLst>
          </p:cNvPr>
          <p:cNvSpPr>
            <a:spLocks noGrp="1"/>
          </p:cNvSpPr>
          <p:nvPr/>
        </p:nvSpPr>
        <p:spPr>
          <a:xfrm>
            <a:off x="4171950" y="2600325"/>
            <a:ext cx="328612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一般組（Normal）平均片長</a:t>
            </a:r>
          </a:p>
        </p:txBody>
      </p:sp>
      <p:pic>
        <p:nvPicPr>
          <p:cNvPr id="31" name="圖片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472439" y="2952750"/>
            <a:ext cx="5160896" cy="1895475"/>
          </a:xfrm>
          <a:prstGeom prst="rect">
            <a:avLst/>
          </a:prstGeom>
        </p:spPr>
      </p:pic>
      <p:sp>
        <p:nvSpPr>
          <p:cNvPr id="14" name="source-P11-7">
            <a:extLst>
              <a:ext uri="{FF2B5EF4-FFF2-40B4-BE49-F238E27FC236}">
                <a16:creationId xmlns:a16="http://schemas.microsoft.com/office/drawing/2014/main" id="{9026DDF3-DB98-473F-BD35-EABD6E022A2C}"/>
              </a:ext>
            </a:extLst>
          </p:cNvPr>
          <p:cNvSpPr>
            <a:spLocks noGrp="1"/>
          </p:cNvSpPr>
          <p:nvPr/>
        </p:nvSpPr>
        <p:spPr>
          <a:xfrm>
            <a:off x="485775" y="5038725"/>
            <a:ext cx="27432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+6.60 分鐘</a:t>
            </a:r>
          </a:p>
        </p:txBody>
      </p:sp>
      <p:sp>
        <p:nvSpPr>
          <p:cNvPr id="15" name="source-P11-8">
            <a:extLst>
              <a:ext uri="{FF2B5EF4-FFF2-40B4-BE49-F238E27FC236}">
                <a16:creationId xmlns:a16="http://schemas.microsoft.com/office/drawing/2014/main" id="{7B5FEADD-C3D7-491E-84A0-4601F4B73612}"/>
              </a:ext>
            </a:extLst>
          </p:cNvPr>
          <p:cNvSpPr>
            <a:spLocks noGrp="1"/>
          </p:cNvSpPr>
          <p:nvPr/>
        </p:nvSpPr>
        <p:spPr>
          <a:xfrm>
            <a:off x="3238500" y="5095875"/>
            <a:ext cx="44196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仍需搭配題材與標題一起看</a:t>
            </a:r>
          </a:p>
        </p:txBody>
      </p:sp>
      <p:sp>
        <p:nvSpPr>
          <p:cNvPr id="16" name="source-P11-9">
            <a:extLst>
              <a:ext uri="{FF2B5EF4-FFF2-40B4-BE49-F238E27FC236}">
                <a16:creationId xmlns:a16="http://schemas.microsoft.com/office/drawing/2014/main" id="{C6072512-EFD5-4FA9-819B-B97D3A6A01EE}"/>
              </a:ext>
            </a:extLst>
          </p:cNvPr>
          <p:cNvSpPr>
            <a:spLocks noGrp="1"/>
          </p:cNvSpPr>
          <p:nvPr/>
        </p:nvSpPr>
        <p:spPr>
          <a:xfrm>
            <a:off x="514350" y="5581650"/>
            <a:ext cx="3648075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標題字數：高成效 20.11／一般 21.59</a:t>
            </a:r>
          </a:p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中位數皆 19 字元</a:t>
            </a:r>
          </a:p>
        </p:txBody>
      </p:sp>
      <p:sp>
        <p:nvSpPr>
          <p:cNvPr id="17" name="source-P11-10">
            <a:extLst>
              <a:ext uri="{FF2B5EF4-FFF2-40B4-BE49-F238E27FC236}">
                <a16:creationId xmlns:a16="http://schemas.microsoft.com/office/drawing/2014/main" id="{BB54BC28-4F04-4FCA-9EB8-8E1109E64A63}"/>
              </a:ext>
            </a:extLst>
          </p:cNvPr>
          <p:cNvSpPr>
            <a:spLocks noGrp="1"/>
          </p:cNvSpPr>
          <p:nvPr/>
        </p:nvSpPr>
        <p:spPr>
          <a:xfrm>
            <a:off x="4419600" y="5581650"/>
            <a:ext cx="3209925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星期四高成效率 50%（n=4）</a:t>
            </a:r>
          </a:p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深夜高成效率 60%（n=5）</a:t>
            </a:r>
          </a:p>
        </p:txBody>
      </p:sp>
      <p:sp>
        <p:nvSpPr>
          <p:cNvPr id="18" name="source-P11-11">
            <a:extLst>
              <a:ext uri="{FF2B5EF4-FFF2-40B4-BE49-F238E27FC236}">
                <a16:creationId xmlns:a16="http://schemas.microsoft.com/office/drawing/2014/main" id="{9AB17B92-DBEF-40BD-90A6-BBA47768210B}"/>
              </a:ext>
            </a:extLst>
          </p:cNvPr>
          <p:cNvSpPr>
            <a:spLocks noGrp="1"/>
          </p:cNvSpPr>
          <p:nvPr/>
        </p:nvSpPr>
        <p:spPr>
          <a:xfrm>
            <a:off x="476250" y="642937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本頁為描述性比較，不代表因果；標題長度與發布時間的證據不足以形成強策略。</a:t>
            </a:r>
          </a:p>
        </p:txBody>
      </p:sp>
    </p:spTree>
    <p:extLst>
      <p:ext uri="{BB962C8B-B14F-4D97-AF65-F5344CB8AC3E}">
        <p14:creationId xmlns:p14="http://schemas.microsoft.com/office/powerpoint/2010/main" val="2112955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background-extension-P12"/>
          <p:cNvPicPr>
            <a:picLocks noChangeAspect="1"/>
          </p:cNvPicPr>
          <p:nvPr/>
        </p:nvPicPr>
        <p:blipFill>
          <a:blip r:embed="rId3">
            <a:alphaModFix/>
          </a:blip>
          <a:srcRect l="58000" t="8000" r="21000" b="74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blur rad="9525" grow="0"/>
          </a:effectLst>
        </p:spPr>
      </p:pic>
      <p:sp>
        <p:nvSpPr>
          <p:cNvPr id="85" name="background-texture-shade-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30914">
                  <a:alpha val="0"/>
                </a:srgbClr>
              </a:gs>
              <a:gs pos="42000">
                <a:srgbClr val="030914">
                  <a:alpha val="20000"/>
                </a:srgbClr>
              </a:gs>
              <a:gs pos="70000">
                <a:srgbClr val="030914">
                  <a:alpha val="42000"/>
                </a:srgbClr>
              </a:gs>
              <a:gs pos="100000">
                <a:srgbClr val="030914">
                  <a:alpha val="2300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3" name="圖片 82"/>
          <p:cNvPicPr>
            <a:picLocks noChangeAspect="1"/>
          </p:cNvPicPr>
          <p:nvPr/>
        </p:nvPicPr>
        <p:blipFill>
          <a:blip r:embed="rId3"/>
          <a:srcRect l="64922"/>
          <a:stretch>
            <a:fillRect/>
          </a:stretch>
        </p:blipFill>
        <p:spPr>
          <a:xfrm>
            <a:off x="0" y="0"/>
            <a:ext cx="4276725" cy="6858000"/>
          </a:xfrm>
          <a:prstGeom prst="rect">
            <a:avLst/>
          </a:prstGeom>
          <a:effectLst>
            <a:softEdge rad="342900"/>
          </a:effectLst>
        </p:spPr>
      </p:pic>
      <p:sp>
        <p:nvSpPr>
          <p:cNvPr id="44" name="layout-36">
            <a:extLst>
              <a:ext uri="{FF2B5EF4-FFF2-40B4-BE49-F238E27FC236}">
                <a16:creationId xmlns:a16="http://schemas.microsoft.com/office/drawing/2014/main" id="{05E48E05-DAC9-4C9B-AE95-5FE91F2020F4}"/>
              </a:ext>
            </a:extLst>
          </p:cNvPr>
          <p:cNvSpPr>
            <a:spLocks noGrp="1"/>
          </p:cNvSpPr>
          <p:nvPr/>
        </p:nvSpPr>
        <p:spPr>
          <a:xfrm>
            <a:off x="3381375" y="0"/>
            <a:ext cx="1428750" cy="6858000"/>
          </a:xfrm>
          <a:prstGeom prst="rect">
            <a:avLst/>
          </a:prstGeom>
          <a:gradFill>
            <a:gsLst>
              <a:gs pos="0">
                <a:srgbClr val="080E19">
                  <a:alpha val="0"/>
                </a:srgbClr>
              </a:gs>
              <a:gs pos="100000">
                <a:srgbClr val="080E19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source-P12-0">
            <a:extLst>
              <a:ext uri="{FF2B5EF4-FFF2-40B4-BE49-F238E27FC236}">
                <a16:creationId xmlns:a16="http://schemas.microsoft.com/office/drawing/2014/main" id="{4418B64C-B1C7-476A-93D6-66448F7CCE57}"/>
              </a:ext>
            </a:extLst>
          </p:cNvPr>
          <p:cNvSpPr>
            <a:spLocks noGrp="1"/>
          </p:cNvSpPr>
          <p:nvPr/>
        </p:nvSpPr>
        <p:spPr>
          <a:xfrm>
            <a:off x="657225" y="2381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12 · 模型一：主報模型</a:t>
            </a:r>
          </a:p>
        </p:txBody>
      </p:sp>
      <p:sp>
        <p:nvSpPr>
          <p:cNvPr id="46" name="source-P12-1">
            <a:extLst>
              <a:ext uri="{FF2B5EF4-FFF2-40B4-BE49-F238E27FC236}">
                <a16:creationId xmlns:a16="http://schemas.microsoft.com/office/drawing/2014/main" id="{9C861727-C168-47C5-BB50-A036A1167817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47" name="source-P12-2">
            <a:extLst>
              <a:ext uri="{FF2B5EF4-FFF2-40B4-BE49-F238E27FC236}">
                <a16:creationId xmlns:a16="http://schemas.microsoft.com/office/drawing/2014/main" id="{510E5EC3-72C7-4557-95FD-54D2D75D8CBB}"/>
              </a:ext>
            </a:extLst>
          </p:cNvPr>
          <p:cNvSpPr>
            <a:spLocks noGrp="1"/>
          </p:cNvSpPr>
          <p:nvPr/>
        </p:nvSpPr>
        <p:spPr>
          <a:xfrm>
            <a:off x="4676775" y="771525"/>
            <a:ext cx="7077075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模型一：LR</a:t>
            </a:r>
          </a:p>
        </p:txBody>
      </p:sp>
      <p:sp>
        <p:nvSpPr>
          <p:cNvPr id="48" name="layout-37">
            <a:extLst>
              <a:ext uri="{FF2B5EF4-FFF2-40B4-BE49-F238E27FC236}">
                <a16:creationId xmlns:a16="http://schemas.microsoft.com/office/drawing/2014/main" id="{B3666F46-1DC9-4136-9E2D-E629505A5252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7625" cy="228600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ource-P12-3">
            <a:extLst>
              <a:ext uri="{FF2B5EF4-FFF2-40B4-BE49-F238E27FC236}">
                <a16:creationId xmlns:a16="http://schemas.microsoft.com/office/drawing/2014/main" id="{FF165DEC-657A-4560-A11A-68D0FF18FD16}"/>
              </a:ext>
            </a:extLst>
          </p:cNvPr>
          <p:cNvSpPr>
            <a:spLocks noGrp="1"/>
          </p:cNvSpPr>
          <p:nvPr/>
        </p:nvSpPr>
        <p:spPr>
          <a:xfrm>
            <a:off x="4676775" y="1400175"/>
            <a:ext cx="70675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LR：常見的二元分類模型</a:t>
            </a:r>
          </a:p>
        </p:txBody>
      </p:sp>
      <p:sp>
        <p:nvSpPr>
          <p:cNvPr id="50" name="source-P12-4">
            <a:extLst>
              <a:ext uri="{FF2B5EF4-FFF2-40B4-BE49-F238E27FC236}">
                <a16:creationId xmlns:a16="http://schemas.microsoft.com/office/drawing/2014/main" id="{4AD2BE2D-156C-4035-A002-16CF1CD3F689}"/>
              </a:ext>
            </a:extLst>
          </p:cNvPr>
          <p:cNvSpPr>
            <a:spLocks noGrp="1"/>
          </p:cNvSpPr>
          <p:nvPr/>
        </p:nvSpPr>
        <p:spPr>
          <a:xfrm>
            <a:off x="4676775" y="1809750"/>
            <a:ext cx="7096125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依發布前特徵判斷 High／Normal，門檻 0.60</a:t>
            </a:r>
          </a:p>
          <a:p>
            <a:pPr algn="l">
              <a:def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採類別平衡權重（class_weight = balanced）</a:t>
            </a:r>
          </a:p>
        </p:txBody>
      </p:sp>
      <p:sp>
        <p:nvSpPr>
          <p:cNvPr id="51" name="source-P12-5">
            <a:extLst>
              <a:ext uri="{FF2B5EF4-FFF2-40B4-BE49-F238E27FC236}">
                <a16:creationId xmlns:a16="http://schemas.microsoft.com/office/drawing/2014/main" id="{BEAD77C3-D8C8-49FB-9CFA-6F41DE7E6535}"/>
              </a:ext>
            </a:extLst>
          </p:cNvPr>
          <p:cNvSpPr>
            <a:spLocks noGrp="1"/>
          </p:cNvSpPr>
          <p:nvPr/>
        </p:nvSpPr>
        <p:spPr>
          <a:xfrm>
            <a:off x="4676775" y="262890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版本</a:t>
            </a:r>
          </a:p>
        </p:txBody>
      </p:sp>
      <p:sp>
        <p:nvSpPr>
          <p:cNvPr id="52" name="source-P12-6">
            <a:extLst>
              <a:ext uri="{FF2B5EF4-FFF2-40B4-BE49-F238E27FC236}">
                <a16:creationId xmlns:a16="http://schemas.microsoft.com/office/drawing/2014/main" id="{A143E666-3B9C-4EDE-A06B-2E6B06CB3272}"/>
              </a:ext>
            </a:extLst>
          </p:cNvPr>
          <p:cNvSpPr>
            <a:spLocks noGrp="1"/>
          </p:cNvSpPr>
          <p:nvPr/>
        </p:nvSpPr>
        <p:spPr>
          <a:xfrm>
            <a:off x="6562725" y="262890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正確率</a:t>
            </a:r>
          </a:p>
        </p:txBody>
      </p:sp>
      <p:sp>
        <p:nvSpPr>
          <p:cNvPr id="53" name="source-P12-7">
            <a:extLst>
              <a:ext uri="{FF2B5EF4-FFF2-40B4-BE49-F238E27FC236}">
                <a16:creationId xmlns:a16="http://schemas.microsoft.com/office/drawing/2014/main" id="{A3A52F62-4E23-4C80-9182-BBDBEAC48910}"/>
              </a:ext>
            </a:extLst>
          </p:cNvPr>
          <p:cNvSpPr>
            <a:spLocks noGrp="1"/>
          </p:cNvSpPr>
          <p:nvPr/>
        </p:nvSpPr>
        <p:spPr>
          <a:xfrm>
            <a:off x="8353425" y="262890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召回率</a:t>
            </a:r>
          </a:p>
        </p:txBody>
      </p:sp>
      <p:sp>
        <p:nvSpPr>
          <p:cNvPr id="54" name="source-P12-8">
            <a:extLst>
              <a:ext uri="{FF2B5EF4-FFF2-40B4-BE49-F238E27FC236}">
                <a16:creationId xmlns:a16="http://schemas.microsoft.com/office/drawing/2014/main" id="{3DDE4D73-3CB8-4947-8D22-E5D58A9294FC}"/>
              </a:ext>
            </a:extLst>
          </p:cNvPr>
          <p:cNvSpPr>
            <a:spLocks noGrp="1"/>
          </p:cNvSpPr>
          <p:nvPr/>
        </p:nvSpPr>
        <p:spPr>
          <a:xfrm>
            <a:off x="10048875" y="262890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F1</a:t>
            </a:r>
          </a:p>
        </p:txBody>
      </p:sp>
      <p:sp>
        <p:nvSpPr>
          <p:cNvPr id="55" name="source-P12-9">
            <a:extLst>
              <a:ext uri="{FF2B5EF4-FFF2-40B4-BE49-F238E27FC236}">
                <a16:creationId xmlns:a16="http://schemas.microsoft.com/office/drawing/2014/main" id="{D20F85BC-A8B7-4584-88DC-87AC2915A7BF}"/>
              </a:ext>
            </a:extLst>
          </p:cNvPr>
          <p:cNvSpPr>
            <a:spLocks noGrp="1"/>
          </p:cNvSpPr>
          <p:nvPr/>
        </p:nvSpPr>
        <p:spPr>
          <a:xfrm>
            <a:off x="4676775" y="3067050"/>
            <a:ext cx="16859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門檻 0.50</a:t>
            </a:r>
          </a:p>
        </p:txBody>
      </p:sp>
      <p:sp>
        <p:nvSpPr>
          <p:cNvPr id="56" name="source-P12-10">
            <a:extLst>
              <a:ext uri="{FF2B5EF4-FFF2-40B4-BE49-F238E27FC236}">
                <a16:creationId xmlns:a16="http://schemas.microsoft.com/office/drawing/2014/main" id="{DD773E4A-6593-4ABC-AFB1-0223D08D9274}"/>
              </a:ext>
            </a:extLst>
          </p:cNvPr>
          <p:cNvSpPr>
            <a:spLocks noGrp="1"/>
          </p:cNvSpPr>
          <p:nvPr/>
        </p:nvSpPr>
        <p:spPr>
          <a:xfrm>
            <a:off x="6562725" y="3067050"/>
            <a:ext cx="16859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68.97%</a:t>
            </a:r>
          </a:p>
        </p:txBody>
      </p:sp>
      <p:sp>
        <p:nvSpPr>
          <p:cNvPr id="57" name="source-P12-11">
            <a:extLst>
              <a:ext uri="{FF2B5EF4-FFF2-40B4-BE49-F238E27FC236}">
                <a16:creationId xmlns:a16="http://schemas.microsoft.com/office/drawing/2014/main" id="{495EE3C0-E832-42D1-B430-27198609E2CD}"/>
              </a:ext>
            </a:extLst>
          </p:cNvPr>
          <p:cNvSpPr>
            <a:spLocks noGrp="1"/>
          </p:cNvSpPr>
          <p:nvPr/>
        </p:nvSpPr>
        <p:spPr>
          <a:xfrm>
            <a:off x="8353425" y="3067050"/>
            <a:ext cx="16859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75.00%</a:t>
            </a:r>
          </a:p>
        </p:txBody>
      </p:sp>
      <p:sp>
        <p:nvSpPr>
          <p:cNvPr id="58" name="source-P12-12">
            <a:extLst>
              <a:ext uri="{FF2B5EF4-FFF2-40B4-BE49-F238E27FC236}">
                <a16:creationId xmlns:a16="http://schemas.microsoft.com/office/drawing/2014/main" id="{60026D46-779F-4991-BFE3-603DCCA6488C}"/>
              </a:ext>
            </a:extLst>
          </p:cNvPr>
          <p:cNvSpPr>
            <a:spLocks noGrp="1"/>
          </p:cNvSpPr>
          <p:nvPr/>
        </p:nvSpPr>
        <p:spPr>
          <a:xfrm>
            <a:off x="10048875" y="3067050"/>
            <a:ext cx="16859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57.14%</a:t>
            </a:r>
          </a:p>
        </p:txBody>
      </p:sp>
      <p:sp>
        <p:nvSpPr>
          <p:cNvPr id="59" name="source-P12-13">
            <a:extLst>
              <a:ext uri="{FF2B5EF4-FFF2-40B4-BE49-F238E27FC236}">
                <a16:creationId xmlns:a16="http://schemas.microsoft.com/office/drawing/2014/main" id="{838B1907-5D57-4A2C-ABDB-025EF899EFF8}"/>
              </a:ext>
            </a:extLst>
          </p:cNvPr>
          <p:cNvSpPr>
            <a:spLocks noGrp="1"/>
          </p:cNvSpPr>
          <p:nvPr/>
        </p:nvSpPr>
        <p:spPr>
          <a:xfrm>
            <a:off x="4676775" y="3505200"/>
            <a:ext cx="16859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門檻 0.60</a:t>
            </a:r>
          </a:p>
        </p:txBody>
      </p:sp>
      <p:sp>
        <p:nvSpPr>
          <p:cNvPr id="60" name="source-P12-14">
            <a:extLst>
              <a:ext uri="{FF2B5EF4-FFF2-40B4-BE49-F238E27FC236}">
                <a16:creationId xmlns:a16="http://schemas.microsoft.com/office/drawing/2014/main" id="{FF01D69D-1EF3-4C68-A01B-863D4D5F60AA}"/>
              </a:ext>
            </a:extLst>
          </p:cNvPr>
          <p:cNvSpPr>
            <a:spLocks noGrp="1"/>
          </p:cNvSpPr>
          <p:nvPr/>
        </p:nvSpPr>
        <p:spPr>
          <a:xfrm>
            <a:off x="6562725" y="3505200"/>
            <a:ext cx="16859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75.86%</a:t>
            </a:r>
          </a:p>
        </p:txBody>
      </p:sp>
      <p:sp>
        <p:nvSpPr>
          <p:cNvPr id="61" name="source-P12-15">
            <a:extLst>
              <a:ext uri="{FF2B5EF4-FFF2-40B4-BE49-F238E27FC236}">
                <a16:creationId xmlns:a16="http://schemas.microsoft.com/office/drawing/2014/main" id="{92AFA63B-9969-464B-A3FE-548773FBC6AE}"/>
              </a:ext>
            </a:extLst>
          </p:cNvPr>
          <p:cNvSpPr>
            <a:spLocks noGrp="1"/>
          </p:cNvSpPr>
          <p:nvPr/>
        </p:nvSpPr>
        <p:spPr>
          <a:xfrm>
            <a:off x="8353425" y="3505200"/>
            <a:ext cx="16859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62.50%</a:t>
            </a:r>
          </a:p>
        </p:txBody>
      </p:sp>
      <p:sp>
        <p:nvSpPr>
          <p:cNvPr id="62" name="source-P12-16">
            <a:extLst>
              <a:ext uri="{FF2B5EF4-FFF2-40B4-BE49-F238E27FC236}">
                <a16:creationId xmlns:a16="http://schemas.microsoft.com/office/drawing/2014/main" id="{67823FCA-C02C-40F8-8862-B629B03E19CA}"/>
              </a:ext>
            </a:extLst>
          </p:cNvPr>
          <p:cNvSpPr>
            <a:spLocks noGrp="1"/>
          </p:cNvSpPr>
          <p:nvPr/>
        </p:nvSpPr>
        <p:spPr>
          <a:xfrm>
            <a:off x="10048875" y="3505200"/>
            <a:ext cx="16859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58.82%</a:t>
            </a:r>
          </a:p>
        </p:txBody>
      </p:sp>
      <p:sp>
        <p:nvSpPr>
          <p:cNvPr id="63" name="source-P12-17">
            <a:extLst>
              <a:ext uri="{FF2B5EF4-FFF2-40B4-BE49-F238E27FC236}">
                <a16:creationId xmlns:a16="http://schemas.microsoft.com/office/drawing/2014/main" id="{65A71664-3887-43DE-9611-9E3E008724E0}"/>
              </a:ext>
            </a:extLst>
          </p:cNvPr>
          <p:cNvSpPr>
            <a:spLocks noGrp="1"/>
          </p:cNvSpPr>
          <p:nvPr/>
        </p:nvSpPr>
        <p:spPr>
          <a:xfrm>
            <a:off x="4676775" y="4143375"/>
            <a:ext cx="35242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誤報 7 → 4 支</a:t>
            </a:r>
          </a:p>
          <a:p>
            <a:pPr algn="l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漏報 2 → 3 支</a:t>
            </a:r>
          </a:p>
        </p:txBody>
      </p:sp>
      <p:sp>
        <p:nvSpPr>
          <p:cNvPr id="64" name="source-P12-18">
            <a:extLst>
              <a:ext uri="{FF2B5EF4-FFF2-40B4-BE49-F238E27FC236}">
                <a16:creationId xmlns:a16="http://schemas.microsoft.com/office/drawing/2014/main" id="{5666BC40-3FDD-4428-BE3F-1874E36851E6}"/>
              </a:ext>
            </a:extLst>
          </p:cNvPr>
          <p:cNvSpPr>
            <a:spLocks noGrp="1"/>
          </p:cNvSpPr>
          <p:nvPr/>
        </p:nvSpPr>
        <p:spPr>
          <a:xfrm>
            <a:off x="4676775" y="5038725"/>
            <a:ext cx="3924300" cy="1171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固定測試集：精準率／召回率／F1</a:t>
            </a:r>
          </a:p>
          <a:p>
            <a:pPr algn="l">
              <a:defRPr sz="17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取得較均衡的取捨，不代表絕對最佳。</a:t>
            </a:r>
          </a:p>
          <a:p>
            <a:pPr algn="l">
              <a:defRPr sz="17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精準率 55.56%；ROC-AUC 79.17%</a:t>
            </a:r>
          </a:p>
        </p:txBody>
      </p:sp>
      <p:sp>
        <p:nvSpPr>
          <p:cNvPr id="65" name="source-P12-19">
            <a:extLst>
              <a:ext uri="{FF2B5EF4-FFF2-40B4-BE49-F238E27FC236}">
                <a16:creationId xmlns:a16="http://schemas.microsoft.com/office/drawing/2014/main" id="{4C046FBC-575E-498C-B245-6D2942770727}"/>
              </a:ext>
            </a:extLst>
          </p:cNvPr>
          <p:cNvSpPr>
            <a:spLocks noGrp="1"/>
          </p:cNvSpPr>
          <p:nvPr/>
        </p:nvSpPr>
        <p:spPr>
          <a:xfrm>
            <a:off x="9525000" y="3857625"/>
            <a:ext cx="857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預測</a:t>
            </a:r>
          </a:p>
          <a:p>
            <a:pPr algn="l">
              <a:defRPr sz="15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一般</a:t>
            </a:r>
          </a:p>
        </p:txBody>
      </p:sp>
      <p:sp>
        <p:nvSpPr>
          <p:cNvPr id="66" name="source-P12-20">
            <a:extLst>
              <a:ext uri="{FF2B5EF4-FFF2-40B4-BE49-F238E27FC236}">
                <a16:creationId xmlns:a16="http://schemas.microsoft.com/office/drawing/2014/main" id="{231751D9-9D6C-4B67-B588-CAE00CE97DDE}"/>
              </a:ext>
            </a:extLst>
          </p:cNvPr>
          <p:cNvSpPr>
            <a:spLocks noGrp="1"/>
          </p:cNvSpPr>
          <p:nvPr/>
        </p:nvSpPr>
        <p:spPr>
          <a:xfrm>
            <a:off x="10382250" y="3857625"/>
            <a:ext cx="857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預測</a:t>
            </a:r>
          </a:p>
          <a:p>
            <a:pPr algn="l">
              <a:defRPr sz="15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高成效</a:t>
            </a:r>
          </a:p>
        </p:txBody>
      </p:sp>
      <p:sp>
        <p:nvSpPr>
          <p:cNvPr id="67" name="source-P12-21">
            <a:extLst>
              <a:ext uri="{FF2B5EF4-FFF2-40B4-BE49-F238E27FC236}">
                <a16:creationId xmlns:a16="http://schemas.microsoft.com/office/drawing/2014/main" id="{6C0BCE82-0294-44D7-B297-F3BD2BC0397F}"/>
              </a:ext>
            </a:extLst>
          </p:cNvPr>
          <p:cNvSpPr>
            <a:spLocks noGrp="1"/>
          </p:cNvSpPr>
          <p:nvPr/>
        </p:nvSpPr>
        <p:spPr>
          <a:xfrm>
            <a:off x="8553450" y="4600575"/>
            <a:ext cx="9239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實際</a:t>
            </a:r>
          </a:p>
          <a:p>
            <a:pPr algn="l">
              <a:defRPr sz="16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一般</a:t>
            </a:r>
          </a:p>
        </p:txBody>
      </p:sp>
      <p:sp>
        <p:nvSpPr>
          <p:cNvPr id="68" name="source-P12-22">
            <a:extLst>
              <a:ext uri="{FF2B5EF4-FFF2-40B4-BE49-F238E27FC236}">
                <a16:creationId xmlns:a16="http://schemas.microsoft.com/office/drawing/2014/main" id="{FF78A84B-22E9-4EE0-89F3-DCC767C8D518}"/>
              </a:ext>
            </a:extLst>
          </p:cNvPr>
          <p:cNvSpPr>
            <a:spLocks noGrp="1"/>
          </p:cNvSpPr>
          <p:nvPr/>
        </p:nvSpPr>
        <p:spPr>
          <a:xfrm>
            <a:off x="8553450" y="5457825"/>
            <a:ext cx="9239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實際</a:t>
            </a:r>
          </a:p>
          <a:p>
            <a:pPr algn="l">
              <a:defRPr sz="16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高成效</a:t>
            </a:r>
          </a:p>
        </p:txBody>
      </p:sp>
      <p:sp>
        <p:nvSpPr>
          <p:cNvPr id="69" name="layout-38">
            <a:extLst>
              <a:ext uri="{FF2B5EF4-FFF2-40B4-BE49-F238E27FC236}">
                <a16:creationId xmlns:a16="http://schemas.microsoft.com/office/drawing/2014/main" id="{6E080FD7-FD1F-4068-B8EB-B7338752AC96}"/>
              </a:ext>
            </a:extLst>
          </p:cNvPr>
          <p:cNvSpPr>
            <a:spLocks noGrp="1"/>
          </p:cNvSpPr>
          <p:nvPr/>
        </p:nvSpPr>
        <p:spPr>
          <a:xfrm>
            <a:off x="9525000" y="4391025"/>
            <a:ext cx="828675" cy="828675"/>
          </a:xfrm>
          <a:prstGeom prst="rect">
            <a:avLst/>
          </a:prstGeom>
          <a:solidFill>
            <a:srgbClr val="080E19">
              <a:alpha val="18000"/>
            </a:srgbClr>
          </a:solidFill>
          <a:ln w="9525">
            <a:solidFill>
              <a:srgbClr val="CCD3DD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source-P12-23">
            <a:extLst>
              <a:ext uri="{FF2B5EF4-FFF2-40B4-BE49-F238E27FC236}">
                <a16:creationId xmlns:a16="http://schemas.microsoft.com/office/drawing/2014/main" id="{28A66855-8D2F-4ACA-81A6-2E292158FA2A}"/>
              </a:ext>
            </a:extLst>
          </p:cNvPr>
          <p:cNvSpPr>
            <a:spLocks noGrp="1"/>
          </p:cNvSpPr>
          <p:nvPr/>
        </p:nvSpPr>
        <p:spPr>
          <a:xfrm>
            <a:off x="9620250" y="443865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判對</a:t>
            </a:r>
          </a:p>
        </p:txBody>
      </p:sp>
      <p:sp>
        <p:nvSpPr>
          <p:cNvPr id="71" name="source-P12-24">
            <a:extLst>
              <a:ext uri="{FF2B5EF4-FFF2-40B4-BE49-F238E27FC236}">
                <a16:creationId xmlns:a16="http://schemas.microsoft.com/office/drawing/2014/main" id="{39107D2E-613C-4DFC-890D-6EA9997B1598}"/>
              </a:ext>
            </a:extLst>
          </p:cNvPr>
          <p:cNvSpPr>
            <a:spLocks noGrp="1"/>
          </p:cNvSpPr>
          <p:nvPr/>
        </p:nvSpPr>
        <p:spPr>
          <a:xfrm>
            <a:off x="9648825" y="4705350"/>
            <a:ext cx="6953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6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6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17</a:t>
            </a:r>
          </a:p>
        </p:txBody>
      </p:sp>
      <p:sp>
        <p:nvSpPr>
          <p:cNvPr id="72" name="layout-39">
            <a:extLst>
              <a:ext uri="{FF2B5EF4-FFF2-40B4-BE49-F238E27FC236}">
                <a16:creationId xmlns:a16="http://schemas.microsoft.com/office/drawing/2014/main" id="{92028C55-13F7-4E87-938D-2E6FD96CA564}"/>
              </a:ext>
            </a:extLst>
          </p:cNvPr>
          <p:cNvSpPr>
            <a:spLocks noGrp="1"/>
          </p:cNvSpPr>
          <p:nvPr/>
        </p:nvSpPr>
        <p:spPr>
          <a:xfrm>
            <a:off x="10382250" y="4391025"/>
            <a:ext cx="828675" cy="828675"/>
          </a:xfrm>
          <a:prstGeom prst="rect">
            <a:avLst/>
          </a:prstGeom>
          <a:solidFill>
            <a:srgbClr val="080E19">
              <a:alpha val="18000"/>
            </a:srgbClr>
          </a:solidFill>
          <a:ln w="9525">
            <a:solidFill>
              <a:srgbClr val="CCD3DD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source-P12-25">
            <a:extLst>
              <a:ext uri="{FF2B5EF4-FFF2-40B4-BE49-F238E27FC236}">
                <a16:creationId xmlns:a16="http://schemas.microsoft.com/office/drawing/2014/main" id="{4C2DDC10-59A9-420C-99DF-703CECA4EB44}"/>
              </a:ext>
            </a:extLst>
          </p:cNvPr>
          <p:cNvSpPr>
            <a:spLocks noGrp="1"/>
          </p:cNvSpPr>
          <p:nvPr/>
        </p:nvSpPr>
        <p:spPr>
          <a:xfrm>
            <a:off x="10477500" y="443865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誤報</a:t>
            </a:r>
          </a:p>
        </p:txBody>
      </p:sp>
      <p:sp>
        <p:nvSpPr>
          <p:cNvPr id="74" name="source-P12-26">
            <a:extLst>
              <a:ext uri="{FF2B5EF4-FFF2-40B4-BE49-F238E27FC236}">
                <a16:creationId xmlns:a16="http://schemas.microsoft.com/office/drawing/2014/main" id="{050D418D-676F-4FD5-9E59-012B91535409}"/>
              </a:ext>
            </a:extLst>
          </p:cNvPr>
          <p:cNvSpPr>
            <a:spLocks noGrp="1"/>
          </p:cNvSpPr>
          <p:nvPr/>
        </p:nvSpPr>
        <p:spPr>
          <a:xfrm>
            <a:off x="10506075" y="4705350"/>
            <a:ext cx="6953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625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625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4</a:t>
            </a:r>
          </a:p>
        </p:txBody>
      </p:sp>
      <p:sp>
        <p:nvSpPr>
          <p:cNvPr id="75" name="layout-40">
            <a:extLst>
              <a:ext uri="{FF2B5EF4-FFF2-40B4-BE49-F238E27FC236}">
                <a16:creationId xmlns:a16="http://schemas.microsoft.com/office/drawing/2014/main" id="{23A06935-44CB-4A48-BFF3-A24C75DF4B0A}"/>
              </a:ext>
            </a:extLst>
          </p:cNvPr>
          <p:cNvSpPr>
            <a:spLocks noGrp="1"/>
          </p:cNvSpPr>
          <p:nvPr/>
        </p:nvSpPr>
        <p:spPr>
          <a:xfrm>
            <a:off x="9525000" y="5248275"/>
            <a:ext cx="828675" cy="828675"/>
          </a:xfrm>
          <a:prstGeom prst="rect">
            <a:avLst/>
          </a:prstGeom>
          <a:solidFill>
            <a:srgbClr val="080E19">
              <a:alpha val="18000"/>
            </a:srgbClr>
          </a:solidFill>
          <a:ln w="9525">
            <a:solidFill>
              <a:srgbClr val="CCD3DD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source-P12-27">
            <a:extLst>
              <a:ext uri="{FF2B5EF4-FFF2-40B4-BE49-F238E27FC236}">
                <a16:creationId xmlns:a16="http://schemas.microsoft.com/office/drawing/2014/main" id="{C988BA66-8806-4958-AFDD-F6A817CB75AA}"/>
              </a:ext>
            </a:extLst>
          </p:cNvPr>
          <p:cNvSpPr>
            <a:spLocks noGrp="1"/>
          </p:cNvSpPr>
          <p:nvPr/>
        </p:nvSpPr>
        <p:spPr>
          <a:xfrm>
            <a:off x="9620250" y="529590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漏判</a:t>
            </a:r>
          </a:p>
        </p:txBody>
      </p:sp>
      <p:sp>
        <p:nvSpPr>
          <p:cNvPr id="77" name="source-P12-28">
            <a:extLst>
              <a:ext uri="{FF2B5EF4-FFF2-40B4-BE49-F238E27FC236}">
                <a16:creationId xmlns:a16="http://schemas.microsoft.com/office/drawing/2014/main" id="{94EF2CE3-DDE8-47F4-B065-45FA0BE7E428}"/>
              </a:ext>
            </a:extLst>
          </p:cNvPr>
          <p:cNvSpPr>
            <a:spLocks noGrp="1"/>
          </p:cNvSpPr>
          <p:nvPr/>
        </p:nvSpPr>
        <p:spPr>
          <a:xfrm>
            <a:off x="9648825" y="5562600"/>
            <a:ext cx="6953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6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6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78" name="layout-41">
            <a:extLst>
              <a:ext uri="{FF2B5EF4-FFF2-40B4-BE49-F238E27FC236}">
                <a16:creationId xmlns:a16="http://schemas.microsoft.com/office/drawing/2014/main" id="{7A5F9D2D-4491-4DD7-A57E-5FE2CA0E56DD}"/>
              </a:ext>
            </a:extLst>
          </p:cNvPr>
          <p:cNvSpPr>
            <a:spLocks noGrp="1"/>
          </p:cNvSpPr>
          <p:nvPr/>
        </p:nvSpPr>
        <p:spPr>
          <a:xfrm>
            <a:off x="10382250" y="5248275"/>
            <a:ext cx="828675" cy="828675"/>
          </a:xfrm>
          <a:prstGeom prst="rect">
            <a:avLst/>
          </a:prstGeom>
          <a:solidFill>
            <a:srgbClr val="080E19">
              <a:alpha val="18000"/>
            </a:srgbClr>
          </a:solidFill>
          <a:ln w="9525">
            <a:solidFill>
              <a:srgbClr val="CCD3DD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source-P12-29">
            <a:extLst>
              <a:ext uri="{FF2B5EF4-FFF2-40B4-BE49-F238E27FC236}">
                <a16:creationId xmlns:a16="http://schemas.microsoft.com/office/drawing/2014/main" id="{F48A8E91-4F9B-454D-B777-1F7D24F96E00}"/>
              </a:ext>
            </a:extLst>
          </p:cNvPr>
          <p:cNvSpPr>
            <a:spLocks noGrp="1"/>
          </p:cNvSpPr>
          <p:nvPr/>
        </p:nvSpPr>
        <p:spPr>
          <a:xfrm>
            <a:off x="10477500" y="529590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判對</a:t>
            </a:r>
          </a:p>
        </p:txBody>
      </p:sp>
      <p:sp>
        <p:nvSpPr>
          <p:cNvPr id="80" name="source-P12-30">
            <a:extLst>
              <a:ext uri="{FF2B5EF4-FFF2-40B4-BE49-F238E27FC236}">
                <a16:creationId xmlns:a16="http://schemas.microsoft.com/office/drawing/2014/main" id="{FA82D6CC-2DC3-4DDC-939C-93B93510DD36}"/>
              </a:ext>
            </a:extLst>
          </p:cNvPr>
          <p:cNvSpPr>
            <a:spLocks noGrp="1"/>
          </p:cNvSpPr>
          <p:nvPr/>
        </p:nvSpPr>
        <p:spPr>
          <a:xfrm>
            <a:off x="10506075" y="5562600"/>
            <a:ext cx="6953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6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6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5</a:t>
            </a:r>
          </a:p>
        </p:txBody>
      </p:sp>
      <p:sp>
        <p:nvSpPr>
          <p:cNvPr id="81" name="source-P12-31">
            <a:extLst>
              <a:ext uri="{FF2B5EF4-FFF2-40B4-BE49-F238E27FC236}">
                <a16:creationId xmlns:a16="http://schemas.microsoft.com/office/drawing/2014/main" id="{6DBBAF7C-6D64-4F5D-B8D6-546FFD5EB937}"/>
              </a:ext>
            </a:extLst>
          </p:cNvPr>
          <p:cNvSpPr>
            <a:spLocks noGrp="1"/>
          </p:cNvSpPr>
          <p:nvPr/>
        </p:nvSpPr>
        <p:spPr>
          <a:xfrm>
            <a:off x="9525000" y="6181725"/>
            <a:ext cx="228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混淆矩陣</a:t>
            </a:r>
          </a:p>
        </p:txBody>
      </p:sp>
      <p:sp>
        <p:nvSpPr>
          <p:cNvPr id="82" name="source-P12-32">
            <a:extLst>
              <a:ext uri="{FF2B5EF4-FFF2-40B4-BE49-F238E27FC236}">
                <a16:creationId xmlns:a16="http://schemas.microsoft.com/office/drawing/2014/main" id="{147C9AFF-8F28-44E1-A696-5286A371F445}"/>
              </a:ext>
            </a:extLst>
          </p:cNvPr>
          <p:cNvSpPr>
            <a:spLocks noGrp="1"/>
          </p:cNvSpPr>
          <p:nvPr/>
        </p:nvSpPr>
        <p:spPr>
          <a:xfrm>
            <a:off x="438150" y="6543675"/>
            <a:ext cx="108394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Test n=29（High 8）。0.60 原先依 Train 五折折外預測選定；本次未調整。</a:t>
            </a:r>
          </a:p>
        </p:txBody>
      </p:sp>
    </p:spTree>
    <p:extLst>
      <p:ext uri="{BB962C8B-B14F-4D97-AF65-F5344CB8AC3E}">
        <p14:creationId xmlns:p14="http://schemas.microsoft.com/office/powerpoint/2010/main" val="1167120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圖片 7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element-57">
            <a:extLst>
              <a:ext uri="{FF2B5EF4-FFF2-40B4-BE49-F238E27FC236}">
                <a16:creationId xmlns:a16="http://schemas.microsoft.com/office/drawing/2014/main" id="{D2B4D8E5-3ED6-4852-886C-7EDEA54045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96250" cy="6858000"/>
          </a:xfrm>
          <a:prstGeom prst="rect">
            <a:avLst/>
          </a:prstGeom>
          <a:gradFill>
            <a:gsLst>
              <a:gs pos="0">
                <a:srgbClr val="05101E">
                  <a:alpha val="42000"/>
                </a:srgbClr>
              </a:gs>
              <a:gs pos="68000">
                <a:srgbClr val="05101E">
                  <a:alpha val="32000"/>
                </a:srgbClr>
              </a:gs>
              <a:gs pos="100000">
                <a:srgbClr val="05101E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element-58">
            <a:extLst>
              <a:ext uri="{FF2B5EF4-FFF2-40B4-BE49-F238E27FC236}">
                <a16:creationId xmlns:a16="http://schemas.microsoft.com/office/drawing/2014/main" id="{D3536E3D-686B-4888-82B2-5A1B0954BD72}"/>
              </a:ext>
            </a:extLst>
          </p:cNvPr>
          <p:cNvSpPr>
            <a:spLocks noGrp="1"/>
          </p:cNvSpPr>
          <p:nvPr/>
        </p:nvSpPr>
        <p:spPr>
          <a:xfrm>
            <a:off x="3486150" y="1743075"/>
            <a:ext cx="4362450" cy="3743325"/>
          </a:xfrm>
          <a:prstGeom prst="rect">
            <a:avLst/>
          </a:prstGeom>
          <a:gradFill>
            <a:gsLst>
              <a:gs pos="0">
                <a:srgbClr val="05101E">
                  <a:alpha val="72000"/>
                </a:srgbClr>
              </a:gs>
              <a:gs pos="55000">
                <a:srgbClr val="05101E">
                  <a:alpha val="53000"/>
                </a:srgbClr>
              </a:gs>
              <a:gs pos="100000">
                <a:srgbClr val="05101E">
                  <a:alpha val="0"/>
                </a:srgbClr>
              </a:gs>
            </a:gsLst>
            <a:path path="shape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element-59">
            <a:extLst>
              <a:ext uri="{FF2B5EF4-FFF2-40B4-BE49-F238E27FC236}">
                <a16:creationId xmlns:a16="http://schemas.microsoft.com/office/drawing/2014/main" id="{1DDBC3D1-1CC2-4BA9-B5A6-1B71654089DD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7625" cy="238125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-60">
            <a:extLst>
              <a:ext uri="{FF2B5EF4-FFF2-40B4-BE49-F238E27FC236}">
                <a16:creationId xmlns:a16="http://schemas.microsoft.com/office/drawing/2014/main" id="{2CE8E887-3E1A-4026-A72A-C0D93662E09D}"/>
              </a:ext>
            </a:extLst>
          </p:cNvPr>
          <p:cNvSpPr>
            <a:spLocks noGrp="1"/>
          </p:cNvSpPr>
          <p:nvPr/>
        </p:nvSpPr>
        <p:spPr>
          <a:xfrm>
            <a:off x="657225" y="28575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13 · 模型二：對照模型</a:t>
            </a:r>
          </a:p>
        </p:txBody>
      </p:sp>
      <p:sp>
        <p:nvSpPr>
          <p:cNvPr id="43" name="text-61">
            <a:extLst>
              <a:ext uri="{FF2B5EF4-FFF2-40B4-BE49-F238E27FC236}">
                <a16:creationId xmlns:a16="http://schemas.microsoft.com/office/drawing/2014/main" id="{C8DAB7DC-7A5E-474F-977C-1D74E5D18864}"/>
              </a:ext>
            </a:extLst>
          </p:cNvPr>
          <p:cNvSpPr>
            <a:spLocks noGrp="1"/>
          </p:cNvSpPr>
          <p:nvPr/>
        </p:nvSpPr>
        <p:spPr>
          <a:xfrm>
            <a:off x="476250" y="933450"/>
            <a:ext cx="1057275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隨機森林（RF）研究結果</a:t>
            </a:r>
          </a:p>
        </p:txBody>
      </p:sp>
      <p:sp>
        <p:nvSpPr>
          <p:cNvPr id="44" name="text-62">
            <a:extLst>
              <a:ext uri="{FF2B5EF4-FFF2-40B4-BE49-F238E27FC236}">
                <a16:creationId xmlns:a16="http://schemas.microsoft.com/office/drawing/2014/main" id="{051AE908-D548-473F-A9CC-FB0F0FEC7372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953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sp>
        <p:nvSpPr>
          <p:cNvPr id="45" name="text-63">
            <a:extLst>
              <a:ext uri="{FF2B5EF4-FFF2-40B4-BE49-F238E27FC236}">
                <a16:creationId xmlns:a16="http://schemas.microsoft.com/office/drawing/2014/main" id="{ECDC7BA3-9DFC-4D2F-B3D3-74270754D573}"/>
              </a:ext>
            </a:extLst>
          </p:cNvPr>
          <p:cNvSpPr>
            <a:spLocks noGrp="1"/>
          </p:cNvSpPr>
          <p:nvPr/>
        </p:nvSpPr>
        <p:spPr>
          <a:xfrm>
            <a:off x="495300" y="1571625"/>
            <a:ext cx="7162800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rPr>
              <a:t>固定測試集 29 部｜判定門檻 0.50</a:t>
            </a:r>
          </a:p>
        </p:txBody>
      </p:sp>
      <p:sp>
        <p:nvSpPr>
          <p:cNvPr id="46" name="text-64">
            <a:extLst>
              <a:ext uri="{FF2B5EF4-FFF2-40B4-BE49-F238E27FC236}">
                <a16:creationId xmlns:a16="http://schemas.microsoft.com/office/drawing/2014/main" id="{A0724436-2431-4798-A9AD-3C12CBE4E706}"/>
              </a:ext>
            </a:extLst>
          </p:cNvPr>
          <p:cNvSpPr>
            <a:spLocks noGrp="1"/>
          </p:cNvSpPr>
          <p:nvPr/>
        </p:nvSpPr>
        <p:spPr>
          <a:xfrm>
            <a:off x="1476375" y="2000250"/>
            <a:ext cx="23717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rPr>
              <a:t>預測分類 →</a:t>
            </a:r>
          </a:p>
        </p:txBody>
      </p:sp>
      <p:sp>
        <p:nvSpPr>
          <p:cNvPr id="47" name="text-65">
            <a:extLst>
              <a:ext uri="{FF2B5EF4-FFF2-40B4-BE49-F238E27FC236}">
                <a16:creationId xmlns:a16="http://schemas.microsoft.com/office/drawing/2014/main" id="{A0FACBA4-C521-4119-8659-9E747D2B87B1}"/>
              </a:ext>
            </a:extLst>
          </p:cNvPr>
          <p:cNvSpPr>
            <a:spLocks noGrp="1"/>
          </p:cNvSpPr>
          <p:nvPr/>
        </p:nvSpPr>
        <p:spPr>
          <a:xfrm>
            <a:off x="1476375" y="2362200"/>
            <a:ext cx="11620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rPr>
              <a:t>Normal</a:t>
            </a:r>
          </a:p>
        </p:txBody>
      </p:sp>
      <p:sp>
        <p:nvSpPr>
          <p:cNvPr id="48" name="text-66">
            <a:extLst>
              <a:ext uri="{FF2B5EF4-FFF2-40B4-BE49-F238E27FC236}">
                <a16:creationId xmlns:a16="http://schemas.microsoft.com/office/drawing/2014/main" id="{4530AFFD-321A-4D10-A61A-0BDEDE043782}"/>
              </a:ext>
            </a:extLst>
          </p:cNvPr>
          <p:cNvSpPr>
            <a:spLocks noGrp="1"/>
          </p:cNvSpPr>
          <p:nvPr/>
        </p:nvSpPr>
        <p:spPr>
          <a:xfrm>
            <a:off x="2657475" y="2362200"/>
            <a:ext cx="11620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rPr>
              <a:t>High</a:t>
            </a:r>
          </a:p>
        </p:txBody>
      </p:sp>
      <p:sp>
        <p:nvSpPr>
          <p:cNvPr id="49" name="text-67">
            <a:extLst>
              <a:ext uri="{FF2B5EF4-FFF2-40B4-BE49-F238E27FC236}">
                <a16:creationId xmlns:a16="http://schemas.microsoft.com/office/drawing/2014/main" id="{581F1C24-DB2D-49A7-BDD4-EAFF86FB3178}"/>
              </a:ext>
            </a:extLst>
          </p:cNvPr>
          <p:cNvSpPr>
            <a:spLocks noGrp="1"/>
          </p:cNvSpPr>
          <p:nvPr/>
        </p:nvSpPr>
        <p:spPr>
          <a:xfrm>
            <a:off x="476250" y="2962275"/>
            <a:ext cx="9429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rPr>
              <a:t>實際</a:t>
            </a:r>
          </a:p>
          <a:p>
            <a:pPr algn="l">
              <a:def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rPr>
              <a:t>Normal</a:t>
            </a:r>
          </a:p>
        </p:txBody>
      </p:sp>
      <p:sp>
        <p:nvSpPr>
          <p:cNvPr id="50" name="text-68">
            <a:extLst>
              <a:ext uri="{FF2B5EF4-FFF2-40B4-BE49-F238E27FC236}">
                <a16:creationId xmlns:a16="http://schemas.microsoft.com/office/drawing/2014/main" id="{1AEAE991-E2E2-4C53-AE77-168F3332B686}"/>
              </a:ext>
            </a:extLst>
          </p:cNvPr>
          <p:cNvSpPr>
            <a:spLocks noGrp="1"/>
          </p:cNvSpPr>
          <p:nvPr/>
        </p:nvSpPr>
        <p:spPr>
          <a:xfrm>
            <a:off x="476250" y="4143375"/>
            <a:ext cx="9429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rPr>
              <a:t>實際</a:t>
            </a:r>
          </a:p>
          <a:p>
            <a:pPr algn="l">
              <a:def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rPr>
              <a:t>High</a:t>
            </a:r>
          </a:p>
        </p:txBody>
      </p:sp>
      <p:sp>
        <p:nvSpPr>
          <p:cNvPr id="51" name="element-69">
            <a:extLst>
              <a:ext uri="{FF2B5EF4-FFF2-40B4-BE49-F238E27FC236}">
                <a16:creationId xmlns:a16="http://schemas.microsoft.com/office/drawing/2014/main" id="{C083CF9D-5B8F-45EC-A379-4B99EC8D141D}"/>
              </a:ext>
            </a:extLst>
          </p:cNvPr>
          <p:cNvSpPr>
            <a:spLocks noGrp="1"/>
          </p:cNvSpPr>
          <p:nvPr/>
        </p:nvSpPr>
        <p:spPr>
          <a:xfrm>
            <a:off x="1476375" y="2667000"/>
            <a:ext cx="1152525" cy="1152525"/>
          </a:xfrm>
          <a:prstGeom prst="rect">
            <a:avLst/>
          </a:prstGeom>
          <a:solidFill>
            <a:srgbClr val="0C1520">
              <a:alpha val="65000"/>
            </a:srgbClr>
          </a:solidFill>
          <a:ln w="13335">
            <a:solidFill>
              <a:srgbClr val="E0E4EA">
                <a:alpha val="8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-70">
            <a:extLst>
              <a:ext uri="{FF2B5EF4-FFF2-40B4-BE49-F238E27FC236}">
                <a16:creationId xmlns:a16="http://schemas.microsoft.com/office/drawing/2014/main" id="{B3F95B0A-ED69-41F6-AA6C-A573BA6FB5D9}"/>
              </a:ext>
            </a:extLst>
          </p:cNvPr>
          <p:cNvSpPr>
            <a:spLocks noGrp="1"/>
          </p:cNvSpPr>
          <p:nvPr/>
        </p:nvSpPr>
        <p:spPr>
          <a:xfrm>
            <a:off x="1552575" y="2743200"/>
            <a:ext cx="10096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判對</a:t>
            </a:r>
          </a:p>
        </p:txBody>
      </p:sp>
      <p:sp>
        <p:nvSpPr>
          <p:cNvPr id="53" name="text-71">
            <a:extLst>
              <a:ext uri="{FF2B5EF4-FFF2-40B4-BE49-F238E27FC236}">
                <a16:creationId xmlns:a16="http://schemas.microsoft.com/office/drawing/2014/main" id="{4A160054-E1FA-4EC5-9E34-112733319C28}"/>
              </a:ext>
            </a:extLst>
          </p:cNvPr>
          <p:cNvSpPr>
            <a:spLocks noGrp="1"/>
          </p:cNvSpPr>
          <p:nvPr/>
        </p:nvSpPr>
        <p:spPr>
          <a:xfrm>
            <a:off x="1552575" y="3095625"/>
            <a:ext cx="10096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16</a:t>
            </a:r>
          </a:p>
        </p:txBody>
      </p:sp>
      <p:sp>
        <p:nvSpPr>
          <p:cNvPr id="54" name="element-72">
            <a:extLst>
              <a:ext uri="{FF2B5EF4-FFF2-40B4-BE49-F238E27FC236}">
                <a16:creationId xmlns:a16="http://schemas.microsoft.com/office/drawing/2014/main" id="{335016F7-76DB-4430-805D-14D07DC15474}"/>
              </a:ext>
            </a:extLst>
          </p:cNvPr>
          <p:cNvSpPr>
            <a:spLocks noGrp="1"/>
          </p:cNvSpPr>
          <p:nvPr/>
        </p:nvSpPr>
        <p:spPr>
          <a:xfrm>
            <a:off x="2657475" y="2667000"/>
            <a:ext cx="1152525" cy="1152525"/>
          </a:xfrm>
          <a:prstGeom prst="rect">
            <a:avLst/>
          </a:prstGeom>
          <a:solidFill>
            <a:srgbClr val="0C1520">
              <a:alpha val="65000"/>
            </a:srgbClr>
          </a:solidFill>
          <a:ln w="13335">
            <a:solidFill>
              <a:srgbClr val="E0E4EA">
                <a:alpha val="8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text-73">
            <a:extLst>
              <a:ext uri="{FF2B5EF4-FFF2-40B4-BE49-F238E27FC236}">
                <a16:creationId xmlns:a16="http://schemas.microsoft.com/office/drawing/2014/main" id="{54CCCFCF-D319-4AF9-99CA-1DC955154E54}"/>
              </a:ext>
            </a:extLst>
          </p:cNvPr>
          <p:cNvSpPr>
            <a:spLocks noGrp="1"/>
          </p:cNvSpPr>
          <p:nvPr/>
        </p:nvSpPr>
        <p:spPr>
          <a:xfrm>
            <a:off x="2733675" y="2743200"/>
            <a:ext cx="10096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誤報</a:t>
            </a:r>
          </a:p>
        </p:txBody>
      </p:sp>
      <p:sp>
        <p:nvSpPr>
          <p:cNvPr id="56" name="text-74">
            <a:extLst>
              <a:ext uri="{FF2B5EF4-FFF2-40B4-BE49-F238E27FC236}">
                <a16:creationId xmlns:a16="http://schemas.microsoft.com/office/drawing/2014/main" id="{EEED119C-A0C8-4B9A-A614-A3B125C99132}"/>
              </a:ext>
            </a:extLst>
          </p:cNvPr>
          <p:cNvSpPr>
            <a:spLocks noGrp="1"/>
          </p:cNvSpPr>
          <p:nvPr/>
        </p:nvSpPr>
        <p:spPr>
          <a:xfrm>
            <a:off x="2733675" y="3095625"/>
            <a:ext cx="10096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60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E50914"/>
                </a:solidFill>
                <a:latin typeface="Noto Sans CJK TC"/>
                <a:ea typeface="Noto Sans CJK TC"/>
                <a:cs typeface="Noto Sans CJK TC"/>
              </a:rPr>
              <a:t>5</a:t>
            </a:r>
          </a:p>
        </p:txBody>
      </p:sp>
      <p:sp>
        <p:nvSpPr>
          <p:cNvPr id="57" name="element-75">
            <a:extLst>
              <a:ext uri="{FF2B5EF4-FFF2-40B4-BE49-F238E27FC236}">
                <a16:creationId xmlns:a16="http://schemas.microsoft.com/office/drawing/2014/main" id="{881F639E-2DD2-4564-8816-D4073FFFE7C3}"/>
              </a:ext>
            </a:extLst>
          </p:cNvPr>
          <p:cNvSpPr>
            <a:spLocks noGrp="1"/>
          </p:cNvSpPr>
          <p:nvPr/>
        </p:nvSpPr>
        <p:spPr>
          <a:xfrm>
            <a:off x="1476375" y="3848100"/>
            <a:ext cx="1152525" cy="1152525"/>
          </a:xfrm>
          <a:prstGeom prst="rect">
            <a:avLst/>
          </a:prstGeom>
          <a:solidFill>
            <a:srgbClr val="0C1520">
              <a:alpha val="65000"/>
            </a:srgbClr>
          </a:solidFill>
          <a:ln w="13335">
            <a:solidFill>
              <a:srgbClr val="E0E4EA">
                <a:alpha val="8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text-76">
            <a:extLst>
              <a:ext uri="{FF2B5EF4-FFF2-40B4-BE49-F238E27FC236}">
                <a16:creationId xmlns:a16="http://schemas.microsoft.com/office/drawing/2014/main" id="{ED5BFAE3-E89D-4EE6-8620-964F170F2400}"/>
              </a:ext>
            </a:extLst>
          </p:cNvPr>
          <p:cNvSpPr>
            <a:spLocks noGrp="1"/>
          </p:cNvSpPr>
          <p:nvPr/>
        </p:nvSpPr>
        <p:spPr>
          <a:xfrm>
            <a:off x="1552575" y="3924300"/>
            <a:ext cx="10096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漏報</a:t>
            </a:r>
          </a:p>
        </p:txBody>
      </p:sp>
      <p:sp>
        <p:nvSpPr>
          <p:cNvPr id="59" name="text-77">
            <a:extLst>
              <a:ext uri="{FF2B5EF4-FFF2-40B4-BE49-F238E27FC236}">
                <a16:creationId xmlns:a16="http://schemas.microsoft.com/office/drawing/2014/main" id="{5698FA18-62AF-4504-BE2E-A1A0FB901CD3}"/>
              </a:ext>
            </a:extLst>
          </p:cNvPr>
          <p:cNvSpPr>
            <a:spLocks noGrp="1"/>
          </p:cNvSpPr>
          <p:nvPr/>
        </p:nvSpPr>
        <p:spPr>
          <a:xfrm>
            <a:off x="1552575" y="4276725"/>
            <a:ext cx="10096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60" name="element-78">
            <a:extLst>
              <a:ext uri="{FF2B5EF4-FFF2-40B4-BE49-F238E27FC236}">
                <a16:creationId xmlns:a16="http://schemas.microsoft.com/office/drawing/2014/main" id="{1D8C1A96-1D02-4610-BC59-8FDE6448AD8F}"/>
              </a:ext>
            </a:extLst>
          </p:cNvPr>
          <p:cNvSpPr>
            <a:spLocks noGrp="1"/>
          </p:cNvSpPr>
          <p:nvPr/>
        </p:nvSpPr>
        <p:spPr>
          <a:xfrm>
            <a:off x="2657475" y="3848100"/>
            <a:ext cx="1152525" cy="1152525"/>
          </a:xfrm>
          <a:prstGeom prst="rect">
            <a:avLst/>
          </a:prstGeom>
          <a:solidFill>
            <a:srgbClr val="0C1520">
              <a:alpha val="65000"/>
            </a:srgbClr>
          </a:solidFill>
          <a:ln w="13335">
            <a:solidFill>
              <a:srgbClr val="E0E4EA">
                <a:alpha val="8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text-79">
            <a:extLst>
              <a:ext uri="{FF2B5EF4-FFF2-40B4-BE49-F238E27FC236}">
                <a16:creationId xmlns:a16="http://schemas.microsoft.com/office/drawing/2014/main" id="{E14D73DB-6F97-4113-AF8D-498A148639C1}"/>
              </a:ext>
            </a:extLst>
          </p:cNvPr>
          <p:cNvSpPr>
            <a:spLocks noGrp="1"/>
          </p:cNvSpPr>
          <p:nvPr/>
        </p:nvSpPr>
        <p:spPr>
          <a:xfrm>
            <a:off x="2733675" y="3924300"/>
            <a:ext cx="10096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判對</a:t>
            </a:r>
          </a:p>
        </p:txBody>
      </p:sp>
      <p:sp>
        <p:nvSpPr>
          <p:cNvPr id="62" name="text-80">
            <a:extLst>
              <a:ext uri="{FF2B5EF4-FFF2-40B4-BE49-F238E27FC236}">
                <a16:creationId xmlns:a16="http://schemas.microsoft.com/office/drawing/2014/main" id="{82587F6E-F2BA-4EE5-9BBA-23603BAB825A}"/>
              </a:ext>
            </a:extLst>
          </p:cNvPr>
          <p:cNvSpPr>
            <a:spLocks noGrp="1"/>
          </p:cNvSpPr>
          <p:nvPr/>
        </p:nvSpPr>
        <p:spPr>
          <a:xfrm>
            <a:off x="2733675" y="4276725"/>
            <a:ext cx="10096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7</a:t>
            </a:r>
          </a:p>
        </p:txBody>
      </p:sp>
      <p:sp>
        <p:nvSpPr>
          <p:cNvPr id="63" name="text-81">
            <a:extLst>
              <a:ext uri="{FF2B5EF4-FFF2-40B4-BE49-F238E27FC236}">
                <a16:creationId xmlns:a16="http://schemas.microsoft.com/office/drawing/2014/main" id="{A0F02C2C-6979-49E0-A3ED-2FFEC2379854}"/>
              </a:ext>
            </a:extLst>
          </p:cNvPr>
          <p:cNvSpPr>
            <a:spLocks noGrp="1"/>
          </p:cNvSpPr>
          <p:nvPr/>
        </p:nvSpPr>
        <p:spPr>
          <a:xfrm>
            <a:off x="4286250" y="2066925"/>
            <a:ext cx="326707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7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7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23 / 29</a:t>
            </a:r>
          </a:p>
        </p:txBody>
      </p:sp>
      <p:sp>
        <p:nvSpPr>
          <p:cNvPr id="64" name="text-82">
            <a:extLst>
              <a:ext uri="{FF2B5EF4-FFF2-40B4-BE49-F238E27FC236}">
                <a16:creationId xmlns:a16="http://schemas.microsoft.com/office/drawing/2014/main" id="{A7054395-B327-4D6F-A13B-54BCDB830E0A}"/>
              </a:ext>
            </a:extLst>
          </p:cNvPr>
          <p:cNvSpPr>
            <a:spLocks noGrp="1"/>
          </p:cNvSpPr>
          <p:nvPr/>
        </p:nvSpPr>
        <p:spPr>
          <a:xfrm>
            <a:off x="4295775" y="2724150"/>
            <a:ext cx="333375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rPr>
              <a:t>測試集答對</a:t>
            </a:r>
          </a:p>
          <a:p>
            <a:pPr algn="l">
              <a:def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rPr>
              <a:t>16 Normal＋7 High</a:t>
            </a:r>
          </a:p>
        </p:txBody>
      </p:sp>
      <p:sp>
        <p:nvSpPr>
          <p:cNvPr id="65" name="element-83">
            <a:extLst>
              <a:ext uri="{FF2B5EF4-FFF2-40B4-BE49-F238E27FC236}">
                <a16:creationId xmlns:a16="http://schemas.microsoft.com/office/drawing/2014/main" id="{1B340848-0EDE-41C8-9171-310FF5276DEC}"/>
              </a:ext>
            </a:extLst>
          </p:cNvPr>
          <p:cNvSpPr>
            <a:spLocks noGrp="1"/>
          </p:cNvSpPr>
          <p:nvPr/>
        </p:nvSpPr>
        <p:spPr>
          <a:xfrm>
            <a:off x="3829050" y="3333750"/>
            <a:ext cx="238125" cy="14288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element-84">
            <a:extLst>
              <a:ext uri="{FF2B5EF4-FFF2-40B4-BE49-F238E27FC236}">
                <a16:creationId xmlns:a16="http://schemas.microsoft.com/office/drawing/2014/main" id="{FCCA0E23-74BA-45C4-A43C-4D5539A9A778}"/>
              </a:ext>
            </a:extLst>
          </p:cNvPr>
          <p:cNvSpPr>
            <a:spLocks noGrp="1"/>
          </p:cNvSpPr>
          <p:nvPr/>
        </p:nvSpPr>
        <p:spPr>
          <a:xfrm>
            <a:off x="4067175" y="3333750"/>
            <a:ext cx="14288" cy="200025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element-85">
            <a:extLst>
              <a:ext uri="{FF2B5EF4-FFF2-40B4-BE49-F238E27FC236}">
                <a16:creationId xmlns:a16="http://schemas.microsoft.com/office/drawing/2014/main" id="{F66D714D-15DB-49A0-95F9-3A972229A339}"/>
              </a:ext>
            </a:extLst>
          </p:cNvPr>
          <p:cNvSpPr>
            <a:spLocks noGrp="1"/>
          </p:cNvSpPr>
          <p:nvPr/>
        </p:nvSpPr>
        <p:spPr>
          <a:xfrm>
            <a:off x="4067175" y="3524250"/>
            <a:ext cx="152400" cy="14288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text-86">
            <a:extLst>
              <a:ext uri="{FF2B5EF4-FFF2-40B4-BE49-F238E27FC236}">
                <a16:creationId xmlns:a16="http://schemas.microsoft.com/office/drawing/2014/main" id="{D72C0190-9B05-4F5E-8ED6-614593A4FC56}"/>
              </a:ext>
            </a:extLst>
          </p:cNvPr>
          <p:cNvSpPr>
            <a:spLocks noGrp="1"/>
          </p:cNvSpPr>
          <p:nvPr/>
        </p:nvSpPr>
        <p:spPr>
          <a:xfrm>
            <a:off x="4286250" y="3352800"/>
            <a:ext cx="32575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5 部誤報</a:t>
            </a:r>
          </a:p>
        </p:txBody>
      </p:sp>
      <p:sp>
        <p:nvSpPr>
          <p:cNvPr id="69" name="text-87">
            <a:extLst>
              <a:ext uri="{FF2B5EF4-FFF2-40B4-BE49-F238E27FC236}">
                <a16:creationId xmlns:a16="http://schemas.microsoft.com/office/drawing/2014/main" id="{3D90C3A3-6E6A-46F2-9FCB-619B82D0CEC0}"/>
              </a:ext>
            </a:extLst>
          </p:cNvPr>
          <p:cNvSpPr>
            <a:spLocks noGrp="1"/>
          </p:cNvSpPr>
          <p:nvPr/>
        </p:nvSpPr>
        <p:spPr>
          <a:xfrm>
            <a:off x="4295775" y="3800475"/>
            <a:ext cx="32480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rPr>
              <a:t>Normal → High</a:t>
            </a:r>
          </a:p>
        </p:txBody>
      </p:sp>
      <p:sp>
        <p:nvSpPr>
          <p:cNvPr id="70" name="element-88">
            <a:extLst>
              <a:ext uri="{FF2B5EF4-FFF2-40B4-BE49-F238E27FC236}">
                <a16:creationId xmlns:a16="http://schemas.microsoft.com/office/drawing/2014/main" id="{CCD80657-979F-44FA-8A35-6E393E2960D5}"/>
              </a:ext>
            </a:extLst>
          </p:cNvPr>
          <p:cNvSpPr>
            <a:spLocks noGrp="1"/>
          </p:cNvSpPr>
          <p:nvPr/>
        </p:nvSpPr>
        <p:spPr>
          <a:xfrm>
            <a:off x="3829050" y="4486275"/>
            <a:ext cx="352425" cy="1428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text-89">
            <a:extLst>
              <a:ext uri="{FF2B5EF4-FFF2-40B4-BE49-F238E27FC236}">
                <a16:creationId xmlns:a16="http://schemas.microsoft.com/office/drawing/2014/main" id="{2CEFCE8D-163C-4D8C-AE92-52E050AA0107}"/>
              </a:ext>
            </a:extLst>
          </p:cNvPr>
          <p:cNvSpPr>
            <a:spLocks noGrp="1"/>
          </p:cNvSpPr>
          <p:nvPr/>
        </p:nvSpPr>
        <p:spPr>
          <a:xfrm>
            <a:off x="4286250" y="4229100"/>
            <a:ext cx="3267075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2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7 / 8</a:t>
            </a:r>
          </a:p>
        </p:txBody>
      </p:sp>
      <p:sp>
        <p:nvSpPr>
          <p:cNvPr id="72" name="text-90">
            <a:extLst>
              <a:ext uri="{FF2B5EF4-FFF2-40B4-BE49-F238E27FC236}">
                <a16:creationId xmlns:a16="http://schemas.microsoft.com/office/drawing/2014/main" id="{E81C09D4-9423-42A0-9035-A547A0C62CCD}"/>
              </a:ext>
            </a:extLst>
          </p:cNvPr>
          <p:cNvSpPr>
            <a:spLocks noGrp="1"/>
          </p:cNvSpPr>
          <p:nvPr/>
        </p:nvSpPr>
        <p:spPr>
          <a:xfrm>
            <a:off x="4295775" y="4762500"/>
            <a:ext cx="32861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rPr>
              <a:t>真正 High 抓到</a:t>
            </a:r>
          </a:p>
        </p:txBody>
      </p:sp>
      <p:sp>
        <p:nvSpPr>
          <p:cNvPr id="73" name="text-91">
            <a:extLst>
              <a:ext uri="{FF2B5EF4-FFF2-40B4-BE49-F238E27FC236}">
                <a16:creationId xmlns:a16="http://schemas.microsoft.com/office/drawing/2014/main" id="{6B3E75C3-CA88-4937-9D4C-EF3DDCB0D2DE}"/>
              </a:ext>
            </a:extLst>
          </p:cNvPr>
          <p:cNvSpPr>
            <a:spLocks noGrp="1"/>
          </p:cNvSpPr>
          <p:nvPr/>
        </p:nvSpPr>
        <p:spPr>
          <a:xfrm>
            <a:off x="504825" y="5219700"/>
            <a:ext cx="71723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rPr>
              <a:t>正確率 79.31%　精準率 58.33%</a:t>
            </a:r>
          </a:p>
        </p:txBody>
      </p:sp>
      <p:sp>
        <p:nvSpPr>
          <p:cNvPr id="74" name="text-92">
            <a:extLst>
              <a:ext uri="{FF2B5EF4-FFF2-40B4-BE49-F238E27FC236}">
                <a16:creationId xmlns:a16="http://schemas.microsoft.com/office/drawing/2014/main" id="{4D0FB331-ABBB-44E6-B7C3-88C8017BEC78}"/>
              </a:ext>
            </a:extLst>
          </p:cNvPr>
          <p:cNvSpPr>
            <a:spLocks noGrp="1"/>
          </p:cNvSpPr>
          <p:nvPr/>
        </p:nvSpPr>
        <p:spPr>
          <a:xfrm>
            <a:off x="504825" y="5619750"/>
            <a:ext cx="728662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F2F2F2"/>
                </a:solidFill>
                <a:latin typeface="Noto Sans CJK TC"/>
                <a:ea typeface="Noto Sans CJK TC"/>
                <a:cs typeface="Noto Sans CJK TC"/>
              </a:rPr>
              <a:t>召回率 87.50%　F1 70.00%　ROC-AUC 76.79%</a:t>
            </a:r>
          </a:p>
        </p:txBody>
      </p:sp>
      <p:sp>
        <p:nvSpPr>
          <p:cNvPr id="75" name="element-93">
            <a:extLst>
              <a:ext uri="{FF2B5EF4-FFF2-40B4-BE49-F238E27FC236}">
                <a16:creationId xmlns:a16="http://schemas.microsoft.com/office/drawing/2014/main" id="{FE145EA9-FFD4-4C9B-AB86-7742E32BAF1A}"/>
              </a:ext>
            </a:extLst>
          </p:cNvPr>
          <p:cNvSpPr>
            <a:spLocks noGrp="1"/>
          </p:cNvSpPr>
          <p:nvPr/>
        </p:nvSpPr>
        <p:spPr>
          <a:xfrm>
            <a:off x="514350" y="6048375"/>
            <a:ext cx="409575" cy="28575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text-94">
            <a:extLst>
              <a:ext uri="{FF2B5EF4-FFF2-40B4-BE49-F238E27FC236}">
                <a16:creationId xmlns:a16="http://schemas.microsoft.com/office/drawing/2014/main" id="{542C5DB9-04FD-4DF2-8B25-D32A7C5A7130}"/>
              </a:ext>
            </a:extLst>
          </p:cNvPr>
          <p:cNvSpPr>
            <a:spLocks noGrp="1"/>
          </p:cNvSpPr>
          <p:nvPr/>
        </p:nvSpPr>
        <p:spPr>
          <a:xfrm>
            <a:off x="495300" y="6153150"/>
            <a:ext cx="8572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固定測試集：RF 的召回率與 F1 較高</a:t>
            </a:r>
          </a:p>
        </p:txBody>
      </p:sp>
      <p:sp>
        <p:nvSpPr>
          <p:cNvPr id="77" name="text-95">
            <a:extLst>
              <a:ext uri="{FF2B5EF4-FFF2-40B4-BE49-F238E27FC236}">
                <a16:creationId xmlns:a16="http://schemas.microsoft.com/office/drawing/2014/main" id="{A0A25C8E-CB18-4A6A-AF42-C52F4A302CE1}"/>
              </a:ext>
            </a:extLst>
          </p:cNvPr>
          <p:cNvSpPr>
            <a:spLocks noGrp="1"/>
          </p:cNvSpPr>
          <p:nvPr/>
        </p:nvSpPr>
        <p:spPr>
          <a:xfrm>
            <a:off x="495300" y="6524625"/>
            <a:ext cx="9525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CDD2D8"/>
                </a:solidFill>
                <a:latin typeface="Noto Sans CJK TC"/>
                <a:ea typeface="Noto Sans CJK TC"/>
                <a:cs typeface="Noto Sans CJK TC"/>
              </a:rPr>
              <a:t>五折平均沒有全面勝過 LR</a:t>
            </a:r>
          </a:p>
        </p:txBody>
      </p:sp>
    </p:spTree>
    <p:extLst>
      <p:ext uri="{BB962C8B-B14F-4D97-AF65-F5344CB8AC3E}">
        <p14:creationId xmlns:p14="http://schemas.microsoft.com/office/powerpoint/2010/main" val="681305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anel-330">
            <a:extLst>
              <a:ext uri="{FF2B5EF4-FFF2-40B4-BE49-F238E27FC236}">
                <a16:creationId xmlns:a16="http://schemas.microsoft.com/office/drawing/2014/main" id="{C7D021EF-A29F-4875-9101-AAD37C9BE1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620250" cy="6858000"/>
          </a:xfrm>
          <a:prstGeom prst="rect">
            <a:avLst/>
          </a:prstGeom>
          <a:gradFill>
            <a:gsLst>
              <a:gs pos="0">
                <a:srgbClr val="091A2D">
                  <a:alpha val="28000"/>
                </a:srgbClr>
              </a:gs>
              <a:gs pos="65000">
                <a:srgbClr val="091A2D">
                  <a:alpha val="15000"/>
                </a:srgbClr>
              </a:gs>
              <a:gs pos="100000">
                <a:srgbClr val="091A2D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panel-331">
            <a:extLst>
              <a:ext uri="{FF2B5EF4-FFF2-40B4-BE49-F238E27FC236}">
                <a16:creationId xmlns:a16="http://schemas.microsoft.com/office/drawing/2014/main" id="{5DB9D7E2-9192-4CCC-93E4-E2BDC9B86076}"/>
              </a:ext>
            </a:extLst>
          </p:cNvPr>
          <p:cNvSpPr>
            <a:spLocks noGrp="1"/>
          </p:cNvSpPr>
          <p:nvPr/>
        </p:nvSpPr>
        <p:spPr>
          <a:xfrm>
            <a:off x="0" y="5857875"/>
            <a:ext cx="12192000" cy="1000125"/>
          </a:xfrm>
          <a:prstGeom prst="rect">
            <a:avLst/>
          </a:prstGeom>
          <a:gradFill>
            <a:gsLst>
              <a:gs pos="0">
                <a:srgbClr val="091A2D">
                  <a:alpha val="0"/>
                </a:srgbClr>
              </a:gs>
              <a:gs pos="100000">
                <a:srgbClr val="091A2D">
                  <a:alpha val="25000"/>
                </a:srgbClr>
              </a:gs>
            </a:gsLst>
            <a:lin ang="540000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anel-332">
            <a:extLst>
              <a:ext uri="{FF2B5EF4-FFF2-40B4-BE49-F238E27FC236}">
                <a16:creationId xmlns:a16="http://schemas.microsoft.com/office/drawing/2014/main" id="{4C9AEBB1-D8D2-47AB-A4CE-EB00A9B80077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7625" cy="238125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ource-P14-0">
            <a:extLst>
              <a:ext uri="{FF2B5EF4-FFF2-40B4-BE49-F238E27FC236}">
                <a16:creationId xmlns:a16="http://schemas.microsoft.com/office/drawing/2014/main" id="{FC420E78-78A3-4BA4-97E7-5BEF430DC801}"/>
              </a:ext>
            </a:extLst>
          </p:cNvPr>
          <p:cNvSpPr>
            <a:spLocks noGrp="1"/>
          </p:cNvSpPr>
          <p:nvPr/>
        </p:nvSpPr>
        <p:spPr>
          <a:xfrm>
            <a:off x="647700" y="295275"/>
            <a:ext cx="105251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14 · 特徵重要度解讀</a:t>
            </a:r>
          </a:p>
        </p:txBody>
      </p:sp>
      <p:sp>
        <p:nvSpPr>
          <p:cNvPr id="6" name="source-P14-1">
            <a:extLst>
              <a:ext uri="{FF2B5EF4-FFF2-40B4-BE49-F238E27FC236}">
                <a16:creationId xmlns:a16="http://schemas.microsoft.com/office/drawing/2014/main" id="{2F29FED1-3394-4FFC-A3AB-77D287F0E116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953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14</a:t>
            </a:r>
          </a:p>
        </p:txBody>
      </p:sp>
      <p:sp>
        <p:nvSpPr>
          <p:cNvPr id="7" name="source-P14-2">
            <a:extLst>
              <a:ext uri="{FF2B5EF4-FFF2-40B4-BE49-F238E27FC236}">
                <a16:creationId xmlns:a16="http://schemas.microsoft.com/office/drawing/2014/main" id="{E5C242B7-B413-49E4-B133-F9D6139DFF48}"/>
              </a:ext>
            </a:extLst>
          </p:cNvPr>
          <p:cNvSpPr>
            <a:spLocks noGrp="1"/>
          </p:cNvSpPr>
          <p:nvPr/>
        </p:nvSpPr>
        <p:spPr>
          <a:xfrm>
            <a:off x="457200" y="933450"/>
            <a:ext cx="8810625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RF：哪些發布前特徵</a:t>
            </a:r>
          </a:p>
          <a:p>
            <a:pPr algn="l">
              <a:defRPr sz="27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最常被模型拿來判斷？</a:t>
            </a:r>
          </a:p>
        </p:txBody>
      </p:sp>
      <p:sp>
        <p:nvSpPr>
          <p:cNvPr id="8" name="source-P14-3">
            <a:extLst>
              <a:ext uri="{FF2B5EF4-FFF2-40B4-BE49-F238E27FC236}">
                <a16:creationId xmlns:a16="http://schemas.microsoft.com/office/drawing/2014/main" id="{9E8F87C6-9E45-43AE-AED0-34D7741529D5}"/>
              </a:ext>
            </a:extLst>
          </p:cNvPr>
          <p:cNvSpPr>
            <a:spLocks noGrp="1"/>
          </p:cNvSpPr>
          <p:nvPr/>
        </p:nvSpPr>
        <p:spPr>
          <a:xfrm>
            <a:off x="495300" y="1914525"/>
            <a:ext cx="79248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前 10 項特徵重要度（沿用既有 RF 結果）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="495300" y="2371725"/>
          <a:ext cx="5019675" cy="350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ource-P14-4">
            <a:extLst>
              <a:ext uri="{FF2B5EF4-FFF2-40B4-BE49-F238E27FC236}">
                <a16:creationId xmlns:a16="http://schemas.microsoft.com/office/drawing/2014/main" id="{119159C9-CBFF-4E49-BF22-79D3A912CEFC}"/>
              </a:ext>
            </a:extLst>
          </p:cNvPr>
          <p:cNvSpPr>
            <a:spLocks noGrp="1"/>
          </p:cNvSpPr>
          <p:nvPr/>
        </p:nvSpPr>
        <p:spPr>
          <a:xfrm>
            <a:off x="5791200" y="2362200"/>
            <a:ext cx="30099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前三項怎麼解讀？</a:t>
            </a:r>
          </a:p>
        </p:txBody>
      </p:sp>
      <p:sp>
        <p:nvSpPr>
          <p:cNvPr id="11" name="source-P14-5">
            <a:extLst>
              <a:ext uri="{FF2B5EF4-FFF2-40B4-BE49-F238E27FC236}">
                <a16:creationId xmlns:a16="http://schemas.microsoft.com/office/drawing/2014/main" id="{DE478A0F-D0AB-4943-9FEE-8FE5EB4A38F0}"/>
              </a:ext>
            </a:extLst>
          </p:cNvPr>
          <p:cNvSpPr>
            <a:spLocks noGrp="1"/>
          </p:cNvSpPr>
          <p:nvPr/>
        </p:nvSpPr>
        <p:spPr>
          <a:xfrm>
            <a:off x="5791200" y="2781300"/>
            <a:ext cx="3181350" cy="1114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01 片長 0.3663：模型使用最多</a:t>
            </a:r>
          </a:p>
          <a:p>
            <a:pPr algn="l">
              <a:defRPr sz="1425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02 標題長度 0.2073：使用次之</a:t>
            </a:r>
          </a:p>
          <a:p>
            <a:pPr algn="l">
              <a:defRPr sz="1425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03 總體經濟／國際 0.0602：</a:t>
            </a:r>
          </a:p>
          <a:p>
            <a:pPr algn="l">
              <a:defRPr sz="1425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     題材也是判斷線索</a:t>
            </a:r>
          </a:p>
        </p:txBody>
      </p:sp>
      <p:sp>
        <p:nvSpPr>
          <p:cNvPr id="12" name="source-P14-6">
            <a:extLst>
              <a:ext uri="{FF2B5EF4-FFF2-40B4-BE49-F238E27FC236}">
                <a16:creationId xmlns:a16="http://schemas.microsoft.com/office/drawing/2014/main" id="{444A6F50-9884-4447-B9C5-F211560FD5DD}"/>
              </a:ext>
            </a:extLst>
          </p:cNvPr>
          <p:cNvSpPr>
            <a:spLocks noGrp="1"/>
          </p:cNvSpPr>
          <p:nvPr/>
        </p:nvSpPr>
        <p:spPr>
          <a:xfrm>
            <a:off x="5791200" y="4095750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跨方法觀察</a:t>
            </a:r>
          </a:p>
        </p:txBody>
      </p:sp>
      <p:sp>
        <p:nvSpPr>
          <p:cNvPr id="13" name="source-P14-7">
            <a:extLst>
              <a:ext uri="{FF2B5EF4-FFF2-40B4-BE49-F238E27FC236}">
                <a16:creationId xmlns:a16="http://schemas.microsoft.com/office/drawing/2014/main" id="{78A6D0B3-2611-4CE8-8043-EED8722E8402}"/>
              </a:ext>
            </a:extLst>
          </p:cNvPr>
          <p:cNvSpPr>
            <a:spLocks noGrp="1"/>
          </p:cNvSpPr>
          <p:nvPr/>
        </p:nvSpPr>
        <p:spPr>
          <a:xfrm>
            <a:off x="5791200" y="4524375"/>
            <a:ext cx="31432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EDA：High 組平均片長較長</a:t>
            </a:r>
          </a:p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LR：片長為重要關聯特徵之一</a:t>
            </a:r>
          </a:p>
          <a:p>
            <a:pPr algn="l">
              <a:def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RF：duration_min 重要度第一</a:t>
            </a:r>
          </a:p>
        </p:txBody>
      </p:sp>
      <p:sp>
        <p:nvSpPr>
          <p:cNvPr id="14" name="source-P14-8">
            <a:extLst>
              <a:ext uri="{FF2B5EF4-FFF2-40B4-BE49-F238E27FC236}">
                <a16:creationId xmlns:a16="http://schemas.microsoft.com/office/drawing/2014/main" id="{43A5F8F3-5A7D-46F3-9AA3-3F23A93FC33D}"/>
              </a:ext>
            </a:extLst>
          </p:cNvPr>
          <p:cNvSpPr>
            <a:spLocks noGrp="1"/>
          </p:cNvSpPr>
          <p:nvPr/>
        </p:nvSpPr>
        <p:spPr>
          <a:xfrm>
            <a:off x="495300" y="5981700"/>
            <a:ext cx="84486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目前最一致的發布前訊號之一：影片片長。</a:t>
            </a:r>
          </a:p>
        </p:txBody>
      </p:sp>
      <p:sp>
        <p:nvSpPr>
          <p:cNvPr id="15" name="source-P14-9">
            <a:extLst>
              <a:ext uri="{FF2B5EF4-FFF2-40B4-BE49-F238E27FC236}">
                <a16:creationId xmlns:a16="http://schemas.microsoft.com/office/drawing/2014/main" id="{F7B02801-C28B-4D16-BB08-1103676E8E7D}"/>
              </a:ext>
            </a:extLst>
          </p:cNvPr>
          <p:cNvSpPr>
            <a:spLocks noGrp="1"/>
          </p:cNvSpPr>
          <p:nvPr/>
        </p:nvSpPr>
        <p:spPr>
          <a:xfrm>
            <a:off x="476250" y="642937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重要度只代表模型使用程度，沒有正負方向，也不代表因果；不能解讀成「越長越好」。</a:t>
            </a:r>
          </a:p>
        </p:txBody>
      </p:sp>
    </p:spTree>
    <p:extLst>
      <p:ext uri="{BB962C8B-B14F-4D97-AF65-F5344CB8AC3E}">
        <p14:creationId xmlns:p14="http://schemas.microsoft.com/office/powerpoint/2010/main" val="422983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anel-343">
            <a:extLst>
              <a:ext uri="{FF2B5EF4-FFF2-40B4-BE49-F238E27FC236}">
                <a16:creationId xmlns:a16="http://schemas.microsoft.com/office/drawing/2014/main" id="{F0DDE649-E684-455B-B90D-A6E6964B2F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620250" cy="6858000"/>
          </a:xfrm>
          <a:prstGeom prst="rect">
            <a:avLst/>
          </a:prstGeom>
          <a:gradFill>
            <a:gsLst>
              <a:gs pos="0">
                <a:srgbClr val="091A2D">
                  <a:alpha val="28000"/>
                </a:srgbClr>
              </a:gs>
              <a:gs pos="65000">
                <a:srgbClr val="091A2D">
                  <a:alpha val="15000"/>
                </a:srgbClr>
              </a:gs>
              <a:gs pos="100000">
                <a:srgbClr val="091A2D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panel-344">
            <a:extLst>
              <a:ext uri="{FF2B5EF4-FFF2-40B4-BE49-F238E27FC236}">
                <a16:creationId xmlns:a16="http://schemas.microsoft.com/office/drawing/2014/main" id="{0E9D183A-813C-47CA-B899-21725E81C4AA}"/>
              </a:ext>
            </a:extLst>
          </p:cNvPr>
          <p:cNvSpPr>
            <a:spLocks noGrp="1"/>
          </p:cNvSpPr>
          <p:nvPr/>
        </p:nvSpPr>
        <p:spPr>
          <a:xfrm>
            <a:off x="0" y="5857875"/>
            <a:ext cx="12192000" cy="1000125"/>
          </a:xfrm>
          <a:prstGeom prst="rect">
            <a:avLst/>
          </a:prstGeom>
          <a:gradFill>
            <a:gsLst>
              <a:gs pos="0">
                <a:srgbClr val="091A2D">
                  <a:alpha val="0"/>
                </a:srgbClr>
              </a:gs>
              <a:gs pos="100000">
                <a:srgbClr val="091A2D">
                  <a:alpha val="25000"/>
                </a:srgbClr>
              </a:gs>
            </a:gsLst>
            <a:lin ang="540000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anel-345">
            <a:extLst>
              <a:ext uri="{FF2B5EF4-FFF2-40B4-BE49-F238E27FC236}">
                <a16:creationId xmlns:a16="http://schemas.microsoft.com/office/drawing/2014/main" id="{CC7AD358-4B7A-406F-BB17-AD65DAA0B408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7625" cy="238125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ource-P15-0">
            <a:extLst>
              <a:ext uri="{FF2B5EF4-FFF2-40B4-BE49-F238E27FC236}">
                <a16:creationId xmlns:a16="http://schemas.microsoft.com/office/drawing/2014/main" id="{295EE144-E1C4-4FF4-BC02-DBAAC635D117}"/>
              </a:ext>
            </a:extLst>
          </p:cNvPr>
          <p:cNvSpPr>
            <a:spLocks noGrp="1"/>
          </p:cNvSpPr>
          <p:nvPr/>
        </p:nvSpPr>
        <p:spPr>
          <a:xfrm>
            <a:off x="647700" y="295275"/>
            <a:ext cx="105251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15 · 模型表現比較</a:t>
            </a:r>
          </a:p>
        </p:txBody>
      </p:sp>
      <p:sp>
        <p:nvSpPr>
          <p:cNvPr id="6" name="source-P15-1">
            <a:extLst>
              <a:ext uri="{FF2B5EF4-FFF2-40B4-BE49-F238E27FC236}">
                <a16:creationId xmlns:a16="http://schemas.microsoft.com/office/drawing/2014/main" id="{67E1E39D-19B2-4D5C-8B5D-EC78B12DFD19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953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15</a:t>
            </a:r>
          </a:p>
        </p:txBody>
      </p:sp>
      <p:sp>
        <p:nvSpPr>
          <p:cNvPr id="7" name="source-P15-2">
            <a:extLst>
              <a:ext uri="{FF2B5EF4-FFF2-40B4-BE49-F238E27FC236}">
                <a16:creationId xmlns:a16="http://schemas.microsoft.com/office/drawing/2014/main" id="{B3045BC1-95F0-404F-903E-5D8AF6B72FA9}"/>
              </a:ext>
            </a:extLst>
          </p:cNvPr>
          <p:cNvSpPr>
            <a:spLocks noGrp="1"/>
          </p:cNvSpPr>
          <p:nvPr/>
        </p:nvSpPr>
        <p:spPr>
          <a:xfrm>
            <a:off x="457200" y="933450"/>
            <a:ext cx="8810625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模型比較：固定測試與五折驗證要分開看</a:t>
            </a:r>
          </a:p>
        </p:txBody>
      </p:sp>
      <p:sp>
        <p:nvSpPr>
          <p:cNvPr id="8" name="panel-349">
            <a:extLst>
              <a:ext uri="{FF2B5EF4-FFF2-40B4-BE49-F238E27FC236}">
                <a16:creationId xmlns:a16="http://schemas.microsoft.com/office/drawing/2014/main" id="{8FC6EBE2-E454-498C-BB64-51DCC2656EE0}"/>
              </a:ext>
            </a:extLst>
          </p:cNvPr>
          <p:cNvSpPr>
            <a:spLocks noGrp="1"/>
          </p:cNvSpPr>
          <p:nvPr/>
        </p:nvSpPr>
        <p:spPr>
          <a:xfrm>
            <a:off x="476250" y="1857375"/>
            <a:ext cx="7162800" cy="2533650"/>
          </a:xfrm>
          <a:prstGeom prst="roundRect">
            <a:avLst>
              <a:gd name="adj" fmla="val 4511"/>
            </a:avLst>
          </a:prstGeom>
          <a:solidFill>
            <a:srgbClr val="141B25">
              <a:alpha val="100000"/>
            </a:srgbClr>
          </a:solidFill>
          <a:ln w="9525">
            <a:solidFill>
              <a:srgbClr val="344251">
                <a:alpha val="4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ource-P15-3">
            <a:extLst>
              <a:ext uri="{FF2B5EF4-FFF2-40B4-BE49-F238E27FC236}">
                <a16:creationId xmlns:a16="http://schemas.microsoft.com/office/drawing/2014/main" id="{6083D346-5EB2-456B-B6EE-2D82BDAC9E27}"/>
              </a:ext>
            </a:extLst>
          </p:cNvPr>
          <p:cNvSpPr>
            <a:spLocks noGrp="1"/>
          </p:cNvSpPr>
          <p:nvPr/>
        </p:nvSpPr>
        <p:spPr>
          <a:xfrm>
            <a:off x="600075" y="1924050"/>
            <a:ext cx="6667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固定測試集 29 支：觀察未參與訓練的影片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="571500" y="2295525"/>
          <a:ext cx="6962775" cy="2009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ource-P15-4">
            <a:extLst>
              <a:ext uri="{FF2B5EF4-FFF2-40B4-BE49-F238E27FC236}">
                <a16:creationId xmlns:a16="http://schemas.microsoft.com/office/drawing/2014/main" id="{9CC8D2D2-2018-4292-BD99-9AEE0FE29376}"/>
              </a:ext>
            </a:extLst>
          </p:cNvPr>
          <p:cNvSpPr>
            <a:spLocks noGrp="1"/>
          </p:cNvSpPr>
          <p:nvPr/>
        </p:nvSpPr>
        <p:spPr>
          <a:xfrm>
            <a:off x="504825" y="4476750"/>
            <a:ext cx="71628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固定測試：RF的召回率／F1 較高；LR的 ROC-AUC 較高</a:t>
            </a:r>
          </a:p>
        </p:txBody>
      </p:sp>
      <p:sp>
        <p:nvSpPr>
          <p:cNvPr id="12" name="source-P15-5">
            <a:extLst>
              <a:ext uri="{FF2B5EF4-FFF2-40B4-BE49-F238E27FC236}">
                <a16:creationId xmlns:a16="http://schemas.microsoft.com/office/drawing/2014/main" id="{3B05CCB9-C4DD-47EB-B970-0D2C85F6CCB2}"/>
              </a:ext>
            </a:extLst>
          </p:cNvPr>
          <p:cNvSpPr>
            <a:spLocks noGrp="1"/>
          </p:cNvSpPr>
          <p:nvPr/>
        </p:nvSpPr>
        <p:spPr>
          <a:xfrm>
            <a:off x="504825" y="4867275"/>
            <a:ext cx="7162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五折平均（只在 113 部訓練集輪流驗證）</a:t>
            </a:r>
          </a:p>
        </p:txBody>
      </p:sp>
      <p:sp>
        <p:nvSpPr>
          <p:cNvPr id="13" name="source-P15-6">
            <a:extLst>
              <a:ext uri="{FF2B5EF4-FFF2-40B4-BE49-F238E27FC236}">
                <a16:creationId xmlns:a16="http://schemas.microsoft.com/office/drawing/2014/main" id="{71299568-E063-466B-8B0C-ABCBF34200F7}"/>
              </a:ext>
            </a:extLst>
          </p:cNvPr>
          <p:cNvSpPr>
            <a:spLocks noGrp="1"/>
          </p:cNvSpPr>
          <p:nvPr/>
        </p:nvSpPr>
        <p:spPr>
          <a:xfrm>
            <a:off x="504825" y="5238750"/>
            <a:ext cx="71628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F1：LR 0.5321／RF 0.4785</a:t>
            </a:r>
          </a:p>
          <a:p>
            <a:pPr algn="l">
              <a:defRPr sz="187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ROC-AUC：LR 0.7050／RF 0.6765</a:t>
            </a:r>
          </a:p>
        </p:txBody>
      </p:sp>
      <p:sp>
        <p:nvSpPr>
          <p:cNvPr id="14" name="source-P15-7">
            <a:extLst>
              <a:ext uri="{FF2B5EF4-FFF2-40B4-BE49-F238E27FC236}">
                <a16:creationId xmlns:a16="http://schemas.microsoft.com/office/drawing/2014/main" id="{28B86D62-87A9-41E8-B572-27983A3495F0}"/>
              </a:ext>
            </a:extLst>
          </p:cNvPr>
          <p:cNvSpPr>
            <a:spLocks noGrp="1"/>
          </p:cNvSpPr>
          <p:nvPr/>
        </p:nvSpPr>
        <p:spPr>
          <a:xfrm>
            <a:off x="504825" y="6019800"/>
            <a:ext cx="71628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RF 在固定測試較亮眼，五折並未穩定全面勝過 LR。</a:t>
            </a:r>
          </a:p>
        </p:txBody>
      </p:sp>
      <p:sp>
        <p:nvSpPr>
          <p:cNvPr id="15" name="source-P15-8">
            <a:extLst>
              <a:ext uri="{FF2B5EF4-FFF2-40B4-BE49-F238E27FC236}">
                <a16:creationId xmlns:a16="http://schemas.microsoft.com/office/drawing/2014/main" id="{5B51E50B-1A56-4130-B48F-A0D4A6CCF16B}"/>
              </a:ext>
            </a:extLst>
          </p:cNvPr>
          <p:cNvSpPr>
            <a:spLocks noGrp="1"/>
          </p:cNvSpPr>
          <p:nvPr/>
        </p:nvSpPr>
        <p:spPr>
          <a:xfrm>
            <a:off x="476250" y="642937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主報：LR；對照：RF。五折 LR 為 balanced 0.50；與主報 0.60 及固定測試分開解讀。</a:t>
            </a:r>
          </a:p>
        </p:txBody>
      </p:sp>
    </p:spTree>
    <p:extLst>
      <p:ext uri="{BB962C8B-B14F-4D97-AF65-F5344CB8AC3E}">
        <p14:creationId xmlns:p14="http://schemas.microsoft.com/office/powerpoint/2010/main" val="1637323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anel-356">
            <a:extLst>
              <a:ext uri="{FF2B5EF4-FFF2-40B4-BE49-F238E27FC236}">
                <a16:creationId xmlns:a16="http://schemas.microsoft.com/office/drawing/2014/main" id="{8DF1F632-6A3C-4A66-9650-2EFDEED7B9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620250" cy="6858000"/>
          </a:xfrm>
          <a:prstGeom prst="rect">
            <a:avLst/>
          </a:prstGeom>
          <a:gradFill>
            <a:gsLst>
              <a:gs pos="0">
                <a:srgbClr val="091A2D">
                  <a:alpha val="28000"/>
                </a:srgbClr>
              </a:gs>
              <a:gs pos="65000">
                <a:srgbClr val="091A2D">
                  <a:alpha val="15000"/>
                </a:srgbClr>
              </a:gs>
              <a:gs pos="100000">
                <a:srgbClr val="091A2D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panel-357">
            <a:extLst>
              <a:ext uri="{FF2B5EF4-FFF2-40B4-BE49-F238E27FC236}">
                <a16:creationId xmlns:a16="http://schemas.microsoft.com/office/drawing/2014/main" id="{EE20EC19-6A8A-4D51-A9D7-9FAE654BDF10}"/>
              </a:ext>
            </a:extLst>
          </p:cNvPr>
          <p:cNvSpPr>
            <a:spLocks noGrp="1"/>
          </p:cNvSpPr>
          <p:nvPr/>
        </p:nvSpPr>
        <p:spPr>
          <a:xfrm>
            <a:off x="0" y="5857875"/>
            <a:ext cx="12192000" cy="1000125"/>
          </a:xfrm>
          <a:prstGeom prst="rect">
            <a:avLst/>
          </a:prstGeom>
          <a:gradFill>
            <a:gsLst>
              <a:gs pos="0">
                <a:srgbClr val="091A2D">
                  <a:alpha val="0"/>
                </a:srgbClr>
              </a:gs>
              <a:gs pos="100000">
                <a:srgbClr val="091A2D">
                  <a:alpha val="25000"/>
                </a:srgbClr>
              </a:gs>
            </a:gsLst>
            <a:lin ang="540000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anel-358">
            <a:extLst>
              <a:ext uri="{FF2B5EF4-FFF2-40B4-BE49-F238E27FC236}">
                <a16:creationId xmlns:a16="http://schemas.microsoft.com/office/drawing/2014/main" id="{32B82B03-DB7E-4351-94ED-AE30BF741ACB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47625" cy="238125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ource-P16-0">
            <a:extLst>
              <a:ext uri="{FF2B5EF4-FFF2-40B4-BE49-F238E27FC236}">
                <a16:creationId xmlns:a16="http://schemas.microsoft.com/office/drawing/2014/main" id="{0DD6BDAA-1254-4177-97D7-E8AA05888176}"/>
              </a:ext>
            </a:extLst>
          </p:cNvPr>
          <p:cNvSpPr>
            <a:spLocks noGrp="1"/>
          </p:cNvSpPr>
          <p:nvPr/>
        </p:nvSpPr>
        <p:spPr>
          <a:xfrm>
            <a:off x="647700" y="295275"/>
            <a:ext cx="105251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16 · 2026 最新影片：潛力排序</a:t>
            </a:r>
          </a:p>
        </p:txBody>
      </p:sp>
      <p:sp>
        <p:nvSpPr>
          <p:cNvPr id="6" name="source-P16-1">
            <a:extLst>
              <a:ext uri="{FF2B5EF4-FFF2-40B4-BE49-F238E27FC236}">
                <a16:creationId xmlns:a16="http://schemas.microsoft.com/office/drawing/2014/main" id="{E28E87D5-9D8C-4167-BC58-8E931695C5AD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953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B6C2D0"/>
                </a:solidFill>
                <a:latin typeface="Noto Sans CJK TC"/>
                <a:ea typeface="Noto Sans CJK TC"/>
                <a:cs typeface="Noto Sans CJK TC"/>
              </a:rPr>
              <a:t>16</a:t>
            </a:r>
          </a:p>
        </p:txBody>
      </p:sp>
      <p:sp>
        <p:nvSpPr>
          <p:cNvPr id="7" name="source-P16-2">
            <a:extLst>
              <a:ext uri="{FF2B5EF4-FFF2-40B4-BE49-F238E27FC236}">
                <a16:creationId xmlns:a16="http://schemas.microsoft.com/office/drawing/2014/main" id="{2E3C28A2-B0E5-4095-B6D5-0EE698C0A57D}"/>
              </a:ext>
            </a:extLst>
          </p:cNvPr>
          <p:cNvSpPr>
            <a:spLocks noGrp="1"/>
          </p:cNvSpPr>
          <p:nvPr/>
        </p:nvSpPr>
        <p:spPr>
          <a:xfrm>
            <a:off x="457200" y="933450"/>
            <a:ext cx="8810625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2026 最新影片高成效潛力排序</a:t>
            </a:r>
          </a:p>
        </p:txBody>
      </p:sp>
      <p:sp>
        <p:nvSpPr>
          <p:cNvPr id="8" name="source-P16-3">
            <a:extLst>
              <a:ext uri="{FF2B5EF4-FFF2-40B4-BE49-F238E27FC236}">
                <a16:creationId xmlns:a16="http://schemas.microsoft.com/office/drawing/2014/main" id="{EE025B89-EDF1-422E-B815-E28B411BB2C4}"/>
              </a:ext>
            </a:extLst>
          </p:cNvPr>
          <p:cNvSpPr>
            <a:spLocks noGrp="1"/>
          </p:cNvSpPr>
          <p:nvPr/>
        </p:nvSpPr>
        <p:spPr>
          <a:xfrm>
            <a:off x="476250" y="1724025"/>
            <a:ext cx="218122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14 / 14</a:t>
            </a:r>
          </a:p>
        </p:txBody>
      </p:sp>
      <p:sp>
        <p:nvSpPr>
          <p:cNvPr id="9" name="source-P16-4">
            <a:extLst>
              <a:ext uri="{FF2B5EF4-FFF2-40B4-BE49-F238E27FC236}">
                <a16:creationId xmlns:a16="http://schemas.microsoft.com/office/drawing/2014/main" id="{B5469EBB-28D8-42B7-B21B-C9043D8D2E6E}"/>
              </a:ext>
            </a:extLst>
          </p:cNvPr>
          <p:cNvSpPr>
            <a:spLocks noGrp="1"/>
          </p:cNvSpPr>
          <p:nvPr/>
        </p:nvSpPr>
        <p:spPr>
          <a:xfrm>
            <a:off x="2933700" y="1809750"/>
            <a:ext cx="46672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高成效／一般判斷一致</a:t>
            </a:r>
          </a:p>
          <a:p>
            <a:pPr algn="l">
              <a:defRPr sz="1800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43D6DF"/>
                </a:solidFill>
                <a:latin typeface="Noto Sans CJK TC"/>
                <a:ea typeface="Noto Sans CJK TC"/>
                <a:cs typeface="Noto Sans CJK TC"/>
              </a:rPr>
              <a:t>LR 0.60 與RF 0.50</a:t>
            </a:r>
          </a:p>
        </p:txBody>
      </p:sp>
      <p:sp>
        <p:nvSpPr>
          <p:cNvPr id="10" name="panel-364">
            <a:extLst>
              <a:ext uri="{FF2B5EF4-FFF2-40B4-BE49-F238E27FC236}">
                <a16:creationId xmlns:a16="http://schemas.microsoft.com/office/drawing/2014/main" id="{8C447A4E-91DC-469B-99F2-F120BFA9C69D}"/>
              </a:ext>
            </a:extLst>
          </p:cNvPr>
          <p:cNvSpPr>
            <a:spLocks noGrp="1"/>
          </p:cNvSpPr>
          <p:nvPr/>
        </p:nvSpPr>
        <p:spPr>
          <a:xfrm>
            <a:off x="476250" y="2638425"/>
            <a:ext cx="7162800" cy="3476625"/>
          </a:xfrm>
          <a:prstGeom prst="roundRect">
            <a:avLst>
              <a:gd name="adj" fmla="val 3288"/>
            </a:avLst>
          </a:prstGeom>
          <a:solidFill>
            <a:srgbClr val="141B25">
              <a:alpha val="100000"/>
            </a:srgbClr>
          </a:solidFill>
          <a:ln w="9525">
            <a:solidFill>
              <a:srgbClr val="344251">
                <a:alpha val="4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ource-P16-5">
            <a:extLst>
              <a:ext uri="{FF2B5EF4-FFF2-40B4-BE49-F238E27FC236}">
                <a16:creationId xmlns:a16="http://schemas.microsoft.com/office/drawing/2014/main" id="{7D89BCF8-60D8-47BB-9BE9-DD86DA5A743D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68389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LR模型分數（紅色：兩模型共同判為高成效的 3 支）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="552450" y="3057525"/>
          <a:ext cx="6972300" cy="2943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ource-P16-6">
            <a:extLst>
              <a:ext uri="{FF2B5EF4-FFF2-40B4-BE49-F238E27FC236}">
                <a16:creationId xmlns:a16="http://schemas.microsoft.com/office/drawing/2014/main" id="{18F7C9D1-90AD-4579-A25D-5D8AFF129E65}"/>
              </a:ext>
            </a:extLst>
          </p:cNvPr>
          <p:cNvSpPr>
            <a:spLocks noGrp="1"/>
          </p:cNvSpPr>
          <p:nvPr/>
        </p:nvSpPr>
        <p:spPr>
          <a:xfrm>
            <a:off x="504825" y="6134100"/>
            <a:ext cx="7524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2026 尚無正式真實標籤（ground truth）</a:t>
            </a:r>
          </a:p>
          <a:p>
            <a:pPr algn="l">
              <a:defRPr sz="165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F5F6FA"/>
                </a:solidFill>
                <a:latin typeface="Noto Sans CJK TC"/>
                <a:ea typeface="Noto Sans CJK TC"/>
                <a:cs typeface="Noto Sans CJK TC"/>
              </a:rPr>
              <a:t>本頁是模型分數／潛力排序，不是實際爆款機率</a:t>
            </a:r>
          </a:p>
        </p:txBody>
      </p:sp>
    </p:spTree>
    <p:extLst>
      <p:ext uri="{BB962C8B-B14F-4D97-AF65-F5344CB8AC3E}">
        <p14:creationId xmlns:p14="http://schemas.microsoft.com/office/powerpoint/2010/main" val="568771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圖片 4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layout-49">
            <a:extLst>
              <a:ext uri="{FF2B5EF4-FFF2-40B4-BE49-F238E27FC236}">
                <a16:creationId xmlns:a16="http://schemas.microsoft.com/office/drawing/2014/main" id="{C87CED13-38E3-4B37-99CE-FE598F3FC5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905875" cy="6858000"/>
          </a:xfrm>
          <a:prstGeom prst="rect">
            <a:avLst/>
          </a:prstGeom>
          <a:gradFill>
            <a:gsLst>
              <a:gs pos="0">
                <a:srgbClr val="060E1C">
                  <a:alpha val="42000"/>
                </a:srgbClr>
              </a:gs>
              <a:gs pos="63000">
                <a:srgbClr val="060E1C">
                  <a:alpha val="20000"/>
                </a:srgbClr>
              </a:gs>
              <a:gs pos="100000">
                <a:srgbClr val="060E1C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ource-P17-0">
            <a:extLst>
              <a:ext uri="{FF2B5EF4-FFF2-40B4-BE49-F238E27FC236}">
                <a16:creationId xmlns:a16="http://schemas.microsoft.com/office/drawing/2014/main" id="{393DF8F5-F645-43ED-B349-1BC5D9C11100}"/>
              </a:ext>
            </a:extLst>
          </p:cNvPr>
          <p:cNvSpPr>
            <a:spLocks noGrp="1"/>
          </p:cNvSpPr>
          <p:nvPr/>
        </p:nvSpPr>
        <p:spPr>
          <a:xfrm>
            <a:off x="657225" y="2381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17 · 結論、研究限制與未來改善</a:t>
            </a:r>
          </a:p>
        </p:txBody>
      </p:sp>
      <p:sp>
        <p:nvSpPr>
          <p:cNvPr id="26" name="source-P17-1">
            <a:extLst>
              <a:ext uri="{FF2B5EF4-FFF2-40B4-BE49-F238E27FC236}">
                <a16:creationId xmlns:a16="http://schemas.microsoft.com/office/drawing/2014/main" id="{0932E53D-D8D2-474D-919A-657C604E2FA3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17</a:t>
            </a:r>
          </a:p>
        </p:txBody>
      </p:sp>
      <p:sp>
        <p:nvSpPr>
          <p:cNvPr id="27" name="source-P17-2">
            <a:extLst>
              <a:ext uri="{FF2B5EF4-FFF2-40B4-BE49-F238E27FC236}">
                <a16:creationId xmlns:a16="http://schemas.microsoft.com/office/drawing/2014/main" id="{E181099F-6D11-4CC2-96B3-178F05C98B87}"/>
              </a:ext>
            </a:extLst>
          </p:cNvPr>
          <p:cNvSpPr>
            <a:spLocks noGrp="1"/>
          </p:cNvSpPr>
          <p:nvPr/>
        </p:nvSpPr>
        <p:spPr>
          <a:xfrm>
            <a:off x="457200" y="771525"/>
            <a:ext cx="1123950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研究結論</a:t>
            </a:r>
          </a:p>
        </p:txBody>
      </p:sp>
      <p:sp>
        <p:nvSpPr>
          <p:cNvPr id="28" name="layout-50">
            <a:extLst>
              <a:ext uri="{FF2B5EF4-FFF2-40B4-BE49-F238E27FC236}">
                <a16:creationId xmlns:a16="http://schemas.microsoft.com/office/drawing/2014/main" id="{3E8B6246-97E3-4DF2-B6FF-2B04BC3B0D25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7625" cy="228600"/>
          </a:xfrm>
          <a:prstGeom prst="rect">
            <a:avLst/>
          </a:prstGeom>
          <a:solidFill>
            <a:srgbClr val="E50914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ource-P17-3">
            <a:extLst>
              <a:ext uri="{FF2B5EF4-FFF2-40B4-BE49-F238E27FC236}">
                <a16:creationId xmlns:a16="http://schemas.microsoft.com/office/drawing/2014/main" id="{86D19132-D09B-4F60-AA36-2E6331240D19}"/>
              </a:ext>
            </a:extLst>
          </p:cNvPr>
          <p:cNvSpPr>
            <a:spLocks noGrp="1"/>
          </p:cNvSpPr>
          <p:nvPr/>
        </p:nvSpPr>
        <p:spPr>
          <a:xfrm>
            <a:off x="485775" y="1647825"/>
            <a:ext cx="728662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01 題材有歷史差異</a:t>
            </a:r>
          </a:p>
        </p:txBody>
      </p:sp>
      <p:sp>
        <p:nvSpPr>
          <p:cNvPr id="30" name="source-P17-4">
            <a:extLst>
              <a:ext uri="{FF2B5EF4-FFF2-40B4-BE49-F238E27FC236}">
                <a16:creationId xmlns:a16="http://schemas.microsoft.com/office/drawing/2014/main" id="{25E3AA33-CD51-44CF-B02F-A2D9CBC9134B}"/>
              </a:ext>
            </a:extLst>
          </p:cNvPr>
          <p:cNvSpPr>
            <a:spLocks noGrp="1"/>
          </p:cNvSpPr>
          <p:nvPr/>
        </p:nvSpPr>
        <p:spPr>
          <a:xfrm>
            <a:off x="485775" y="2019300"/>
            <a:ext cx="740092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總體經濟／國際的 High 比例最高。</a:t>
            </a:r>
          </a:p>
        </p:txBody>
      </p:sp>
      <p:sp>
        <p:nvSpPr>
          <p:cNvPr id="31" name="source-P17-5">
            <a:extLst>
              <a:ext uri="{FF2B5EF4-FFF2-40B4-BE49-F238E27FC236}">
                <a16:creationId xmlns:a16="http://schemas.microsoft.com/office/drawing/2014/main" id="{7B66B0DB-DBCC-4E63-88C8-151F3F548059}"/>
              </a:ext>
            </a:extLst>
          </p:cNvPr>
          <p:cNvSpPr>
            <a:spLocks noGrp="1"/>
          </p:cNvSpPr>
          <p:nvPr/>
        </p:nvSpPr>
        <p:spPr>
          <a:xfrm>
            <a:off x="485775" y="2362200"/>
            <a:ext cx="728662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02 片長是較一致的訊號</a:t>
            </a:r>
          </a:p>
        </p:txBody>
      </p:sp>
      <p:sp>
        <p:nvSpPr>
          <p:cNvPr id="32" name="source-P17-6">
            <a:extLst>
              <a:ext uri="{FF2B5EF4-FFF2-40B4-BE49-F238E27FC236}">
                <a16:creationId xmlns:a16="http://schemas.microsoft.com/office/drawing/2014/main" id="{5B37F5AE-0C19-4D9F-A390-1A356AD4B4BE}"/>
              </a:ext>
            </a:extLst>
          </p:cNvPr>
          <p:cNvSpPr>
            <a:spLocks noGrp="1"/>
          </p:cNvSpPr>
          <p:nvPr/>
        </p:nvSpPr>
        <p:spPr>
          <a:xfrm>
            <a:off x="485775" y="2733675"/>
            <a:ext cx="740092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EDA、LR、RF 都顯示片長值得注意。</a:t>
            </a:r>
          </a:p>
        </p:txBody>
      </p:sp>
      <p:sp>
        <p:nvSpPr>
          <p:cNvPr id="33" name="source-P17-7">
            <a:extLst>
              <a:ext uri="{FF2B5EF4-FFF2-40B4-BE49-F238E27FC236}">
                <a16:creationId xmlns:a16="http://schemas.microsoft.com/office/drawing/2014/main" id="{DFEE579A-E671-4132-B44C-2590DA37E092}"/>
              </a:ext>
            </a:extLst>
          </p:cNvPr>
          <p:cNvSpPr>
            <a:spLocks noGrp="1"/>
          </p:cNvSpPr>
          <p:nvPr/>
        </p:nvSpPr>
        <p:spPr>
          <a:xfrm>
            <a:off x="485775" y="3076575"/>
            <a:ext cx="728662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03 標題長度與發布時間</a:t>
            </a:r>
          </a:p>
        </p:txBody>
      </p:sp>
      <p:sp>
        <p:nvSpPr>
          <p:cNvPr id="34" name="source-P17-8">
            <a:extLst>
              <a:ext uri="{FF2B5EF4-FFF2-40B4-BE49-F238E27FC236}">
                <a16:creationId xmlns:a16="http://schemas.microsoft.com/office/drawing/2014/main" id="{D0E75A80-BE8C-47EE-9919-5BC9F81E1C93}"/>
              </a:ext>
            </a:extLst>
          </p:cNvPr>
          <p:cNvSpPr>
            <a:spLocks noGrp="1"/>
          </p:cNvSpPr>
          <p:nvPr/>
        </p:nvSpPr>
        <p:spPr>
          <a:xfrm>
            <a:off x="485775" y="3448050"/>
            <a:ext cx="740092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目前資料不足以形成強策略。</a:t>
            </a:r>
          </a:p>
        </p:txBody>
      </p:sp>
      <p:sp>
        <p:nvSpPr>
          <p:cNvPr id="35" name="source-P17-9">
            <a:extLst>
              <a:ext uri="{FF2B5EF4-FFF2-40B4-BE49-F238E27FC236}">
                <a16:creationId xmlns:a16="http://schemas.microsoft.com/office/drawing/2014/main" id="{1B522182-7C23-464B-8548-474975C51564}"/>
              </a:ext>
            </a:extLst>
          </p:cNvPr>
          <p:cNvSpPr>
            <a:spLocks noGrp="1"/>
          </p:cNvSpPr>
          <p:nvPr/>
        </p:nvSpPr>
        <p:spPr>
          <a:xfrm>
            <a:off x="485775" y="3790950"/>
            <a:ext cx="728662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04 模型有一定辨識能力</a:t>
            </a:r>
          </a:p>
        </p:txBody>
      </p:sp>
      <p:sp>
        <p:nvSpPr>
          <p:cNvPr id="36" name="source-P17-10">
            <a:extLst>
              <a:ext uri="{FF2B5EF4-FFF2-40B4-BE49-F238E27FC236}">
                <a16:creationId xmlns:a16="http://schemas.microsoft.com/office/drawing/2014/main" id="{F5A5445A-C922-4181-9183-6A8E108413ED}"/>
              </a:ext>
            </a:extLst>
          </p:cNvPr>
          <p:cNvSpPr>
            <a:spLocks noGrp="1"/>
          </p:cNvSpPr>
          <p:nvPr/>
        </p:nvSpPr>
        <p:spPr>
          <a:xfrm>
            <a:off x="485775" y="4162425"/>
            <a:ext cx="740092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能提供參考，但不是爆款保證器。</a:t>
            </a:r>
          </a:p>
        </p:txBody>
      </p:sp>
      <p:sp>
        <p:nvSpPr>
          <p:cNvPr id="37" name="source-P17-11">
            <a:extLst>
              <a:ext uri="{FF2B5EF4-FFF2-40B4-BE49-F238E27FC236}">
                <a16:creationId xmlns:a16="http://schemas.microsoft.com/office/drawing/2014/main" id="{B3E1311B-30E1-4ADE-A926-429F958ADEAB}"/>
              </a:ext>
            </a:extLst>
          </p:cNvPr>
          <p:cNvSpPr>
            <a:spLocks noGrp="1"/>
          </p:cNvSpPr>
          <p:nvPr/>
        </p:nvSpPr>
        <p:spPr>
          <a:xfrm>
            <a:off x="476250" y="4638675"/>
            <a:ext cx="1809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實務價值</a:t>
            </a:r>
          </a:p>
        </p:txBody>
      </p:sp>
      <p:sp>
        <p:nvSpPr>
          <p:cNvPr id="38" name="source-P17-12">
            <a:extLst>
              <a:ext uri="{FF2B5EF4-FFF2-40B4-BE49-F238E27FC236}">
                <a16:creationId xmlns:a16="http://schemas.microsoft.com/office/drawing/2014/main" id="{93DDC426-3C21-4C40-8596-9E3781189337}"/>
              </a:ext>
            </a:extLst>
          </p:cNvPr>
          <p:cNvSpPr>
            <a:spLocks noGrp="1"/>
          </p:cNvSpPr>
          <p:nvPr/>
        </p:nvSpPr>
        <p:spPr>
          <a:xfrm>
            <a:off x="2314575" y="4638675"/>
            <a:ext cx="9172575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把發布前資訊量化，輔助內容企劃，保留創作者與編輯的判斷。</a:t>
            </a:r>
          </a:p>
        </p:txBody>
      </p:sp>
      <p:sp>
        <p:nvSpPr>
          <p:cNvPr id="39" name="source-P17-13">
            <a:extLst>
              <a:ext uri="{FF2B5EF4-FFF2-40B4-BE49-F238E27FC236}">
                <a16:creationId xmlns:a16="http://schemas.microsoft.com/office/drawing/2014/main" id="{7F4B0DF3-BA18-4057-9918-8DD1C6572A0D}"/>
              </a:ext>
            </a:extLst>
          </p:cNvPr>
          <p:cNvSpPr>
            <a:spLocks noGrp="1"/>
          </p:cNvSpPr>
          <p:nvPr/>
        </p:nvSpPr>
        <p:spPr>
          <a:xfrm>
            <a:off x="476250" y="5381625"/>
            <a:ext cx="55626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研究限制</a:t>
            </a:r>
          </a:p>
        </p:txBody>
      </p:sp>
      <p:sp>
        <p:nvSpPr>
          <p:cNvPr id="40" name="source-P17-14">
            <a:extLst>
              <a:ext uri="{FF2B5EF4-FFF2-40B4-BE49-F238E27FC236}">
                <a16:creationId xmlns:a16="http://schemas.microsoft.com/office/drawing/2014/main" id="{C038F4EB-5540-43E0-9BAE-3049E494EBFA}"/>
              </a:ext>
            </a:extLst>
          </p:cNvPr>
          <p:cNvSpPr>
            <a:spLocks noGrp="1"/>
          </p:cNvSpPr>
          <p:nvPr/>
        </p:nvSpPr>
        <p:spPr>
          <a:xfrm>
            <a:off x="6667500" y="5381625"/>
            <a:ext cx="5143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未來改善</a:t>
            </a:r>
          </a:p>
        </p:txBody>
      </p:sp>
      <p:sp>
        <p:nvSpPr>
          <p:cNvPr id="41" name="source-P17-15">
            <a:extLst>
              <a:ext uri="{FF2B5EF4-FFF2-40B4-BE49-F238E27FC236}">
                <a16:creationId xmlns:a16="http://schemas.microsoft.com/office/drawing/2014/main" id="{B644F524-ACA8-4103-A26D-53613C7FFDB6}"/>
              </a:ext>
            </a:extLst>
          </p:cNvPr>
          <p:cNvSpPr>
            <a:spLocks noGrp="1"/>
          </p:cNvSpPr>
          <p:nvPr/>
        </p:nvSpPr>
        <p:spPr>
          <a:xfrm>
            <a:off x="476250" y="5800725"/>
            <a:ext cx="60007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單一頻道、模型樣本 142 部；日均觀看為代理指標。</a:t>
            </a:r>
          </a:p>
          <a:p>
            <a:pPr algn="l">
              <a:defRPr sz="165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API 缺少點閱率（CTR）與觀眾留存。</a:t>
            </a:r>
          </a:p>
          <a:p>
            <a:pPr algn="l">
              <a:defRPr sz="165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非因果推論；2026 尚無正式真實標籤。</a:t>
            </a:r>
          </a:p>
        </p:txBody>
      </p:sp>
      <p:sp>
        <p:nvSpPr>
          <p:cNvPr id="42" name="source-P17-16">
            <a:extLst>
              <a:ext uri="{FF2B5EF4-FFF2-40B4-BE49-F238E27FC236}">
                <a16:creationId xmlns:a16="http://schemas.microsoft.com/office/drawing/2014/main" id="{F18AF634-D87D-47A8-88BA-0730E84F165B}"/>
              </a:ext>
            </a:extLst>
          </p:cNvPr>
          <p:cNvSpPr>
            <a:spLocks noGrp="1"/>
          </p:cNvSpPr>
          <p:nvPr/>
        </p:nvSpPr>
        <p:spPr>
          <a:xfrm>
            <a:off x="6667500" y="5800725"/>
            <a:ext cx="51054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擴充多個財經頻道、建立固定時間快照；</a:t>
            </a:r>
          </a:p>
          <a:p>
            <a:pPr algn="l">
              <a:defRPr sz="165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加入更多發布前內容特徵；</a:t>
            </a:r>
          </a:p>
          <a:p>
            <a:pPr algn="l">
              <a:defRPr sz="165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D3D7DC"/>
                </a:solidFill>
                <a:latin typeface="Noto Sans CJK TC"/>
                <a:ea typeface="Noto Sans CJK TC"/>
                <a:cs typeface="Noto Sans CJK TC"/>
              </a:rPr>
              <a:t>未來進行真正外部驗證。</a:t>
            </a:r>
          </a:p>
        </p:txBody>
      </p:sp>
    </p:spTree>
    <p:extLst>
      <p:ext uri="{BB962C8B-B14F-4D97-AF65-F5344CB8AC3E}">
        <p14:creationId xmlns:p14="http://schemas.microsoft.com/office/powerpoint/2010/main" val="10116671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3143</Words>
  <Application>Microsoft Office PowerPoint</Application>
  <DocSecurity>0</DocSecurity>
  <PresentationFormat>寬螢幕</PresentationFormat>
  <Paragraphs>649</Paragraphs>
  <Slides>17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0" baseType="lpstr">
      <vt:lpstr>Noto Sans CJK TC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4</cp:revision>
  <dcterms:created xsi:type="dcterms:W3CDTF">2026-09-16T08:19:03Z</dcterms:created>
  <dcterms:modified xsi:type="dcterms:W3CDTF">2026-09-17T04:09:41Z</dcterms:modified>
</cp:coreProperties>
</file>